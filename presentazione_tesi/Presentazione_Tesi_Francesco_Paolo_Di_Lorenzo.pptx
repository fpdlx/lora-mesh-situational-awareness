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sldIdLst>
    <p:sldId id="258" r:id="rId2"/>
    <p:sldId id="266" r:id="rId3"/>
    <p:sldId id="267" r:id="rId4"/>
    <p:sldId id="269" r:id="rId5"/>
    <p:sldId id="270" r:id="rId6"/>
    <p:sldId id="273" r:id="rId7"/>
    <p:sldId id="274" r:id="rId8"/>
    <p:sldId id="275" r:id="rId9"/>
    <p:sldId id="276" r:id="rId10"/>
    <p:sldId id="277" r:id="rId1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7F7"/>
    <a:srgbClr val="FFFFFF"/>
    <a:srgbClr val="AB2730"/>
    <a:srgbClr val="DCEEFF"/>
    <a:srgbClr val="DEFFDB"/>
    <a:srgbClr val="DDFF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57" autoAdjust="0"/>
    <p:restoredTop sz="93676" autoAdjust="0"/>
  </p:normalViewPr>
  <p:slideViewPr>
    <p:cSldViewPr snapToGrid="0">
      <p:cViewPr varScale="1">
        <p:scale>
          <a:sx n="90" d="100"/>
          <a:sy n="90" d="100"/>
        </p:scale>
        <p:origin x="403" y="5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7CA506-110D-4C59-89C2-07A1085D7570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EFA004-D5DB-482C-B1F0-458682B7C96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96693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EFA004-D5DB-482C-B1F0-458682B7C96A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784248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EFA004-D5DB-482C-B1F0-458682B7C96A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020760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EFA004-D5DB-482C-B1F0-458682B7C96A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976247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3597F-E1AB-F561-935A-D6A7CBAA4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CF803E9-031C-CFA7-3C9C-8C6C432424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5DE8E7A-B048-DE94-6AF8-DF41E3D775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960A30B-EE48-E917-0C22-3AD1EF5D16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EFA004-D5DB-482C-B1F0-458682B7C96A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833122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C70A9-19E7-9D02-1361-4B3CEC46F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B857C8E-563C-BC36-B7E2-1D493A00FB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B8C9008-FCE0-A511-C719-AB9FA63D60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D69BBE8-2B71-AEB6-99A7-0BA2373DEA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EFA004-D5DB-482C-B1F0-458682B7C96A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08278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87AD8-79AC-8464-1EE9-E12CD1552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758301C-6358-B55A-A489-47AFE85E5F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B4947C4-338A-323B-7721-0F1F0744D0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943C8B2-D1FC-E12B-9A41-D201E61EA5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EFA004-D5DB-482C-B1F0-458682B7C96A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446284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379A1-C501-8CF7-B5AF-D18E7275E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60592C8-38A0-B79E-7631-4E3F4CBCE1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36976A8-5B03-2139-0515-3B4392535F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797064D-7B48-0DCE-02A6-E55984D072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EFA004-D5DB-482C-B1F0-458682B7C96A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220706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31059-0A02-E6E3-1C72-7564D4596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804DBEE-3C25-2448-50F9-CF7CBC7F34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451E880-23DD-666F-FB6F-483741BDAC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8BB4F07-CCCE-6BB4-107A-1C7F5080F6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EFA004-D5DB-482C-B1F0-458682B7C96A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518898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CFC73-1066-7F22-F574-BF234BD3E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0BC20F7-7BE9-792C-E963-451AC9A989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4534AEF-D984-BCEE-8980-9AEDC7AE6B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6013EEA-9A09-8725-1CD1-B60EEAE1ED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EFA004-D5DB-482C-B1F0-458682B7C96A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225162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607AD-B639-9838-C8D3-DCBC3FB7E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FE80E3D-2252-1DC0-AAF7-DE92057E05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CD61659-3D4F-07B2-0821-47B27B63B2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DDAAC3A-2C08-0B3D-F06C-633155BACC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EFA004-D5DB-482C-B1F0-458682B7C96A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58654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A669521-00D5-BD16-9BBA-C7A52DA3B1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CBEEA98-8CED-5112-AB0A-C295911BB4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00B852E-141E-425E-0061-774B5A7D0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CA176-32A8-4146-9949-711B506A1279}" type="datetime1">
              <a:rPr lang="it-IT" smtClean="0"/>
              <a:t>19/01/2026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915069D-B6CB-E3E3-39A7-F6D553027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FD351B1-D764-62AD-8F59-8E5AF694E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457C4-41BA-4245-A517-1492C4EB6DD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49743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7B40FB3-9E1A-C24C-F726-337676296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78EADA2-BCA8-CAD0-9597-C724F3F01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858F5E8-E7C7-8C53-F7D5-498B58CF3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CDA07-A843-4A3E-9693-1118DE83B5A5}" type="datetime1">
              <a:rPr lang="it-IT" smtClean="0"/>
              <a:t>19/01/2026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6AD154E-9EE6-DD6C-225F-9E1180F7C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C754C3A-AEF2-AD1C-5697-F805C3E56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457C4-41BA-4245-A517-1492C4EB6DD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99922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F6DC7B-7FF6-0FEC-4BE9-CD0629E4B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5BD0A6A-FE90-955B-66B1-7D577E9DD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5387C98-A8F6-D2B7-2F76-707B16241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7F4B6-87B6-4FD2-83AE-0A60488A5406}" type="datetime1">
              <a:rPr lang="it-IT" smtClean="0"/>
              <a:t>19/01/2026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2235147-CFB5-363F-4993-F7ED37207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98BE914-543C-E9E5-842E-D9985436E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457C4-41BA-4245-A517-1492C4EB6DD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28311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696993-CD52-246F-C165-12E34517C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997C86A-528B-D323-AC8C-3D77E422C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A0803E7-2794-B3B7-9304-247B52C3D1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C9D3F86-13BD-927C-581B-BFBE99878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A20DE-952F-4863-912B-CC0AFC9FEEBF}" type="datetime1">
              <a:rPr lang="it-IT" smtClean="0"/>
              <a:t>19/01/2026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2D0238E-1FE7-EC07-94D5-2DF3308A4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345A267-CDD9-FDBF-B272-462D53A8C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457C4-41BA-4245-A517-1492C4EB6DD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40238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1468253-08EB-8297-CD14-0AF6A9110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262C507-901B-C3B2-3426-0FCCC4B6B0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DA2BBF9-B85C-D8A1-FA76-C54A285C06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280171C8-F200-B32F-9A56-C1569CC238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97A8A5E9-C491-FA8A-CC1C-A431034661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1E2F5194-C1E3-CB01-4007-01AE77CE8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59049-A185-4206-8E51-CE3DCBC4B381}" type="datetime1">
              <a:rPr lang="it-IT" smtClean="0"/>
              <a:t>19/01/2026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19791732-4E21-691A-C27A-4E7D48F8F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31831A2A-4D49-429A-D9F8-F20B7ADE5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457C4-41BA-4245-A517-1492C4EB6DD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08929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ADC2AD1-7292-DB08-5027-42E8CB9EE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F4DE922-24A6-66AC-BCC9-1551D346A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60C3B-7190-42DF-A8A7-1822323D10CB}" type="datetime1">
              <a:rPr lang="it-IT" smtClean="0"/>
              <a:t>19/01/2026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F99423F-6A7C-DFB2-243F-0539171A6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F8F475E-89DC-5736-2074-46C47A058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457C4-41BA-4245-A517-1492C4EB6DD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90266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265607C4-27F9-CA7C-2BCB-DAB385905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F0904-99A3-4BFB-8721-EC032632A441}" type="datetime1">
              <a:rPr lang="it-IT" smtClean="0"/>
              <a:t>19/01/2026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15DE8119-B64F-F480-5C73-01BC5941E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EB37412-12D2-B599-E2FA-9475F8FF1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457C4-41BA-4245-A517-1492C4EB6DD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25461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DC7FF85-6241-88E0-6E3E-C794329C7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F2D2799-ED40-9ED4-FCBD-DFB1961755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1F06806-47A2-64D3-11B7-1DA74DF172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8F4A23C-9EEA-24FE-1B60-594D31721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3EAA9-807D-46C1-8498-17E09D7FF7BF}" type="datetime1">
              <a:rPr lang="it-IT" smtClean="0"/>
              <a:t>19/01/2026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6CA974B-EB3E-0EF9-4FC3-6F368D373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038DAA2-A81C-CDFA-6352-123923786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457C4-41BA-4245-A517-1492C4EB6DD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35139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30D3B0F-BD29-F9AD-A232-69F0AB5E0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86785B68-DE39-D279-BA7D-B6EC6FC079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EC38EAB-B07B-6C32-0F90-6EC280909B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BD49DC0-0C8F-654F-647A-4CABB465D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73035-DB8F-4451-BC56-ED0369839C92}" type="datetime1">
              <a:rPr lang="it-IT" smtClean="0"/>
              <a:t>19/01/2026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7EF04A9-DEC9-216C-4AE8-2AA809614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4C39E7E-38C9-5241-D30F-A7B1E1210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457C4-41BA-4245-A517-1492C4EB6DD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31440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9A67167-F937-F414-FA6D-996A228DF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748E7A6-0F8C-421A-6EAA-0B11E28A7B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21EC792-8519-3EDA-B2DB-909A120BA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EC34F-F365-4CC3-B39A-9C7BCF638D09}" type="datetime1">
              <a:rPr lang="it-IT" smtClean="0"/>
              <a:t>19/01/2026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6F2C907-9ECC-EF18-AA7D-76A4F7572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0B27A1C-E369-9B65-63EE-DA439BEF7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457C4-41BA-4245-A517-1492C4EB6DD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80530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B707470F-4656-3F12-E20D-C862128487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C48A55-0BD3-3086-55EE-A340A63FC8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3D67EC3-D843-B011-52D7-F98931313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ABC11-6C86-462F-A61C-017C33DE44CC}" type="datetime1">
              <a:rPr lang="it-IT" smtClean="0"/>
              <a:t>19/01/2026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5274DD-402E-0F3D-F8D9-CB23489DA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F4F5301-7CCF-5D11-2854-365FF9B7F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457C4-41BA-4245-A517-1492C4EB6DD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28107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F5D37886-D59B-5680-303D-F933BC919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CE3B6F0-9C1C-8140-2114-DB08E21FE7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FD5B222-CF03-6EC5-DB36-646E0BE12F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1AFB3A-FFEB-4909-909E-6D242D662600}" type="datetime1">
              <a:rPr lang="it-IT" smtClean="0"/>
              <a:t>19/01/2026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122F887-CD05-5F4A-F3F6-6F5ABBD5D3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9246A6-C7FD-C859-5414-729E4A4057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F457C4-41BA-4245-A517-1492C4EB6DD6}" type="slidenum">
              <a:rPr lang="it-IT" smtClean="0"/>
              <a:t>‹N›</a:t>
            </a:fld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F42705D7-BBFF-5265-A83E-6F8705A7CB2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999038" y="6672580"/>
            <a:ext cx="2219325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it-IT" sz="800">
                <a:solidFill>
                  <a:srgbClr val="4472C4">
                    <a:alpha val="50000"/>
                  </a:srgbClr>
                </a:solidFill>
                <a:latin typeface="TIM Sans" panose="02020503040602060503" pitchFamily="18" charset="0"/>
              </a:rPr>
              <a:t>Gruppo TIM - Uso Interno - Tutti i diritti riservati.</a:t>
            </a:r>
          </a:p>
        </p:txBody>
      </p:sp>
    </p:spTree>
    <p:extLst>
      <p:ext uri="{BB962C8B-B14F-4D97-AF65-F5344CB8AC3E}">
        <p14:creationId xmlns:p14="http://schemas.microsoft.com/office/powerpoint/2010/main" val="451117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jpeg"/><Relationship Id="rId12" Type="http://schemas.openxmlformats.org/officeDocument/2006/relationships/image" Target="../media/image1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jpeg"/><Relationship Id="rId5" Type="http://schemas.openxmlformats.org/officeDocument/2006/relationships/image" Target="../media/image12.png"/><Relationship Id="rId15" Type="http://schemas.openxmlformats.org/officeDocument/2006/relationships/image" Target="../media/image22.jpe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jpeg"/><Relationship Id="rId1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eg"/><Relationship Id="rId5" Type="http://schemas.openxmlformats.org/officeDocument/2006/relationships/image" Target="../media/image24.png"/><Relationship Id="rId10" Type="http://schemas.openxmlformats.org/officeDocument/2006/relationships/image" Target="../media/image27.svg"/><Relationship Id="rId4" Type="http://schemas.openxmlformats.org/officeDocument/2006/relationships/image" Target="../media/image16.jpeg"/><Relationship Id="rId9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28.PNG"/><Relationship Id="rId7" Type="http://schemas.openxmlformats.org/officeDocument/2006/relationships/image" Target="../media/image24.png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32.png"/><Relationship Id="rId5" Type="http://schemas.openxmlformats.org/officeDocument/2006/relationships/image" Target="../media/image30.png"/><Relationship Id="rId10" Type="http://schemas.openxmlformats.org/officeDocument/2006/relationships/image" Target="../media/image14.jpeg"/><Relationship Id="rId4" Type="http://schemas.openxmlformats.org/officeDocument/2006/relationships/image" Target="../media/image29.PN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14.jpeg"/><Relationship Id="rId12" Type="http://schemas.openxmlformats.org/officeDocument/2006/relationships/image" Target="../media/image3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37.png"/><Relationship Id="rId5" Type="http://schemas.openxmlformats.org/officeDocument/2006/relationships/image" Target="../media/image23.png"/><Relationship Id="rId10" Type="http://schemas.openxmlformats.org/officeDocument/2006/relationships/image" Target="../media/image36.png"/><Relationship Id="rId4" Type="http://schemas.openxmlformats.org/officeDocument/2006/relationships/image" Target="../media/image16.jpeg"/><Relationship Id="rId9" Type="http://schemas.openxmlformats.org/officeDocument/2006/relationships/image" Target="../media/image35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svg"/><Relationship Id="rId18" Type="http://schemas.openxmlformats.org/officeDocument/2006/relationships/image" Target="../media/image6.jpeg"/><Relationship Id="rId3" Type="http://schemas.openxmlformats.org/officeDocument/2006/relationships/image" Target="../media/image39.jpe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17" Type="http://schemas.openxmlformats.org/officeDocument/2006/relationships/image" Target="../media/image51.jpe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33.png"/><Relationship Id="rId20" Type="http://schemas.openxmlformats.org/officeDocument/2006/relationships/image" Target="../media/image5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11" Type="http://schemas.openxmlformats.org/officeDocument/2006/relationships/image" Target="../media/image46.svg"/><Relationship Id="rId5" Type="http://schemas.openxmlformats.org/officeDocument/2006/relationships/image" Target="../media/image40.jpeg"/><Relationship Id="rId15" Type="http://schemas.openxmlformats.org/officeDocument/2006/relationships/image" Target="../media/image50.svg"/><Relationship Id="rId10" Type="http://schemas.openxmlformats.org/officeDocument/2006/relationships/image" Target="../media/image45.png"/><Relationship Id="rId19" Type="http://schemas.openxmlformats.org/officeDocument/2006/relationships/image" Target="../media/image52.png"/><Relationship Id="rId4" Type="http://schemas.openxmlformats.org/officeDocument/2006/relationships/image" Target="../media/image29.PNG"/><Relationship Id="rId9" Type="http://schemas.openxmlformats.org/officeDocument/2006/relationships/image" Target="../media/image44.svg"/><Relationship Id="rId14" Type="http://schemas.openxmlformats.org/officeDocument/2006/relationships/image" Target="../media/image4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5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5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image" Target="../media/image21.png"/><Relationship Id="rId5" Type="http://schemas.openxmlformats.org/officeDocument/2006/relationships/image" Target="../media/image35.svg"/><Relationship Id="rId10" Type="http://schemas.openxmlformats.org/officeDocument/2006/relationships/image" Target="../media/image12.png"/><Relationship Id="rId4" Type="http://schemas.openxmlformats.org/officeDocument/2006/relationships/image" Target="../media/image34.png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DCB8569A-0BBC-9CA7-1557-080F27C8B5D1}"/>
              </a:ext>
            </a:extLst>
          </p:cNvPr>
          <p:cNvSpPr/>
          <p:nvPr/>
        </p:nvSpPr>
        <p:spPr>
          <a:xfrm>
            <a:off x="0" y="3208207"/>
            <a:ext cx="12192000" cy="3638145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50181DBC-59E6-836F-B2EC-2D01DA1E73B9}"/>
              </a:ext>
            </a:extLst>
          </p:cNvPr>
          <p:cNvSpPr>
            <a:spLocks/>
          </p:cNvSpPr>
          <p:nvPr/>
        </p:nvSpPr>
        <p:spPr>
          <a:xfrm>
            <a:off x="0" y="-19050"/>
            <a:ext cx="12192000" cy="4153414"/>
          </a:xfrm>
          <a:prstGeom prst="rect">
            <a:avLst/>
          </a:prstGeom>
          <a:solidFill>
            <a:srgbClr val="AB27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05B22BFD-66AD-C14A-506C-CC2423E80677}"/>
              </a:ext>
            </a:extLst>
          </p:cNvPr>
          <p:cNvSpPr/>
          <p:nvPr/>
        </p:nvSpPr>
        <p:spPr>
          <a:xfrm>
            <a:off x="2568103" y="3628416"/>
            <a:ext cx="9623898" cy="163425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1CAFAFA-5BE8-CBC1-5194-7558364D69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5008" y="619140"/>
            <a:ext cx="9144000" cy="2387600"/>
          </a:xfrm>
        </p:spPr>
        <p:txBody>
          <a:bodyPr>
            <a:normAutofit/>
          </a:bodyPr>
          <a:lstStyle/>
          <a:p>
            <a:r>
              <a:rPr lang="it-IT" sz="4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Reti Mesh Decentralizzate </a:t>
            </a:r>
            <a:r>
              <a:rPr lang="it-IT" sz="44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LoRa</a:t>
            </a:r>
            <a:r>
              <a:rPr lang="it-IT" sz="4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it-IT" sz="4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it-IT" sz="4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 la </a:t>
            </a:r>
            <a:r>
              <a:rPr lang="it-IT" sz="44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Situational</a:t>
            </a:r>
            <a:r>
              <a:rPr lang="it-IT" sz="4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44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Awareness</a:t>
            </a:r>
            <a:r>
              <a:rPr lang="it-IT" sz="4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Contesti Off-</a:t>
            </a:r>
            <a:r>
              <a:rPr lang="it-IT" sz="44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Grid</a:t>
            </a:r>
            <a:endParaRPr lang="it-IT" sz="4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A10BDED5-8F79-9264-5EC6-9860284F6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395" y="5773384"/>
            <a:ext cx="1795226" cy="620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A5A9E5E2-AD91-422F-C79A-9CE41040BB14}"/>
              </a:ext>
            </a:extLst>
          </p:cNvPr>
          <p:cNvSpPr txBox="1"/>
          <p:nvPr/>
        </p:nvSpPr>
        <p:spPr>
          <a:xfrm>
            <a:off x="3057889" y="3969807"/>
            <a:ext cx="60762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TESI DI LAUREA IN TECNOLOGIE E SICUREZZA DELLE RETI DI COMUNICAZIONE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A5A96913-FAFE-64B1-52F7-502F083C04EB}"/>
              </a:ext>
            </a:extLst>
          </p:cNvPr>
          <p:cNvSpPr txBox="1"/>
          <p:nvPr/>
        </p:nvSpPr>
        <p:spPr>
          <a:xfrm>
            <a:off x="2540562" y="2892525"/>
            <a:ext cx="26645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RELATORE</a:t>
            </a:r>
          </a:p>
          <a:p>
            <a:r>
              <a:rPr lang="it-IT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Prof.ssa Stefania </a:t>
            </a:r>
            <a:r>
              <a:rPr lang="it-IT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Sardellitti</a:t>
            </a:r>
            <a:endParaRPr lang="it-I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" name="Gruppo 2">
            <a:extLst>
              <a:ext uri="{FF2B5EF4-FFF2-40B4-BE49-F238E27FC236}">
                <a16:creationId xmlns:a16="http://schemas.microsoft.com/office/drawing/2014/main" id="{01681B97-31E2-7BE7-6642-411C56351DC2}"/>
              </a:ext>
            </a:extLst>
          </p:cNvPr>
          <p:cNvGrpSpPr/>
          <p:nvPr/>
        </p:nvGrpSpPr>
        <p:grpSpPr>
          <a:xfrm>
            <a:off x="-9832" y="3606260"/>
            <a:ext cx="12201832" cy="553903"/>
            <a:chOff x="-9832" y="3363062"/>
            <a:chExt cx="12201832" cy="553903"/>
          </a:xfrm>
        </p:grpSpPr>
        <p:cxnSp>
          <p:nvCxnSpPr>
            <p:cNvPr id="12" name="Connettore diritto 11">
              <a:extLst>
                <a:ext uri="{FF2B5EF4-FFF2-40B4-BE49-F238E27FC236}">
                  <a16:creationId xmlns:a16="http://schemas.microsoft.com/office/drawing/2014/main" id="{4C33E260-E91B-3F94-927C-B1E881B26D1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9832" y="3893213"/>
              <a:ext cx="2597599" cy="5461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Connettore diritto 15">
              <a:extLst>
                <a:ext uri="{FF2B5EF4-FFF2-40B4-BE49-F238E27FC236}">
                  <a16:creationId xmlns:a16="http://schemas.microsoft.com/office/drawing/2014/main" id="{166BED45-D9B8-93CC-7B55-794A701DBF5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76125" y="3363062"/>
              <a:ext cx="3176" cy="553903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Connettore diritto 19">
              <a:extLst>
                <a:ext uri="{FF2B5EF4-FFF2-40B4-BE49-F238E27FC236}">
                  <a16:creationId xmlns:a16="http://schemas.microsoft.com/office/drawing/2014/main" id="{9D7706CB-F9FD-6C6E-F772-688FF482428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68103" y="3376751"/>
              <a:ext cx="9623897" cy="9729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B35A1F10-61F3-89C3-DDC7-C2E47A89F1FF}"/>
              </a:ext>
            </a:extLst>
          </p:cNvPr>
          <p:cNvSpPr txBox="1"/>
          <p:nvPr/>
        </p:nvSpPr>
        <p:spPr>
          <a:xfrm>
            <a:off x="7745689" y="2957357"/>
            <a:ext cx="27768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CANDIDATO</a:t>
            </a:r>
          </a:p>
          <a:p>
            <a:r>
              <a:rPr lang="it-IT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Francesco Paolo Di Lorenzo</a:t>
            </a:r>
          </a:p>
        </p:txBody>
      </p:sp>
    </p:spTree>
    <p:extLst>
      <p:ext uri="{BB962C8B-B14F-4D97-AF65-F5344CB8AC3E}">
        <p14:creationId xmlns:p14="http://schemas.microsoft.com/office/powerpoint/2010/main" val="255408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8DD16-27CE-CE25-B246-8DC008ACF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4" name="Picture 20" descr="Unavailable PNG Transparent Images Free Download | Vector Files | Pngtree">
            <a:extLst>
              <a:ext uri="{FF2B5EF4-FFF2-40B4-BE49-F238E27FC236}">
                <a16:creationId xmlns:a16="http://schemas.microsoft.com/office/drawing/2014/main" id="{AD00D063-ABD9-1817-D239-796484D1A0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1585" y="4972821"/>
            <a:ext cx="755722" cy="755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tangolo 4">
            <a:extLst>
              <a:ext uri="{FF2B5EF4-FFF2-40B4-BE49-F238E27FC236}">
                <a16:creationId xmlns:a16="http://schemas.microsoft.com/office/drawing/2014/main" id="{B082F09F-05AD-9748-8917-C594C5C18C58}"/>
              </a:ext>
            </a:extLst>
          </p:cNvPr>
          <p:cNvSpPr/>
          <p:nvPr/>
        </p:nvSpPr>
        <p:spPr>
          <a:xfrm>
            <a:off x="0" y="6571000"/>
            <a:ext cx="12192000" cy="297048"/>
          </a:xfrm>
          <a:prstGeom prst="rect">
            <a:avLst/>
          </a:prstGeom>
          <a:solidFill>
            <a:srgbClr val="AB27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5C506EFE-8F61-E521-C4F8-7A9D026748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53200"/>
            <a:ext cx="2743200" cy="365125"/>
          </a:xfrm>
        </p:spPr>
        <p:txBody>
          <a:bodyPr/>
          <a:lstStyle/>
          <a:p>
            <a:r>
              <a:rPr lang="it-IT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Anno accademico 2025/2026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32B16B6D-35C7-7417-9CFE-E751471E3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7106" y="6552951"/>
            <a:ext cx="5447030" cy="365125"/>
          </a:xfrm>
        </p:spPr>
        <p:txBody>
          <a:bodyPr/>
          <a:lstStyle/>
          <a:p>
            <a:pPr algn="l"/>
            <a:r>
              <a:rPr lang="it-IT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Reti Mesh Decentralizzate </a:t>
            </a:r>
            <a:r>
              <a:rPr lang="it-IT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LoRa</a:t>
            </a:r>
            <a:r>
              <a:rPr lang="it-IT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per la </a:t>
            </a:r>
            <a:r>
              <a:rPr lang="it-IT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Situational</a:t>
            </a:r>
            <a:r>
              <a:rPr lang="it-IT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Awareness</a:t>
            </a:r>
            <a:r>
              <a:rPr lang="it-IT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Contesti Off-</a:t>
            </a:r>
            <a:r>
              <a:rPr lang="it-IT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Grid</a:t>
            </a:r>
            <a:endParaRPr lang="it-I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6DA87F2-BAEC-33ED-8CC9-68A7CBF12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10020"/>
            <a:ext cx="2743200" cy="365125"/>
          </a:xfrm>
        </p:spPr>
        <p:txBody>
          <a:bodyPr/>
          <a:lstStyle/>
          <a:p>
            <a:fld id="{6DF457C4-41BA-4245-A517-1492C4EB6DD6}" type="slidenum">
              <a:rPr lang="it-IT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/>
              <a:t>2</a:t>
            </a:fld>
            <a:endParaRPr lang="it-I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F0067855-476C-6BB4-E348-3E0E232C6D9E}"/>
              </a:ext>
            </a:extLst>
          </p:cNvPr>
          <p:cNvSpPr txBox="1">
            <a:spLocks/>
          </p:cNvSpPr>
          <p:nvPr/>
        </p:nvSpPr>
        <p:spPr>
          <a:xfrm>
            <a:off x="479385" y="745807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Contesto e motivazione</a:t>
            </a:r>
          </a:p>
        </p:txBody>
      </p:sp>
      <p:sp>
        <p:nvSpPr>
          <p:cNvPr id="14" name="object 3">
            <a:extLst>
              <a:ext uri="{FF2B5EF4-FFF2-40B4-BE49-F238E27FC236}">
                <a16:creationId xmlns:a16="http://schemas.microsoft.com/office/drawing/2014/main" id="{958FEDF3-01A6-0721-26A2-09CDEAA59E0A}"/>
              </a:ext>
            </a:extLst>
          </p:cNvPr>
          <p:cNvSpPr/>
          <p:nvPr/>
        </p:nvSpPr>
        <p:spPr>
          <a:xfrm>
            <a:off x="592670" y="677862"/>
            <a:ext cx="1041400" cy="67945"/>
          </a:xfrm>
          <a:custGeom>
            <a:avLst/>
            <a:gdLst/>
            <a:ahLst/>
            <a:cxnLst/>
            <a:rect l="l" t="t" r="r" b="b"/>
            <a:pathLst>
              <a:path w="1041400" h="67945">
                <a:moveTo>
                  <a:pt x="1041400" y="0"/>
                </a:moveTo>
                <a:lnTo>
                  <a:pt x="0" y="0"/>
                </a:lnTo>
                <a:lnTo>
                  <a:pt x="0" y="67729"/>
                </a:lnTo>
                <a:lnTo>
                  <a:pt x="1041400" y="67729"/>
                </a:lnTo>
                <a:lnTo>
                  <a:pt x="1041400" y="0"/>
                </a:lnTo>
                <a:close/>
              </a:path>
            </a:pathLst>
          </a:custGeom>
          <a:solidFill>
            <a:srgbClr val="F0A024"/>
          </a:solidFill>
        </p:spPr>
        <p:txBody>
          <a:bodyPr wrap="square" lIns="0" tIns="0" rIns="0" bIns="0" rtlCol="0"/>
          <a:lstStyle/>
          <a:p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egnaposto testo 2">
            <a:extLst>
              <a:ext uri="{FF2B5EF4-FFF2-40B4-BE49-F238E27FC236}">
                <a16:creationId xmlns:a16="http://schemas.microsoft.com/office/drawing/2014/main" id="{875FA50F-218D-6392-C583-428651E87D0E}"/>
              </a:ext>
            </a:extLst>
          </p:cNvPr>
          <p:cNvSpPr txBox="1">
            <a:spLocks/>
          </p:cNvSpPr>
          <p:nvPr/>
        </p:nvSpPr>
        <p:spPr>
          <a:xfrm>
            <a:off x="469225" y="1472403"/>
            <a:ext cx="5157787" cy="8239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Problema</a:t>
            </a:r>
          </a:p>
        </p:txBody>
      </p:sp>
      <p:sp>
        <p:nvSpPr>
          <p:cNvPr id="9" name="Segnaposto contenuto 3">
            <a:extLst>
              <a:ext uri="{FF2B5EF4-FFF2-40B4-BE49-F238E27FC236}">
                <a16:creationId xmlns:a16="http://schemas.microsoft.com/office/drawing/2014/main" id="{C925F7B9-14D1-F021-EDB2-3862B5977374}"/>
              </a:ext>
            </a:extLst>
          </p:cNvPr>
          <p:cNvSpPr txBox="1">
            <a:spLocks/>
          </p:cNvSpPr>
          <p:nvPr/>
        </p:nvSpPr>
        <p:spPr>
          <a:xfrm>
            <a:off x="259456" y="1912484"/>
            <a:ext cx="5385080" cy="36845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it-I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Scenari emergenziali o off-</a:t>
            </a:r>
            <a:r>
              <a:rPr lang="it-I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grid</a:t>
            </a:r>
            <a:r>
              <a:rPr lang="it-I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comunicazioni tradizionali indisponibili o instabili</a:t>
            </a:r>
          </a:p>
          <a:p>
            <a:pPr>
              <a:lnSpc>
                <a:spcPct val="150000"/>
              </a:lnSpc>
            </a:pPr>
            <a:r>
              <a:rPr lang="it-I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Squadre di soccorso e operatori isolati: perdita di </a:t>
            </a:r>
            <a:r>
              <a:rPr lang="it-I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Situational</a:t>
            </a:r>
            <a:r>
              <a:rPr lang="it-I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Awareness</a:t>
            </a:r>
            <a:r>
              <a:rPr lang="it-I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 coordinamento critico</a:t>
            </a:r>
          </a:p>
        </p:txBody>
      </p:sp>
      <p:sp>
        <p:nvSpPr>
          <p:cNvPr id="10" name="Segnaposto testo 4">
            <a:extLst>
              <a:ext uri="{FF2B5EF4-FFF2-40B4-BE49-F238E27FC236}">
                <a16:creationId xmlns:a16="http://schemas.microsoft.com/office/drawing/2014/main" id="{DB9A2EEB-5D1E-7D45-4A45-78FBD482EA61}"/>
              </a:ext>
            </a:extLst>
          </p:cNvPr>
          <p:cNvSpPr txBox="1">
            <a:spLocks/>
          </p:cNvSpPr>
          <p:nvPr/>
        </p:nvSpPr>
        <p:spPr>
          <a:xfrm>
            <a:off x="6122993" y="1579839"/>
            <a:ext cx="5183188" cy="8239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Esigenza Operativa</a:t>
            </a:r>
          </a:p>
        </p:txBody>
      </p:sp>
      <p:sp>
        <p:nvSpPr>
          <p:cNvPr id="11" name="Segnaposto contenuto 5">
            <a:extLst>
              <a:ext uri="{FF2B5EF4-FFF2-40B4-BE49-F238E27FC236}">
                <a16:creationId xmlns:a16="http://schemas.microsoft.com/office/drawing/2014/main" id="{A010283A-32DD-B845-CC19-ED226B186087}"/>
              </a:ext>
            </a:extLst>
          </p:cNvPr>
          <p:cNvSpPr txBox="1">
            <a:spLocks/>
          </p:cNvSpPr>
          <p:nvPr/>
        </p:nvSpPr>
        <p:spPr>
          <a:xfrm>
            <a:off x="6168713" y="2024630"/>
            <a:ext cx="5997573" cy="206044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it-I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Canale  dati minimo, resiliente e persistente per garantire:</a:t>
            </a:r>
          </a:p>
          <a:p>
            <a:pPr>
              <a:lnSpc>
                <a:spcPct val="100000"/>
              </a:lnSpc>
            </a:pPr>
            <a:r>
              <a:rPr lang="it-I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Scambio informativo essenziale</a:t>
            </a:r>
          </a:p>
          <a:p>
            <a:pPr>
              <a:lnSpc>
                <a:spcPct val="100000"/>
              </a:lnSpc>
            </a:pPr>
            <a:r>
              <a:rPr lang="it-I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Situational</a:t>
            </a:r>
            <a:r>
              <a:rPr lang="it-I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Awareness</a:t>
            </a:r>
            <a:r>
              <a:rPr lang="it-I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decentralizzata</a:t>
            </a:r>
          </a:p>
          <a:p>
            <a:pPr>
              <a:lnSpc>
                <a:spcPct val="100000"/>
              </a:lnSpc>
            </a:pPr>
            <a:r>
              <a:rPr lang="it-I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Mantenimento di una Common </a:t>
            </a:r>
            <a:r>
              <a:rPr lang="it-I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Operational</a:t>
            </a:r>
            <a:r>
              <a:rPr lang="it-I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Picture (COP)</a:t>
            </a:r>
          </a:p>
          <a:p>
            <a:pPr marL="0" indent="0">
              <a:buNone/>
            </a:pPr>
            <a:endParaRPr lang="it-IT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Emergency - Free security icons">
            <a:extLst>
              <a:ext uri="{FF2B5EF4-FFF2-40B4-BE49-F238E27FC236}">
                <a16:creationId xmlns:a16="http://schemas.microsoft.com/office/drawing/2014/main" id="{1DA14A42-9EAD-1E01-E2A3-19C12BF35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2204" y="1337372"/>
            <a:ext cx="565716" cy="565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urricane Maria: Puerto Rico Then &amp; Now - Puerto Rico - The 5th Floor Puerto  Rico – The 5th Floor">
            <a:extLst>
              <a:ext uri="{FF2B5EF4-FFF2-40B4-BE49-F238E27FC236}">
                <a16:creationId xmlns:a16="http://schemas.microsoft.com/office/drawing/2014/main" id="{C5F7356D-00A3-E674-A68E-37AB5E9C46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298" y="4160801"/>
            <a:ext cx="2571019" cy="2133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0F54DE9B-FDF6-A9B6-DCDB-44B5BAE6F4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218" y="4160802"/>
            <a:ext cx="2479579" cy="2133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Is Mesh Networking the Future of Internet Connectivity? | Read More">
            <a:extLst>
              <a:ext uri="{FF2B5EF4-FFF2-40B4-BE49-F238E27FC236}">
                <a16:creationId xmlns:a16="http://schemas.microsoft.com/office/drawing/2014/main" id="{CDC1FF66-F0FC-5B94-41B3-026125EA3F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6604" y="4688485"/>
            <a:ext cx="1595389" cy="1465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Army to host Tactical Assault Kit virtual workshop for industry, federal  agencies | Article | The United States Army">
            <a:extLst>
              <a:ext uri="{FF2B5EF4-FFF2-40B4-BE49-F238E27FC236}">
                <a16:creationId xmlns:a16="http://schemas.microsoft.com/office/drawing/2014/main" id="{36624FA8-3807-B27F-208C-BD42B55259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6211" y="4160801"/>
            <a:ext cx="3436753" cy="215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object 3">
            <a:extLst>
              <a:ext uri="{FF2B5EF4-FFF2-40B4-BE49-F238E27FC236}">
                <a16:creationId xmlns:a16="http://schemas.microsoft.com/office/drawing/2014/main" id="{2C848605-1956-F25F-216C-AF6586C1A1E5}"/>
              </a:ext>
            </a:extLst>
          </p:cNvPr>
          <p:cNvSpPr/>
          <p:nvPr/>
        </p:nvSpPr>
        <p:spPr>
          <a:xfrm rot="16200000">
            <a:off x="3990692" y="4069353"/>
            <a:ext cx="4224044" cy="45719"/>
          </a:xfrm>
          <a:custGeom>
            <a:avLst/>
            <a:gdLst/>
            <a:ahLst/>
            <a:cxnLst/>
            <a:rect l="l" t="t" r="r" b="b"/>
            <a:pathLst>
              <a:path w="1041400" h="67945">
                <a:moveTo>
                  <a:pt x="1041400" y="0"/>
                </a:moveTo>
                <a:lnTo>
                  <a:pt x="0" y="0"/>
                </a:lnTo>
                <a:lnTo>
                  <a:pt x="0" y="67729"/>
                </a:lnTo>
                <a:lnTo>
                  <a:pt x="1041400" y="67729"/>
                </a:lnTo>
                <a:lnTo>
                  <a:pt x="1041400" y="0"/>
                </a:lnTo>
                <a:close/>
              </a:path>
            </a:pathLst>
          </a:custGeom>
          <a:solidFill>
            <a:srgbClr val="F0A024"/>
          </a:solidFill>
        </p:spPr>
        <p:txBody>
          <a:bodyPr wrap="square" lIns="0" tIns="0" rIns="0" bIns="0" rtlCol="0"/>
          <a:lstStyle/>
          <a:p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56" name="Picture 32" descr="Military Radio Vector Icon - [Free Download] - (SVG and PNG)">
            <a:extLst>
              <a:ext uri="{FF2B5EF4-FFF2-40B4-BE49-F238E27FC236}">
                <a16:creationId xmlns:a16="http://schemas.microsoft.com/office/drawing/2014/main" id="{177F5BCF-6211-6C12-CEDB-E46A0D9F5C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350" y="4801491"/>
            <a:ext cx="636805" cy="994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34" descr="Project Requirements Line Color Icon Stock Vector | Adobe Stock">
            <a:extLst>
              <a:ext uri="{FF2B5EF4-FFF2-40B4-BE49-F238E27FC236}">
                <a16:creationId xmlns:a16="http://schemas.microsoft.com/office/drawing/2014/main" id="{8DFF5A88-1506-01B9-54C8-425A7F8503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1"/>
          <a:stretch>
            <a:fillRect/>
          </a:stretch>
        </p:blipFill>
        <p:spPr bwMode="auto">
          <a:xfrm>
            <a:off x="8758859" y="1323619"/>
            <a:ext cx="565716" cy="588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3552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27BC7-AE8B-6BF3-6CB5-FDF7F935E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Immagine 1033" descr="Immagine che contiene elettronica, Dispositivo elettronico, Cellulare, gadget&#10;&#10;Il contenuto generato dall'IA potrebbe non essere corretto.">
            <a:extLst>
              <a:ext uri="{FF2B5EF4-FFF2-40B4-BE49-F238E27FC236}">
                <a16:creationId xmlns:a16="http://schemas.microsoft.com/office/drawing/2014/main" id="{2BD48B7B-147E-BA11-F76B-B99E8556EA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8192" y="4186412"/>
            <a:ext cx="974303" cy="2069027"/>
          </a:xfrm>
          <a:prstGeom prst="rect">
            <a:avLst/>
          </a:prstGeom>
        </p:spPr>
      </p:pic>
      <p:pic>
        <p:nvPicPr>
          <p:cNvPr id="1031" name="Immagine 1030" descr="Immagine che contiene cerchio, logo, Elementi grafici, testo&#10;&#10;Il contenuto generato dall'IA potrebbe non essere corretto.">
            <a:extLst>
              <a:ext uri="{FF2B5EF4-FFF2-40B4-BE49-F238E27FC236}">
                <a16:creationId xmlns:a16="http://schemas.microsoft.com/office/drawing/2014/main" id="{6D3F8994-FFDB-4B8D-4A8A-638D322DA9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120" y="4265324"/>
            <a:ext cx="2576104" cy="1717402"/>
          </a:xfrm>
          <a:prstGeom prst="rect">
            <a:avLst/>
          </a:prstGeom>
        </p:spPr>
      </p:pic>
      <p:sp>
        <p:nvSpPr>
          <p:cNvPr id="2" name="Segnaposto data 1">
            <a:extLst>
              <a:ext uri="{FF2B5EF4-FFF2-40B4-BE49-F238E27FC236}">
                <a16:creationId xmlns:a16="http://schemas.microsoft.com/office/drawing/2014/main" id="{A8926689-E03C-FB70-508F-E013E284F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Anno accademico 2025/2026</a:t>
            </a:r>
            <a:endParaRPr lang="it-I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99999C6-3BE7-BBE7-A46E-6130ADCA0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457C4-41BA-4245-A517-1492C4EB6DD6}" type="slidenum">
              <a:rPr lang="it-IT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fld>
            <a:endParaRPr lang="it-I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539B37D9-95A1-EE04-221D-0B3C6672137D}"/>
              </a:ext>
            </a:extLst>
          </p:cNvPr>
          <p:cNvSpPr txBox="1">
            <a:spLocks/>
          </p:cNvSpPr>
          <p:nvPr/>
        </p:nvSpPr>
        <p:spPr>
          <a:xfrm>
            <a:off x="479385" y="745807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Obiettivi e Contributi</a:t>
            </a:r>
          </a:p>
        </p:txBody>
      </p:sp>
      <p:sp>
        <p:nvSpPr>
          <p:cNvPr id="14" name="object 3">
            <a:extLst>
              <a:ext uri="{FF2B5EF4-FFF2-40B4-BE49-F238E27FC236}">
                <a16:creationId xmlns:a16="http://schemas.microsoft.com/office/drawing/2014/main" id="{F02E184F-FCEE-7AB9-8B91-A60DE91D4F2B}"/>
              </a:ext>
            </a:extLst>
          </p:cNvPr>
          <p:cNvSpPr/>
          <p:nvPr/>
        </p:nvSpPr>
        <p:spPr>
          <a:xfrm>
            <a:off x="592670" y="677862"/>
            <a:ext cx="1041400" cy="67945"/>
          </a:xfrm>
          <a:custGeom>
            <a:avLst/>
            <a:gdLst/>
            <a:ahLst/>
            <a:cxnLst/>
            <a:rect l="l" t="t" r="r" b="b"/>
            <a:pathLst>
              <a:path w="1041400" h="67945">
                <a:moveTo>
                  <a:pt x="1041400" y="0"/>
                </a:moveTo>
                <a:lnTo>
                  <a:pt x="0" y="0"/>
                </a:lnTo>
                <a:lnTo>
                  <a:pt x="0" y="67729"/>
                </a:lnTo>
                <a:lnTo>
                  <a:pt x="1041400" y="67729"/>
                </a:lnTo>
                <a:lnTo>
                  <a:pt x="1041400" y="0"/>
                </a:lnTo>
                <a:close/>
              </a:path>
            </a:pathLst>
          </a:custGeom>
          <a:solidFill>
            <a:srgbClr val="F0A024"/>
          </a:solidFill>
        </p:spPr>
        <p:txBody>
          <a:bodyPr wrap="square" lIns="0" tIns="0" rIns="0" bIns="0" rtlCol="0"/>
          <a:lstStyle/>
          <a:p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object 3">
            <a:extLst>
              <a:ext uri="{FF2B5EF4-FFF2-40B4-BE49-F238E27FC236}">
                <a16:creationId xmlns:a16="http://schemas.microsoft.com/office/drawing/2014/main" id="{74831043-D163-D155-3BD5-464F821C647B}"/>
              </a:ext>
            </a:extLst>
          </p:cNvPr>
          <p:cNvSpPr/>
          <p:nvPr/>
        </p:nvSpPr>
        <p:spPr>
          <a:xfrm rot="16200000" flipV="1">
            <a:off x="3787030" y="3900207"/>
            <a:ext cx="4629154" cy="57601"/>
          </a:xfrm>
          <a:custGeom>
            <a:avLst/>
            <a:gdLst/>
            <a:ahLst/>
            <a:cxnLst/>
            <a:rect l="l" t="t" r="r" b="b"/>
            <a:pathLst>
              <a:path w="1041400" h="67945">
                <a:moveTo>
                  <a:pt x="1041400" y="0"/>
                </a:moveTo>
                <a:lnTo>
                  <a:pt x="0" y="0"/>
                </a:lnTo>
                <a:lnTo>
                  <a:pt x="0" y="67729"/>
                </a:lnTo>
                <a:lnTo>
                  <a:pt x="1041400" y="67729"/>
                </a:lnTo>
                <a:lnTo>
                  <a:pt x="1041400" y="0"/>
                </a:lnTo>
                <a:close/>
              </a:path>
            </a:pathLst>
          </a:custGeom>
          <a:solidFill>
            <a:srgbClr val="F0A024"/>
          </a:solidFill>
        </p:spPr>
        <p:txBody>
          <a:bodyPr wrap="square" lIns="0" tIns="0" rIns="0" bIns="0" rtlCol="0"/>
          <a:lstStyle/>
          <a:p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A0787BB7-92E5-B4B6-B720-1E48BEB1D5B8}"/>
              </a:ext>
            </a:extLst>
          </p:cNvPr>
          <p:cNvSpPr txBox="1"/>
          <p:nvPr/>
        </p:nvSpPr>
        <p:spPr>
          <a:xfrm>
            <a:off x="6263879" y="1984496"/>
            <a:ext cx="569564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Architettura integrata </a:t>
            </a:r>
            <a:r>
              <a:rPr lang="it-IT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LoRa</a:t>
            </a:r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</a:t>
            </a:r>
            <a:r>
              <a:rPr lang="it-IT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Meshtastic</a:t>
            </a:r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ATAK-CIV per scenari off-</a:t>
            </a:r>
            <a:r>
              <a:rPr lang="it-IT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grid</a:t>
            </a:r>
            <a:endParaRPr lang="it-IT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Modello di sicurezza a tre profili di rischio (Basso/Medio/Alto)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Valutazione quantitativa del trade-off energia, sicurezza, accuratezza delle informazioni</a:t>
            </a:r>
          </a:p>
        </p:txBody>
      </p:sp>
      <p:sp>
        <p:nvSpPr>
          <p:cNvPr id="19" name="Segnaposto data 1">
            <a:extLst>
              <a:ext uri="{FF2B5EF4-FFF2-40B4-BE49-F238E27FC236}">
                <a16:creationId xmlns:a16="http://schemas.microsoft.com/office/drawing/2014/main" id="{73F2D2B8-7A39-0A03-027A-225E0837CAAB}"/>
              </a:ext>
            </a:extLst>
          </p:cNvPr>
          <p:cNvSpPr txBox="1">
            <a:spLocks/>
          </p:cNvSpPr>
          <p:nvPr/>
        </p:nvSpPr>
        <p:spPr>
          <a:xfrm>
            <a:off x="838200" y="64579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Anno accademico 2025/2026</a:t>
            </a:r>
            <a:endParaRPr lang="it-I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Segnaposto numero diapositiva 3">
            <a:extLst>
              <a:ext uri="{FF2B5EF4-FFF2-40B4-BE49-F238E27FC236}">
                <a16:creationId xmlns:a16="http://schemas.microsoft.com/office/drawing/2014/main" id="{1E716177-470E-A920-748A-2E1C4962C65F}"/>
              </a:ext>
            </a:extLst>
          </p:cNvPr>
          <p:cNvSpPr txBox="1">
            <a:spLocks/>
          </p:cNvSpPr>
          <p:nvPr/>
        </p:nvSpPr>
        <p:spPr>
          <a:xfrm>
            <a:off x="8610600" y="647827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DF457C4-41BA-4245-A517-1492C4EB6DD6}" type="slidenum">
              <a:rPr lang="it-IT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/>
              <a:t>3</a:t>
            </a:fld>
            <a:endParaRPr lang="it-I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0" name="Immagine 29">
            <a:extLst>
              <a:ext uri="{FF2B5EF4-FFF2-40B4-BE49-F238E27FC236}">
                <a16:creationId xmlns:a16="http://schemas.microsoft.com/office/drawing/2014/main" id="{621BE856-2E2F-4110-D69C-A8FFAD0F48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407" y="3822340"/>
            <a:ext cx="2182102" cy="1827414"/>
          </a:xfrm>
          <a:prstGeom prst="rect">
            <a:avLst/>
          </a:prstGeom>
        </p:spPr>
      </p:pic>
      <p:sp>
        <p:nvSpPr>
          <p:cNvPr id="1025" name="AutoShape 8" descr="Generazione immagine completata">
            <a:extLst>
              <a:ext uri="{FF2B5EF4-FFF2-40B4-BE49-F238E27FC236}">
                <a16:creationId xmlns:a16="http://schemas.microsoft.com/office/drawing/2014/main" id="{EE186994-1B6A-280C-D004-AABB2F2CE6F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084" name="Picture 12" descr="Quantitative research - Free marketing icons">
            <a:extLst>
              <a:ext uri="{FF2B5EF4-FFF2-40B4-BE49-F238E27FC236}">
                <a16:creationId xmlns:a16="http://schemas.microsoft.com/office/drawing/2014/main" id="{B8E2EA7F-8797-970D-5791-D397ABA632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2988" y="4327628"/>
            <a:ext cx="1514137" cy="1514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AutoShape 14" descr="Come calcolare il proprio profilo di rischio | IG Italia">
            <a:extLst>
              <a:ext uri="{FF2B5EF4-FFF2-40B4-BE49-F238E27FC236}">
                <a16:creationId xmlns:a16="http://schemas.microsoft.com/office/drawing/2014/main" id="{C44026BF-75C7-3B54-4BE1-95D803511D7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052" name="Gruppo 1051">
            <a:extLst>
              <a:ext uri="{FF2B5EF4-FFF2-40B4-BE49-F238E27FC236}">
                <a16:creationId xmlns:a16="http://schemas.microsoft.com/office/drawing/2014/main" id="{6CA6C497-A47C-1E7A-1D22-2F6FACBC7F89}"/>
              </a:ext>
            </a:extLst>
          </p:cNvPr>
          <p:cNvGrpSpPr/>
          <p:nvPr/>
        </p:nvGrpSpPr>
        <p:grpSpPr>
          <a:xfrm>
            <a:off x="7681650" y="4316959"/>
            <a:ext cx="836165" cy="1717402"/>
            <a:chOff x="7667160" y="3861519"/>
            <a:chExt cx="1033104" cy="2465335"/>
          </a:xfrm>
        </p:grpSpPr>
        <p:pic>
          <p:nvPicPr>
            <p:cNvPr id="1035" name="Picture 2">
              <a:extLst>
                <a:ext uri="{FF2B5EF4-FFF2-40B4-BE49-F238E27FC236}">
                  <a16:creationId xmlns:a16="http://schemas.microsoft.com/office/drawing/2014/main" id="{0213383E-98B3-7CA4-BCDD-EF09A3410A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67160" y="3861519"/>
              <a:ext cx="1033104" cy="6456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6" name="Picture 4" descr="Maker Faire | Meshtastic">
              <a:extLst>
                <a:ext uri="{FF2B5EF4-FFF2-40B4-BE49-F238E27FC236}">
                  <a16:creationId xmlns:a16="http://schemas.microsoft.com/office/drawing/2014/main" id="{31D259D3-7404-E08F-9F7F-F734421DEAA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67160" y="4677454"/>
              <a:ext cx="914828" cy="6087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7" name="Picture 6" descr="ATAK-CIV (Civil Use) - App su Google Play">
              <a:extLst>
                <a:ext uri="{FF2B5EF4-FFF2-40B4-BE49-F238E27FC236}">
                  <a16:creationId xmlns:a16="http://schemas.microsoft.com/office/drawing/2014/main" id="{44D60229-3122-36C4-D96F-53668E6A25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6439" y="5444089"/>
              <a:ext cx="882765" cy="8827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42" name="Segnaposto contenuto 3">
            <a:extLst>
              <a:ext uri="{FF2B5EF4-FFF2-40B4-BE49-F238E27FC236}">
                <a16:creationId xmlns:a16="http://schemas.microsoft.com/office/drawing/2014/main" id="{DFBA3609-6163-F1BC-7634-438B1BB83B2C}"/>
              </a:ext>
            </a:extLst>
          </p:cNvPr>
          <p:cNvSpPr txBox="1">
            <a:spLocks/>
          </p:cNvSpPr>
          <p:nvPr/>
        </p:nvSpPr>
        <p:spPr>
          <a:xfrm>
            <a:off x="474199" y="1956180"/>
            <a:ext cx="5157787" cy="36845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</a:pPr>
            <a:r>
              <a:rPr lang="it-I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Mantenere una </a:t>
            </a:r>
            <a:r>
              <a:rPr lang="it-I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Situational</a:t>
            </a:r>
            <a:r>
              <a:rPr lang="it-I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Awareness</a:t>
            </a:r>
            <a:r>
              <a:rPr lang="it-I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 una Common </a:t>
            </a:r>
            <a:r>
              <a:rPr lang="it-I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Operational</a:t>
            </a:r>
            <a:r>
              <a:rPr lang="it-I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Picture in scenari off-</a:t>
            </a:r>
            <a:r>
              <a:rPr lang="it-I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grid</a:t>
            </a:r>
            <a:r>
              <a:rPr lang="it-I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lnSpc>
                <a:spcPct val="100000"/>
              </a:lnSpc>
            </a:pPr>
            <a:r>
              <a:rPr lang="it-I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Bilanciare sicurezza, consumo energetico,  accuratezza informativa nel rispetto  dei vincoli normativi</a:t>
            </a:r>
          </a:p>
        </p:txBody>
      </p:sp>
      <p:grpSp>
        <p:nvGrpSpPr>
          <p:cNvPr id="1050" name="Gruppo 1049">
            <a:extLst>
              <a:ext uri="{FF2B5EF4-FFF2-40B4-BE49-F238E27FC236}">
                <a16:creationId xmlns:a16="http://schemas.microsoft.com/office/drawing/2014/main" id="{F6659CB2-033E-F96D-0DA0-A5F0C13E83CD}"/>
              </a:ext>
            </a:extLst>
          </p:cNvPr>
          <p:cNvGrpSpPr/>
          <p:nvPr/>
        </p:nvGrpSpPr>
        <p:grpSpPr>
          <a:xfrm>
            <a:off x="3103115" y="3538463"/>
            <a:ext cx="2598095" cy="1934144"/>
            <a:chOff x="2858117" y="4023708"/>
            <a:chExt cx="2598095" cy="1934144"/>
          </a:xfrm>
        </p:grpSpPr>
        <p:pic>
          <p:nvPicPr>
            <p:cNvPr id="1047" name="Immagine 1046" descr="Immagine che contiene simbolo, disegno, clipart, design&#10;&#10;Il contenuto generato dall'IA potrebbe non essere corretto.">
              <a:extLst>
                <a:ext uri="{FF2B5EF4-FFF2-40B4-BE49-F238E27FC236}">
                  <a16:creationId xmlns:a16="http://schemas.microsoft.com/office/drawing/2014/main" id="{BA24A269-2598-6341-1038-753074E0B1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58117" y="4225789"/>
              <a:ext cx="2598095" cy="1732063"/>
            </a:xfrm>
            <a:prstGeom prst="rect">
              <a:avLst/>
            </a:prstGeom>
          </p:spPr>
        </p:pic>
        <p:pic>
          <p:nvPicPr>
            <p:cNvPr id="3096" name="Picture 24" descr="Data Accuracy Icon Element Design Stock Vector (Royalty Free) 2578052245 |  Shutterstock">
              <a:extLst>
                <a:ext uri="{FF2B5EF4-FFF2-40B4-BE49-F238E27FC236}">
                  <a16:creationId xmlns:a16="http://schemas.microsoft.com/office/drawing/2014/main" id="{0620E595-547F-617C-5781-3C17A522C27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9645"/>
            <a:stretch>
              <a:fillRect/>
            </a:stretch>
          </p:blipFill>
          <p:spPr bwMode="auto">
            <a:xfrm>
              <a:off x="3463257" y="4053465"/>
              <a:ext cx="530592" cy="5171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9" name="Picture 9" descr="99+ Thousand Full Battery Icon Royalty-Free Images, Stock Photos &amp; Pictures  | Shutterstock">
              <a:extLst>
                <a:ext uri="{FF2B5EF4-FFF2-40B4-BE49-F238E27FC236}">
                  <a16:creationId xmlns:a16="http://schemas.microsoft.com/office/drawing/2014/main" id="{2C25A39B-F7DF-0C1E-DEA4-66AE42328E6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0325"/>
            <a:stretch>
              <a:fillRect/>
            </a:stretch>
          </p:blipFill>
          <p:spPr bwMode="auto">
            <a:xfrm flipV="1">
              <a:off x="3134321" y="4671657"/>
              <a:ext cx="487388" cy="2353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98" name="Picture 26" descr="Security - Free security icons">
              <a:extLst>
                <a:ext uri="{FF2B5EF4-FFF2-40B4-BE49-F238E27FC236}">
                  <a16:creationId xmlns:a16="http://schemas.microsoft.com/office/drawing/2014/main" id="{4B02AD71-6F4D-FD1C-521F-A4EC58DE1F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956845" y="4288837"/>
              <a:ext cx="354952" cy="3549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00" name="Picture 28" descr="Regulation - Free miscellaneous icons">
              <a:extLst>
                <a:ext uri="{FF2B5EF4-FFF2-40B4-BE49-F238E27FC236}">
                  <a16:creationId xmlns:a16="http://schemas.microsoft.com/office/drawing/2014/main" id="{EC6D1BC6-FAA2-40DF-3E57-BB358BE3C7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79555" y="4023708"/>
              <a:ext cx="858440" cy="8584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110" name="Picture 38" descr="Android Tactical Assault Kit (ATAK) – Rival Defense">
            <a:extLst>
              <a:ext uri="{FF2B5EF4-FFF2-40B4-BE49-F238E27FC236}">
                <a16:creationId xmlns:a16="http://schemas.microsoft.com/office/drawing/2014/main" id="{F66D1A4A-9AFF-2EF2-1B34-38EA2A88B3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1691" y="4951249"/>
            <a:ext cx="2820964" cy="1250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tangolo 4">
            <a:extLst>
              <a:ext uri="{FF2B5EF4-FFF2-40B4-BE49-F238E27FC236}">
                <a16:creationId xmlns:a16="http://schemas.microsoft.com/office/drawing/2014/main" id="{D07CDDC9-A43A-3357-F360-69B1C1DAA662}"/>
              </a:ext>
            </a:extLst>
          </p:cNvPr>
          <p:cNvSpPr/>
          <p:nvPr/>
        </p:nvSpPr>
        <p:spPr>
          <a:xfrm>
            <a:off x="0" y="6571000"/>
            <a:ext cx="12192000" cy="297048"/>
          </a:xfrm>
          <a:prstGeom prst="rect">
            <a:avLst/>
          </a:prstGeom>
          <a:solidFill>
            <a:srgbClr val="AB27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egnaposto data 1">
            <a:extLst>
              <a:ext uri="{FF2B5EF4-FFF2-40B4-BE49-F238E27FC236}">
                <a16:creationId xmlns:a16="http://schemas.microsoft.com/office/drawing/2014/main" id="{FFDEAF61-89EF-BB19-ABC9-49ABD0FE68E1}"/>
              </a:ext>
            </a:extLst>
          </p:cNvPr>
          <p:cNvSpPr txBox="1">
            <a:spLocks/>
          </p:cNvSpPr>
          <p:nvPr/>
        </p:nvSpPr>
        <p:spPr>
          <a:xfrm>
            <a:off x="838200" y="65532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Anno accademico 2025/2026</a:t>
            </a:r>
            <a:endParaRPr lang="it-I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egnaposto piè di pagina 2">
            <a:extLst>
              <a:ext uri="{FF2B5EF4-FFF2-40B4-BE49-F238E27FC236}">
                <a16:creationId xmlns:a16="http://schemas.microsoft.com/office/drawing/2014/main" id="{A3BB18A8-0D72-E8EA-6805-93B66E9E0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7106" y="6552951"/>
            <a:ext cx="5447030" cy="365125"/>
          </a:xfrm>
        </p:spPr>
        <p:txBody>
          <a:bodyPr/>
          <a:lstStyle/>
          <a:p>
            <a:pPr algn="l"/>
            <a:r>
              <a:rPr lang="it-IT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Reti Mesh Decentralizzate </a:t>
            </a:r>
            <a:r>
              <a:rPr lang="it-IT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LoRa</a:t>
            </a:r>
            <a:r>
              <a:rPr lang="it-IT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per la </a:t>
            </a:r>
            <a:r>
              <a:rPr lang="it-IT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Situational</a:t>
            </a:r>
            <a:r>
              <a:rPr lang="it-IT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Awareness</a:t>
            </a:r>
            <a:r>
              <a:rPr lang="it-IT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Contesti Off-</a:t>
            </a:r>
            <a:r>
              <a:rPr lang="it-IT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Grid</a:t>
            </a:r>
            <a:endParaRPr lang="it-I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Segnaposto numero diapositiva 3">
            <a:extLst>
              <a:ext uri="{FF2B5EF4-FFF2-40B4-BE49-F238E27FC236}">
                <a16:creationId xmlns:a16="http://schemas.microsoft.com/office/drawing/2014/main" id="{F6ECA2E9-264B-13F6-09B1-2E4D3A36FBCA}"/>
              </a:ext>
            </a:extLst>
          </p:cNvPr>
          <p:cNvSpPr txBox="1">
            <a:spLocks/>
          </p:cNvSpPr>
          <p:nvPr/>
        </p:nvSpPr>
        <p:spPr>
          <a:xfrm>
            <a:off x="8610600" y="65100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DF457C4-41BA-4245-A517-1492C4EB6DD6}" type="slidenum">
              <a:rPr lang="it-IT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/>
              <a:t>3</a:t>
            </a:fld>
            <a:endParaRPr lang="it-I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F66602DA-15C1-0C98-BCA6-4E0DA17D4089}"/>
              </a:ext>
            </a:extLst>
          </p:cNvPr>
          <p:cNvSpPr/>
          <p:nvPr/>
        </p:nvSpPr>
        <p:spPr>
          <a:xfrm>
            <a:off x="3635428" y="3518865"/>
            <a:ext cx="706000" cy="570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BB5F10D0-B3E9-5118-156F-9B8154756613}"/>
              </a:ext>
            </a:extLst>
          </p:cNvPr>
          <p:cNvSpPr/>
          <p:nvPr/>
        </p:nvSpPr>
        <p:spPr>
          <a:xfrm rot="5400000">
            <a:off x="3897810" y="3724968"/>
            <a:ext cx="706000" cy="570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53EB8C73-6228-68D4-0F39-CE5DC030041C}"/>
              </a:ext>
            </a:extLst>
          </p:cNvPr>
          <p:cNvSpPr/>
          <p:nvPr/>
        </p:nvSpPr>
        <p:spPr>
          <a:xfrm rot="5400000">
            <a:off x="3473847" y="3798495"/>
            <a:ext cx="450073" cy="478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D66AF61E-E4DE-DDFC-F313-856B901246B1}"/>
              </a:ext>
            </a:extLst>
          </p:cNvPr>
          <p:cNvSpPr txBox="1"/>
          <p:nvPr/>
        </p:nvSpPr>
        <p:spPr>
          <a:xfrm>
            <a:off x="474199" y="1552876"/>
            <a:ext cx="1074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Obiettivi</a:t>
            </a:r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FB447C18-028B-E100-2D05-518202CC20C4}"/>
              </a:ext>
            </a:extLst>
          </p:cNvPr>
          <p:cNvSpPr txBox="1"/>
          <p:nvPr/>
        </p:nvSpPr>
        <p:spPr>
          <a:xfrm>
            <a:off x="6271307" y="1542526"/>
            <a:ext cx="1214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Contributi</a:t>
            </a:r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300199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4B7E7-F575-7156-10DA-27405BEC5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uppo 28">
            <a:extLst>
              <a:ext uri="{FF2B5EF4-FFF2-40B4-BE49-F238E27FC236}">
                <a16:creationId xmlns:a16="http://schemas.microsoft.com/office/drawing/2014/main" id="{902987E0-02E4-A6F4-834D-12AC65E37AC2}"/>
              </a:ext>
            </a:extLst>
          </p:cNvPr>
          <p:cNvGrpSpPr/>
          <p:nvPr/>
        </p:nvGrpSpPr>
        <p:grpSpPr>
          <a:xfrm>
            <a:off x="4395253" y="5369952"/>
            <a:ext cx="1113646" cy="903407"/>
            <a:chOff x="4186534" y="5369952"/>
            <a:chExt cx="1113646" cy="903407"/>
          </a:xfrm>
        </p:grpSpPr>
        <p:pic>
          <p:nvPicPr>
            <p:cNvPr id="3" name="Picture 8" descr="Electric Plugin Icon SVG Vector &amp; PNG Free Download | UXWing">
              <a:extLst>
                <a:ext uri="{FF2B5EF4-FFF2-40B4-BE49-F238E27FC236}">
                  <a16:creationId xmlns:a16="http://schemas.microsoft.com/office/drawing/2014/main" id="{D3F264EC-1632-82D3-81AA-2576FE4D92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70546" y="5533971"/>
              <a:ext cx="529634" cy="5319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6" descr="ATAK-CIV (Civil Use) - App su Google Play">
              <a:extLst>
                <a:ext uri="{FF2B5EF4-FFF2-40B4-BE49-F238E27FC236}">
                  <a16:creationId xmlns:a16="http://schemas.microsoft.com/office/drawing/2014/main" id="{68C3104B-FD14-BEA8-848C-E5012E2588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09126" y="5741392"/>
              <a:ext cx="561420" cy="5319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24" descr="Android Apps by Meshtastic on Google Play">
              <a:extLst>
                <a:ext uri="{FF2B5EF4-FFF2-40B4-BE49-F238E27FC236}">
                  <a16:creationId xmlns:a16="http://schemas.microsoft.com/office/drawing/2014/main" id="{24C133AC-7EFD-60FA-99F8-4A68D78C7F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86534" y="5369952"/>
              <a:ext cx="548200" cy="365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ED702426-BDBC-05F5-43AF-98599F1A9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Anno accademico 2025/2026</a:t>
            </a:r>
            <a:endParaRPr lang="it-I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C0D5AC9-3232-B1CD-4B89-7DC8C5060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457C4-41BA-4245-A517-1492C4EB6DD6}" type="slidenum">
              <a:rPr lang="it-IT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fld>
            <a:endParaRPr lang="it-I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F8AA0820-D8D4-2FC5-99B5-60B118A969FD}"/>
              </a:ext>
            </a:extLst>
          </p:cNvPr>
          <p:cNvSpPr txBox="1">
            <a:spLocks/>
          </p:cNvSpPr>
          <p:nvPr/>
        </p:nvSpPr>
        <p:spPr>
          <a:xfrm>
            <a:off x="479385" y="745807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Scenario Tecnologico</a:t>
            </a:r>
          </a:p>
        </p:txBody>
      </p:sp>
      <p:sp>
        <p:nvSpPr>
          <p:cNvPr id="14" name="object 3">
            <a:extLst>
              <a:ext uri="{FF2B5EF4-FFF2-40B4-BE49-F238E27FC236}">
                <a16:creationId xmlns:a16="http://schemas.microsoft.com/office/drawing/2014/main" id="{0788ADB9-D72D-42BD-A07E-55B9E3DE2116}"/>
              </a:ext>
            </a:extLst>
          </p:cNvPr>
          <p:cNvSpPr/>
          <p:nvPr/>
        </p:nvSpPr>
        <p:spPr>
          <a:xfrm>
            <a:off x="592670" y="677862"/>
            <a:ext cx="1041400" cy="67945"/>
          </a:xfrm>
          <a:custGeom>
            <a:avLst/>
            <a:gdLst/>
            <a:ahLst/>
            <a:cxnLst/>
            <a:rect l="l" t="t" r="r" b="b"/>
            <a:pathLst>
              <a:path w="1041400" h="67945">
                <a:moveTo>
                  <a:pt x="1041400" y="0"/>
                </a:moveTo>
                <a:lnTo>
                  <a:pt x="0" y="0"/>
                </a:lnTo>
                <a:lnTo>
                  <a:pt x="0" y="67729"/>
                </a:lnTo>
                <a:lnTo>
                  <a:pt x="1041400" y="67729"/>
                </a:lnTo>
                <a:lnTo>
                  <a:pt x="1041400" y="0"/>
                </a:lnTo>
                <a:close/>
              </a:path>
            </a:pathLst>
          </a:custGeom>
          <a:solidFill>
            <a:srgbClr val="F0A024"/>
          </a:solidFill>
        </p:spPr>
        <p:txBody>
          <a:bodyPr wrap="square" lIns="0" tIns="0" rIns="0" bIns="0" rtlCol="0"/>
          <a:lstStyle/>
          <a:p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Segnaposto data 1">
            <a:extLst>
              <a:ext uri="{FF2B5EF4-FFF2-40B4-BE49-F238E27FC236}">
                <a16:creationId xmlns:a16="http://schemas.microsoft.com/office/drawing/2014/main" id="{5CE8FF4D-1925-FD95-3116-D6B6C5253A17}"/>
              </a:ext>
            </a:extLst>
          </p:cNvPr>
          <p:cNvSpPr txBox="1">
            <a:spLocks/>
          </p:cNvSpPr>
          <p:nvPr/>
        </p:nvSpPr>
        <p:spPr>
          <a:xfrm>
            <a:off x="838200" y="64579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Anno accademico 2025/2026</a:t>
            </a:r>
            <a:endParaRPr lang="it-I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Segnaposto numero diapositiva 3">
            <a:extLst>
              <a:ext uri="{FF2B5EF4-FFF2-40B4-BE49-F238E27FC236}">
                <a16:creationId xmlns:a16="http://schemas.microsoft.com/office/drawing/2014/main" id="{3AD25020-8DB1-B1C7-6721-57FF0A3E554A}"/>
              </a:ext>
            </a:extLst>
          </p:cNvPr>
          <p:cNvSpPr txBox="1">
            <a:spLocks/>
          </p:cNvSpPr>
          <p:nvPr/>
        </p:nvSpPr>
        <p:spPr>
          <a:xfrm>
            <a:off x="8610600" y="647827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DF457C4-41BA-4245-A517-1492C4EB6DD6}" type="slidenum">
              <a:rPr lang="it-IT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/>
              <a:t>4</a:t>
            </a:fld>
            <a:endParaRPr lang="it-I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5" name="AutoShape 8" descr="Generazione immagine completata">
            <a:extLst>
              <a:ext uri="{FF2B5EF4-FFF2-40B4-BE49-F238E27FC236}">
                <a16:creationId xmlns:a16="http://schemas.microsoft.com/office/drawing/2014/main" id="{54DD6962-D1EA-7449-0B3F-7CBD7FC8303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7" name="AutoShape 14" descr="Come calcolare il proprio profilo di rischio | IG Italia">
            <a:extLst>
              <a:ext uri="{FF2B5EF4-FFF2-40B4-BE49-F238E27FC236}">
                <a16:creationId xmlns:a16="http://schemas.microsoft.com/office/drawing/2014/main" id="{241017CA-F8B3-B27F-2ADB-962E9E2485D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96B6C1AB-5EFB-26B5-28FC-1F4D4D5068F9}"/>
              </a:ext>
            </a:extLst>
          </p:cNvPr>
          <p:cNvSpPr/>
          <p:nvPr/>
        </p:nvSpPr>
        <p:spPr>
          <a:xfrm>
            <a:off x="0" y="6571000"/>
            <a:ext cx="12192000" cy="297048"/>
          </a:xfrm>
          <a:prstGeom prst="rect">
            <a:avLst/>
          </a:prstGeom>
          <a:solidFill>
            <a:srgbClr val="AB27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egnaposto data 1">
            <a:extLst>
              <a:ext uri="{FF2B5EF4-FFF2-40B4-BE49-F238E27FC236}">
                <a16:creationId xmlns:a16="http://schemas.microsoft.com/office/drawing/2014/main" id="{9014FBD1-C0CD-E92C-9095-F299CAB39B9C}"/>
              </a:ext>
            </a:extLst>
          </p:cNvPr>
          <p:cNvSpPr txBox="1">
            <a:spLocks/>
          </p:cNvSpPr>
          <p:nvPr/>
        </p:nvSpPr>
        <p:spPr>
          <a:xfrm>
            <a:off x="838200" y="65532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Anno accademico 2025/2026</a:t>
            </a:r>
            <a:endParaRPr lang="it-I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egnaposto piè di pagina 2">
            <a:extLst>
              <a:ext uri="{FF2B5EF4-FFF2-40B4-BE49-F238E27FC236}">
                <a16:creationId xmlns:a16="http://schemas.microsoft.com/office/drawing/2014/main" id="{E1418DDE-6780-6091-618A-1395EB44C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7106" y="6552951"/>
            <a:ext cx="5447030" cy="365125"/>
          </a:xfrm>
        </p:spPr>
        <p:txBody>
          <a:bodyPr/>
          <a:lstStyle/>
          <a:p>
            <a:pPr algn="l"/>
            <a:r>
              <a:rPr lang="it-IT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Reti Mesh Decentralizzate </a:t>
            </a:r>
            <a:r>
              <a:rPr lang="it-IT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LoRa</a:t>
            </a:r>
            <a:r>
              <a:rPr lang="it-IT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per la </a:t>
            </a:r>
            <a:r>
              <a:rPr lang="it-IT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Situational</a:t>
            </a:r>
            <a:r>
              <a:rPr lang="it-IT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Awareness</a:t>
            </a:r>
            <a:r>
              <a:rPr lang="it-IT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Contesti Off-</a:t>
            </a:r>
            <a:r>
              <a:rPr lang="it-IT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Grid</a:t>
            </a:r>
            <a:endParaRPr lang="it-I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Segnaposto numero diapositiva 3">
            <a:extLst>
              <a:ext uri="{FF2B5EF4-FFF2-40B4-BE49-F238E27FC236}">
                <a16:creationId xmlns:a16="http://schemas.microsoft.com/office/drawing/2014/main" id="{AB1EADE8-463D-0F2D-1998-B912CCE7CF2D}"/>
              </a:ext>
            </a:extLst>
          </p:cNvPr>
          <p:cNvSpPr txBox="1">
            <a:spLocks/>
          </p:cNvSpPr>
          <p:nvPr/>
        </p:nvSpPr>
        <p:spPr>
          <a:xfrm>
            <a:off x="8610600" y="65100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DF457C4-41BA-4245-A517-1492C4EB6DD6}" type="slidenum">
              <a:rPr lang="it-IT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/>
              <a:t>4</a:t>
            </a:fld>
            <a:endParaRPr lang="it-I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Segnaposto contenuto 3">
            <a:extLst>
              <a:ext uri="{FF2B5EF4-FFF2-40B4-BE49-F238E27FC236}">
                <a16:creationId xmlns:a16="http://schemas.microsoft.com/office/drawing/2014/main" id="{0EF966D3-F49D-52A3-C2E4-6C78C776288B}"/>
              </a:ext>
            </a:extLst>
          </p:cNvPr>
          <p:cNvSpPr txBox="1">
            <a:spLocks/>
          </p:cNvSpPr>
          <p:nvPr/>
        </p:nvSpPr>
        <p:spPr>
          <a:xfrm>
            <a:off x="1244731" y="1431394"/>
            <a:ext cx="3296233" cy="291467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it-IT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Lora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it-I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Tecnologia radio LPWAN a lungo raggio, basata su modulazione Chirp Spread </a:t>
            </a:r>
            <a:r>
              <a:rPr lang="it-I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Spectrum</a:t>
            </a:r>
            <a:r>
              <a:rPr lang="it-I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(CSS), progettata per garantire comunicazioni robuste a basso consumo anche in ambienti degradati e off-</a:t>
            </a:r>
            <a:r>
              <a:rPr lang="it-I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grid</a:t>
            </a:r>
            <a:r>
              <a:rPr lang="it-I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52" name="Picture 2">
            <a:extLst>
              <a:ext uri="{FF2B5EF4-FFF2-40B4-BE49-F238E27FC236}">
                <a16:creationId xmlns:a16="http://schemas.microsoft.com/office/drawing/2014/main" id="{CFDFDD93-FF25-B43F-F966-0AAE2318B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217" y="1454810"/>
            <a:ext cx="1033104" cy="645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24" name="Gruppo 1023">
            <a:extLst>
              <a:ext uri="{FF2B5EF4-FFF2-40B4-BE49-F238E27FC236}">
                <a16:creationId xmlns:a16="http://schemas.microsoft.com/office/drawing/2014/main" id="{2716C8B5-D746-4279-B26E-A03E3AD51198}"/>
              </a:ext>
            </a:extLst>
          </p:cNvPr>
          <p:cNvGrpSpPr/>
          <p:nvPr/>
        </p:nvGrpSpPr>
        <p:grpSpPr>
          <a:xfrm>
            <a:off x="9200214" y="2462797"/>
            <a:ext cx="1993614" cy="1771044"/>
            <a:chOff x="7559622" y="2375088"/>
            <a:chExt cx="2743199" cy="2600553"/>
          </a:xfrm>
        </p:grpSpPr>
        <p:grpSp>
          <p:nvGrpSpPr>
            <p:cNvPr id="28" name="Gruppo 27">
              <a:extLst>
                <a:ext uri="{FF2B5EF4-FFF2-40B4-BE49-F238E27FC236}">
                  <a16:creationId xmlns:a16="http://schemas.microsoft.com/office/drawing/2014/main" id="{59FDBAD8-E4F9-4DEC-A2C8-DA03B6F68F00}"/>
                </a:ext>
              </a:extLst>
            </p:cNvPr>
            <p:cNvGrpSpPr/>
            <p:nvPr/>
          </p:nvGrpSpPr>
          <p:grpSpPr>
            <a:xfrm>
              <a:off x="7559622" y="2375088"/>
              <a:ext cx="2743199" cy="2600553"/>
              <a:chOff x="5236624" y="3042261"/>
              <a:chExt cx="2743199" cy="2600553"/>
            </a:xfrm>
          </p:grpSpPr>
          <p:pic>
            <p:nvPicPr>
              <p:cNvPr id="18" name="Picture 4" descr="Maker Faire | Meshtastic">
                <a:extLst>
                  <a:ext uri="{FF2B5EF4-FFF2-40B4-BE49-F238E27FC236}">
                    <a16:creationId xmlns:a16="http://schemas.microsoft.com/office/drawing/2014/main" id="{4432F52B-4415-89E1-A893-829645F404A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592653" y="4946025"/>
                <a:ext cx="440483" cy="29312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6" name="Picture 2">
                <a:extLst>
                  <a:ext uri="{FF2B5EF4-FFF2-40B4-BE49-F238E27FC236}">
                    <a16:creationId xmlns:a16="http://schemas.microsoft.com/office/drawing/2014/main" id="{86B44DFA-441B-16D1-B7E2-F70C53E749A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93725" y="3589022"/>
                <a:ext cx="658425" cy="41151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27" name="Gruppo 26">
                <a:extLst>
                  <a:ext uri="{FF2B5EF4-FFF2-40B4-BE49-F238E27FC236}">
                    <a16:creationId xmlns:a16="http://schemas.microsoft.com/office/drawing/2014/main" id="{C259C4E0-D94A-6F34-DB3E-D0FCFAC5B9A4}"/>
                  </a:ext>
                </a:extLst>
              </p:cNvPr>
              <p:cNvGrpSpPr/>
              <p:nvPr/>
            </p:nvGrpSpPr>
            <p:grpSpPr>
              <a:xfrm>
                <a:off x="5236624" y="3042261"/>
                <a:ext cx="2743199" cy="2600553"/>
                <a:chOff x="4042742" y="3272200"/>
                <a:chExt cx="2743199" cy="2600553"/>
              </a:xfrm>
            </p:grpSpPr>
            <p:pic>
              <p:nvPicPr>
                <p:cNvPr id="1028" name="Picture 4">
                  <a:extLst>
                    <a:ext uri="{FF2B5EF4-FFF2-40B4-BE49-F238E27FC236}">
                      <a16:creationId xmlns:a16="http://schemas.microsoft.com/office/drawing/2014/main" id="{3EDEA577-2493-2180-950F-B3319325EE6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042742" y="3272200"/>
                  <a:ext cx="2743199" cy="2600553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0" name="Picture 6" descr="ATAK-CIV (Civil Use) - App su Google Play">
                  <a:extLst>
                    <a:ext uri="{FF2B5EF4-FFF2-40B4-BE49-F238E27FC236}">
                      <a16:creationId xmlns:a16="http://schemas.microsoft.com/office/drawing/2014/main" id="{4645517E-E982-CABF-5581-E767EC420C0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978178" y="5113523"/>
                  <a:ext cx="454102" cy="45410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</p:grpSp>
        <p:grpSp>
          <p:nvGrpSpPr>
            <p:cNvPr id="59" name="Gruppo 58">
              <a:extLst>
                <a:ext uri="{FF2B5EF4-FFF2-40B4-BE49-F238E27FC236}">
                  <a16:creationId xmlns:a16="http://schemas.microsoft.com/office/drawing/2014/main" id="{CB8A8DC1-CCA5-9DC2-2BA0-0F67A9AB5E2C}"/>
                </a:ext>
              </a:extLst>
            </p:cNvPr>
            <p:cNvGrpSpPr/>
            <p:nvPr/>
          </p:nvGrpSpPr>
          <p:grpSpPr>
            <a:xfrm>
              <a:off x="8426084" y="3568536"/>
              <a:ext cx="992078" cy="827863"/>
              <a:chOff x="7091437" y="3445687"/>
              <a:chExt cx="1399142" cy="1281509"/>
            </a:xfrm>
          </p:grpSpPr>
          <p:pic>
            <p:nvPicPr>
              <p:cNvPr id="24" name="Elemento grafico 23" descr="Singolo ingranaggio con riempimento a tinta unita">
                <a:extLst>
                  <a:ext uri="{FF2B5EF4-FFF2-40B4-BE49-F238E27FC236}">
                    <a16:creationId xmlns:a16="http://schemas.microsoft.com/office/drawing/2014/main" id="{C38304A5-D0B5-0F31-0690-5810202F1D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7337096" y="3629308"/>
                <a:ext cx="914400" cy="914400"/>
              </a:xfrm>
              <a:prstGeom prst="rect">
                <a:avLst/>
              </a:prstGeom>
            </p:spPr>
          </p:pic>
          <p:sp>
            <p:nvSpPr>
              <p:cNvPr id="57" name="Freccia circolare 56">
                <a:extLst>
                  <a:ext uri="{FF2B5EF4-FFF2-40B4-BE49-F238E27FC236}">
                    <a16:creationId xmlns:a16="http://schemas.microsoft.com/office/drawing/2014/main" id="{6AEABFE7-BA2D-CB54-138B-17AE3D7946D4}"/>
                  </a:ext>
                </a:extLst>
              </p:cNvPr>
              <p:cNvSpPr/>
              <p:nvPr/>
            </p:nvSpPr>
            <p:spPr>
              <a:xfrm rot="5400000">
                <a:off x="7113303" y="3423821"/>
                <a:ext cx="1266559" cy="1310291"/>
              </a:xfrm>
              <a:prstGeom prst="circularArrow">
                <a:avLst>
                  <a:gd name="adj1" fmla="val 6873"/>
                  <a:gd name="adj2" fmla="val 693966"/>
                  <a:gd name="adj3" fmla="val 20423026"/>
                  <a:gd name="adj4" fmla="val 11951935"/>
                  <a:gd name="adj5" fmla="val 10183"/>
                </a:avLst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8" name="Freccia circolare 57">
                <a:extLst>
                  <a:ext uri="{FF2B5EF4-FFF2-40B4-BE49-F238E27FC236}">
                    <a16:creationId xmlns:a16="http://schemas.microsoft.com/office/drawing/2014/main" id="{12C4339E-BC94-E5E6-357D-42FCD54EE05E}"/>
                  </a:ext>
                </a:extLst>
              </p:cNvPr>
              <p:cNvSpPr/>
              <p:nvPr/>
            </p:nvSpPr>
            <p:spPr>
              <a:xfrm rot="16200000">
                <a:off x="7202154" y="3438770"/>
                <a:ext cx="1266560" cy="1310291"/>
              </a:xfrm>
              <a:prstGeom prst="circularArrow">
                <a:avLst>
                  <a:gd name="adj1" fmla="val 6873"/>
                  <a:gd name="adj2" fmla="val 759050"/>
                  <a:gd name="adj3" fmla="val 20423026"/>
                  <a:gd name="adj4" fmla="val 11531006"/>
                  <a:gd name="adj5" fmla="val 10183"/>
                </a:avLst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60" name="Segnaposto contenuto 3">
            <a:extLst>
              <a:ext uri="{FF2B5EF4-FFF2-40B4-BE49-F238E27FC236}">
                <a16:creationId xmlns:a16="http://schemas.microsoft.com/office/drawing/2014/main" id="{39069C2A-975C-8AC6-9A8F-DC351967E7AE}"/>
              </a:ext>
            </a:extLst>
          </p:cNvPr>
          <p:cNvSpPr txBox="1">
            <a:spLocks/>
          </p:cNvSpPr>
          <p:nvPr/>
        </p:nvSpPr>
        <p:spPr>
          <a:xfrm>
            <a:off x="5677764" y="1329647"/>
            <a:ext cx="4910359" cy="266027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it-I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0" name="Gruppo 9">
            <a:extLst>
              <a:ext uri="{FF2B5EF4-FFF2-40B4-BE49-F238E27FC236}">
                <a16:creationId xmlns:a16="http://schemas.microsoft.com/office/drawing/2014/main" id="{C5A2EC4E-E443-AFEF-F1BA-EA5877064665}"/>
              </a:ext>
            </a:extLst>
          </p:cNvPr>
          <p:cNvGrpSpPr/>
          <p:nvPr/>
        </p:nvGrpSpPr>
        <p:grpSpPr>
          <a:xfrm>
            <a:off x="286989" y="3944376"/>
            <a:ext cx="4044902" cy="1558204"/>
            <a:chOff x="3988555" y="1820519"/>
            <a:chExt cx="4044902" cy="1558204"/>
          </a:xfrm>
        </p:grpSpPr>
        <p:pic>
          <p:nvPicPr>
            <p:cNvPr id="1032" name="Picture 4" descr="Maker Faire | Meshtastic">
              <a:extLst>
                <a:ext uri="{FF2B5EF4-FFF2-40B4-BE49-F238E27FC236}">
                  <a16:creationId xmlns:a16="http://schemas.microsoft.com/office/drawing/2014/main" id="{1150B3BC-2D4B-6FA0-4203-807F19ED72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88555" y="1911228"/>
              <a:ext cx="685505" cy="6086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40" name="Segnaposto contenuto 3">
              <a:extLst>
                <a:ext uri="{FF2B5EF4-FFF2-40B4-BE49-F238E27FC236}">
                  <a16:creationId xmlns:a16="http://schemas.microsoft.com/office/drawing/2014/main" id="{4AB6A906-5129-CAD5-DF0C-23E269B868DF}"/>
                </a:ext>
              </a:extLst>
            </p:cNvPr>
            <p:cNvSpPr txBox="1">
              <a:spLocks/>
            </p:cNvSpPr>
            <p:nvPr/>
          </p:nvSpPr>
          <p:spPr>
            <a:xfrm>
              <a:off x="4954690" y="1820519"/>
              <a:ext cx="3078767" cy="1558204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buNone/>
              </a:pPr>
              <a:r>
                <a:rPr lang="en-US" sz="18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Meshtastic firmware </a:t>
              </a:r>
            </a:p>
            <a:p>
              <a:pPr marL="0" indent="0">
                <a:lnSpc>
                  <a:spcPct val="100000"/>
                </a:lnSpc>
                <a:buNone/>
              </a:pPr>
              <a:r>
                <a:rPr lang="it-I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Firmware open-source per microcontrollori che implementa una rete mesh </a:t>
              </a:r>
              <a:r>
                <a:rPr lang="it-IT" sz="1800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LoRa</a:t>
              </a:r>
              <a:r>
                <a:rPr lang="it-I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a basso consumo.</a:t>
              </a:r>
            </a:p>
          </p:txBody>
        </p:sp>
      </p:grpSp>
      <p:grpSp>
        <p:nvGrpSpPr>
          <p:cNvPr id="21" name="Gruppo 20">
            <a:extLst>
              <a:ext uri="{FF2B5EF4-FFF2-40B4-BE49-F238E27FC236}">
                <a16:creationId xmlns:a16="http://schemas.microsoft.com/office/drawing/2014/main" id="{62F7C362-7906-CC38-3E20-B7875B107840}"/>
              </a:ext>
            </a:extLst>
          </p:cNvPr>
          <p:cNvGrpSpPr/>
          <p:nvPr/>
        </p:nvGrpSpPr>
        <p:grpSpPr>
          <a:xfrm>
            <a:off x="4557378" y="3293818"/>
            <a:ext cx="3513196" cy="1565856"/>
            <a:chOff x="4082966" y="4275448"/>
            <a:chExt cx="3328885" cy="1565856"/>
          </a:xfrm>
        </p:grpSpPr>
        <p:pic>
          <p:nvPicPr>
            <p:cNvPr id="1038" name="Picture 6" descr="ATAK-CIV (Civil Use) - App su Google Play">
              <a:extLst>
                <a:ext uri="{FF2B5EF4-FFF2-40B4-BE49-F238E27FC236}">
                  <a16:creationId xmlns:a16="http://schemas.microsoft.com/office/drawing/2014/main" id="{F860F59F-0B4B-D93D-35DE-2F06146BC5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82966" y="4275448"/>
              <a:ext cx="882765" cy="8827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48" name="Segnaposto contenuto 3">
              <a:extLst>
                <a:ext uri="{FF2B5EF4-FFF2-40B4-BE49-F238E27FC236}">
                  <a16:creationId xmlns:a16="http://schemas.microsoft.com/office/drawing/2014/main" id="{C71DA6C0-1960-F860-761B-0236E5647EA5}"/>
                </a:ext>
              </a:extLst>
            </p:cNvPr>
            <p:cNvSpPr txBox="1">
              <a:spLocks/>
            </p:cNvSpPr>
            <p:nvPr/>
          </p:nvSpPr>
          <p:spPr>
            <a:xfrm>
              <a:off x="4954721" y="4275448"/>
              <a:ext cx="2457130" cy="1565856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buNone/>
              </a:pPr>
              <a:r>
                <a:rPr lang="en-US" sz="18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ATAK-CIV</a:t>
              </a:r>
            </a:p>
            <a:p>
              <a:pPr marL="0" indent="0">
                <a:lnSpc>
                  <a:spcPct val="100000"/>
                </a:lnSpc>
                <a:buNone/>
              </a:pPr>
              <a:r>
                <a:rPr lang="it-I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Piattaforma open-source per </a:t>
              </a:r>
              <a:r>
                <a:rPr lang="it-IT" sz="1800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Situational</a:t>
              </a:r>
              <a:r>
                <a:rPr lang="it-I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it-IT" sz="1800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Awareness</a:t>
              </a:r>
              <a:r>
                <a:rPr lang="it-I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e costruzione di una Common </a:t>
              </a:r>
              <a:r>
                <a:rPr lang="it-IT" sz="1800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Operational</a:t>
              </a:r>
              <a:r>
                <a:rPr lang="it-I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Picture (COP) condivisa.</a:t>
              </a:r>
            </a:p>
          </p:txBody>
        </p:sp>
      </p:grpSp>
      <p:sp>
        <p:nvSpPr>
          <p:cNvPr id="1055" name="Segnaposto contenuto 3">
            <a:extLst>
              <a:ext uri="{FF2B5EF4-FFF2-40B4-BE49-F238E27FC236}">
                <a16:creationId xmlns:a16="http://schemas.microsoft.com/office/drawing/2014/main" id="{E736B215-4EEC-A6DE-91F9-6AA59D5DB85C}"/>
              </a:ext>
            </a:extLst>
          </p:cNvPr>
          <p:cNvSpPr txBox="1">
            <a:spLocks/>
          </p:cNvSpPr>
          <p:nvPr/>
        </p:nvSpPr>
        <p:spPr>
          <a:xfrm>
            <a:off x="8912165" y="4316266"/>
            <a:ext cx="3205112" cy="267649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it-I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Canale dati minimo, resiliente e persistente per </a:t>
            </a:r>
            <a:r>
              <a:rPr lang="it-IT" sz="1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Situational</a:t>
            </a:r>
            <a:r>
              <a:rPr lang="it-IT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1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Awareness</a:t>
            </a:r>
            <a:r>
              <a:rPr lang="it-I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 costruzione di una </a:t>
            </a:r>
            <a:r>
              <a:rPr lang="it-IT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Common </a:t>
            </a:r>
            <a:r>
              <a:rPr lang="it-IT" sz="1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</a:t>
            </a:r>
            <a:r>
              <a:rPr lang="it-IT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Picture in scenari off-</a:t>
            </a:r>
            <a:r>
              <a:rPr lang="it-I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grid</a:t>
            </a:r>
            <a:r>
              <a:rPr lang="it-I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 emergenziali</a:t>
            </a:r>
          </a:p>
        </p:txBody>
      </p:sp>
      <p:sp>
        <p:nvSpPr>
          <p:cNvPr id="11" name="Segnaposto contenuto 3">
            <a:extLst>
              <a:ext uri="{FF2B5EF4-FFF2-40B4-BE49-F238E27FC236}">
                <a16:creationId xmlns:a16="http://schemas.microsoft.com/office/drawing/2014/main" id="{1303B7ED-53F1-CAC0-0575-87B0E454A397}"/>
              </a:ext>
            </a:extLst>
          </p:cNvPr>
          <p:cNvSpPr txBox="1">
            <a:spLocks/>
          </p:cNvSpPr>
          <p:nvPr/>
        </p:nvSpPr>
        <p:spPr>
          <a:xfrm>
            <a:off x="5508677" y="5050690"/>
            <a:ext cx="3078767" cy="14163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ATAK Plugin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Plugin di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integrazione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Meshtastic  e ATAK-CIV</a:t>
            </a:r>
            <a:endParaRPr lang="it-I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3" name="Gruppo 12">
            <a:extLst>
              <a:ext uri="{FF2B5EF4-FFF2-40B4-BE49-F238E27FC236}">
                <a16:creationId xmlns:a16="http://schemas.microsoft.com/office/drawing/2014/main" id="{317E49D2-4E3E-F149-FF4B-91C7E6B992C2}"/>
              </a:ext>
            </a:extLst>
          </p:cNvPr>
          <p:cNvGrpSpPr/>
          <p:nvPr/>
        </p:nvGrpSpPr>
        <p:grpSpPr>
          <a:xfrm>
            <a:off x="4680656" y="1337480"/>
            <a:ext cx="3296232" cy="1860982"/>
            <a:chOff x="4120588" y="3036677"/>
            <a:chExt cx="4575739" cy="1860982"/>
          </a:xfrm>
        </p:grpSpPr>
        <p:sp>
          <p:nvSpPr>
            <p:cNvPr id="26" name="Segnaposto contenuto 3">
              <a:extLst>
                <a:ext uri="{FF2B5EF4-FFF2-40B4-BE49-F238E27FC236}">
                  <a16:creationId xmlns:a16="http://schemas.microsoft.com/office/drawing/2014/main" id="{459490C6-3E58-5A91-CCC9-2A61DF2C3638}"/>
                </a:ext>
              </a:extLst>
            </p:cNvPr>
            <p:cNvSpPr txBox="1">
              <a:spLocks/>
            </p:cNvSpPr>
            <p:nvPr/>
          </p:nvSpPr>
          <p:spPr>
            <a:xfrm>
              <a:off x="5110973" y="3036677"/>
              <a:ext cx="3585354" cy="1860982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buNone/>
              </a:pPr>
              <a:r>
                <a:rPr lang="it-IT" sz="1800" b="1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Meshtastic</a:t>
              </a:r>
              <a:r>
                <a:rPr lang="it-IT" sz="18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app</a:t>
              </a:r>
            </a:p>
            <a:p>
              <a:pPr marL="0" indent="0">
                <a:lnSpc>
                  <a:spcPct val="100000"/>
                </a:lnSpc>
                <a:buNone/>
              </a:pPr>
              <a:r>
                <a:rPr lang="it-I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Applicazione Android open-source per gestione, configurazione e monitoraggio della rete mesh </a:t>
              </a:r>
              <a:r>
                <a:rPr lang="it-IT" sz="1800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LoRa</a:t>
              </a:r>
              <a:r>
                <a:rPr lang="it-I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pic>
          <p:nvPicPr>
            <p:cNvPr id="12" name="Picture 4" descr="Maker Faire | Meshtastic">
              <a:extLst>
                <a:ext uri="{FF2B5EF4-FFF2-40B4-BE49-F238E27FC236}">
                  <a16:creationId xmlns:a16="http://schemas.microsoft.com/office/drawing/2014/main" id="{47AE53C6-A26A-26D4-0E72-FE2BF85C3B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20588" y="3177944"/>
              <a:ext cx="906475" cy="6086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25" name="Connettore a gomito 24">
            <a:extLst>
              <a:ext uri="{FF2B5EF4-FFF2-40B4-BE49-F238E27FC236}">
                <a16:creationId xmlns:a16="http://schemas.microsoft.com/office/drawing/2014/main" id="{B6364D15-3DF1-AEA9-F9F6-2EAFF7EC3BCB}"/>
              </a:ext>
            </a:extLst>
          </p:cNvPr>
          <p:cNvCxnSpPr>
            <a:cxnSpLocks/>
            <a:endCxn id="43" idx="4"/>
          </p:cNvCxnSpPr>
          <p:nvPr/>
        </p:nvCxnSpPr>
        <p:spPr>
          <a:xfrm flipV="1">
            <a:off x="4042257" y="2286020"/>
            <a:ext cx="980941" cy="573583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ttore a gomito 31">
            <a:extLst>
              <a:ext uri="{FF2B5EF4-FFF2-40B4-BE49-F238E27FC236}">
                <a16:creationId xmlns:a16="http://schemas.microsoft.com/office/drawing/2014/main" id="{E5A000D1-A6E1-5AB3-4D2E-0BC7F31F1E9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160259" y="3356340"/>
            <a:ext cx="1579198" cy="58572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e 40">
            <a:extLst>
              <a:ext uri="{FF2B5EF4-FFF2-40B4-BE49-F238E27FC236}">
                <a16:creationId xmlns:a16="http://schemas.microsoft.com/office/drawing/2014/main" id="{8DF8274B-55FF-ACAD-9362-55F9B81FE330}"/>
              </a:ext>
            </a:extLst>
          </p:cNvPr>
          <p:cNvSpPr/>
          <p:nvPr/>
        </p:nvSpPr>
        <p:spPr>
          <a:xfrm>
            <a:off x="3581400" y="4333769"/>
            <a:ext cx="166932" cy="11159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Ovale 41">
            <a:extLst>
              <a:ext uri="{FF2B5EF4-FFF2-40B4-BE49-F238E27FC236}">
                <a16:creationId xmlns:a16="http://schemas.microsoft.com/office/drawing/2014/main" id="{55BC0071-6759-0A0D-669A-57FB5CEC5D6D}"/>
              </a:ext>
            </a:extLst>
          </p:cNvPr>
          <p:cNvSpPr/>
          <p:nvPr/>
        </p:nvSpPr>
        <p:spPr>
          <a:xfrm>
            <a:off x="3981067" y="2808992"/>
            <a:ext cx="166932" cy="11159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Ovale 42">
            <a:extLst>
              <a:ext uri="{FF2B5EF4-FFF2-40B4-BE49-F238E27FC236}">
                <a16:creationId xmlns:a16="http://schemas.microsoft.com/office/drawing/2014/main" id="{DC9AD073-717B-7EEA-5639-0113E7748F02}"/>
              </a:ext>
            </a:extLst>
          </p:cNvPr>
          <p:cNvSpPr/>
          <p:nvPr/>
        </p:nvSpPr>
        <p:spPr>
          <a:xfrm>
            <a:off x="4939732" y="2174429"/>
            <a:ext cx="166932" cy="11159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Ovale 43">
            <a:extLst>
              <a:ext uri="{FF2B5EF4-FFF2-40B4-BE49-F238E27FC236}">
                <a16:creationId xmlns:a16="http://schemas.microsoft.com/office/drawing/2014/main" id="{80A631C2-633D-9557-CC9D-6F880CD8B2CF}"/>
              </a:ext>
            </a:extLst>
          </p:cNvPr>
          <p:cNvSpPr/>
          <p:nvPr/>
        </p:nvSpPr>
        <p:spPr>
          <a:xfrm>
            <a:off x="5235187" y="4295883"/>
            <a:ext cx="166932" cy="11159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Ovale 44">
            <a:extLst>
              <a:ext uri="{FF2B5EF4-FFF2-40B4-BE49-F238E27FC236}">
                <a16:creationId xmlns:a16="http://schemas.microsoft.com/office/drawing/2014/main" id="{EC2B7367-5F7B-9A52-08D6-4E5764E25871}"/>
              </a:ext>
            </a:extLst>
          </p:cNvPr>
          <p:cNvSpPr/>
          <p:nvPr/>
        </p:nvSpPr>
        <p:spPr>
          <a:xfrm>
            <a:off x="5363525" y="5468394"/>
            <a:ext cx="166932" cy="11159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8" name="Connettore a gomito 47">
            <a:extLst>
              <a:ext uri="{FF2B5EF4-FFF2-40B4-BE49-F238E27FC236}">
                <a16:creationId xmlns:a16="http://schemas.microsoft.com/office/drawing/2014/main" id="{597357A5-AA51-6641-120F-557BE1634E42}"/>
              </a:ext>
            </a:extLst>
          </p:cNvPr>
          <p:cNvCxnSpPr>
            <a:cxnSpLocks/>
          </p:cNvCxnSpPr>
          <p:nvPr/>
        </p:nvCxnSpPr>
        <p:spPr>
          <a:xfrm rot="10800000">
            <a:off x="4242248" y="3647836"/>
            <a:ext cx="1037154" cy="718930"/>
          </a:xfrm>
          <a:prstGeom prst="bentConnector3">
            <a:avLst>
              <a:gd name="adj1" fmla="val 75715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ttore a gomito 50">
            <a:extLst>
              <a:ext uri="{FF2B5EF4-FFF2-40B4-BE49-F238E27FC236}">
                <a16:creationId xmlns:a16="http://schemas.microsoft.com/office/drawing/2014/main" id="{3D200B15-F702-BA5B-FBC0-6B15BEB959EE}"/>
              </a:ext>
            </a:extLst>
          </p:cNvPr>
          <p:cNvCxnSpPr>
            <a:cxnSpLocks/>
            <a:stCxn id="45" idx="0"/>
          </p:cNvCxnSpPr>
          <p:nvPr/>
        </p:nvCxnSpPr>
        <p:spPr>
          <a:xfrm rot="16200000" flipV="1">
            <a:off x="3930796" y="3952199"/>
            <a:ext cx="1830251" cy="1202140"/>
          </a:xfrm>
          <a:prstGeom prst="bentConnector3">
            <a:avLst>
              <a:gd name="adj1" fmla="val 30016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3" name="Connettore a gomito 1032">
            <a:extLst>
              <a:ext uri="{FF2B5EF4-FFF2-40B4-BE49-F238E27FC236}">
                <a16:creationId xmlns:a16="http://schemas.microsoft.com/office/drawing/2014/main" id="{3597E512-840C-A84A-648E-457408A3FF87}"/>
              </a:ext>
            </a:extLst>
          </p:cNvPr>
          <p:cNvCxnSpPr>
            <a:cxnSpLocks/>
          </p:cNvCxnSpPr>
          <p:nvPr/>
        </p:nvCxnSpPr>
        <p:spPr>
          <a:xfrm>
            <a:off x="4242247" y="3293817"/>
            <a:ext cx="4915189" cy="31014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6" name="Ovale 1035">
            <a:extLst>
              <a:ext uri="{FF2B5EF4-FFF2-40B4-BE49-F238E27FC236}">
                <a16:creationId xmlns:a16="http://schemas.microsoft.com/office/drawing/2014/main" id="{2B29F7BA-7E6C-E40B-3874-595BC6EBC762}"/>
              </a:ext>
            </a:extLst>
          </p:cNvPr>
          <p:cNvSpPr/>
          <p:nvPr/>
        </p:nvSpPr>
        <p:spPr>
          <a:xfrm>
            <a:off x="9084876" y="3530507"/>
            <a:ext cx="166932" cy="11159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7686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CB751-9965-C9C8-5E85-E559E2E85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CasellaDiTesto 1141">
            <a:extLst>
              <a:ext uri="{FF2B5EF4-FFF2-40B4-BE49-F238E27FC236}">
                <a16:creationId xmlns:a16="http://schemas.microsoft.com/office/drawing/2014/main" id="{D82B27B8-7F2D-6041-020B-906757211A96}"/>
              </a:ext>
            </a:extLst>
          </p:cNvPr>
          <p:cNvSpPr txBox="1"/>
          <p:nvPr/>
        </p:nvSpPr>
        <p:spPr>
          <a:xfrm>
            <a:off x="4270292" y="5552965"/>
            <a:ext cx="54942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Canali logici cifrati </a:t>
            </a:r>
          </a:p>
          <a:p>
            <a:pPr>
              <a:buNone/>
            </a:pPr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Solo nodi autorizzati possono decifrare il traffico</a:t>
            </a:r>
          </a:p>
        </p:txBody>
      </p: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4B57A1ED-546A-7F6A-793C-0D40455EC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Anno accademico 2025/2026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1B27E25-45D1-F90D-15C0-477B2E813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457C4-41BA-4245-A517-1492C4EB6DD6}" type="slidenum">
              <a:rPr lang="it-IT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fld>
            <a:endParaRPr lang="it-I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ACCF8B1A-D642-DE6F-A06E-B20B1F9AE102}"/>
              </a:ext>
            </a:extLst>
          </p:cNvPr>
          <p:cNvSpPr txBox="1">
            <a:spLocks/>
          </p:cNvSpPr>
          <p:nvPr/>
        </p:nvSpPr>
        <p:spPr>
          <a:xfrm>
            <a:off x="479385" y="745807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Architettura del Sistema Integrato</a:t>
            </a:r>
          </a:p>
        </p:txBody>
      </p:sp>
      <p:sp>
        <p:nvSpPr>
          <p:cNvPr id="14" name="object 3">
            <a:extLst>
              <a:ext uri="{FF2B5EF4-FFF2-40B4-BE49-F238E27FC236}">
                <a16:creationId xmlns:a16="http://schemas.microsoft.com/office/drawing/2014/main" id="{2B9A5E5F-7836-4913-C287-3151523B3FE6}"/>
              </a:ext>
            </a:extLst>
          </p:cNvPr>
          <p:cNvSpPr/>
          <p:nvPr/>
        </p:nvSpPr>
        <p:spPr>
          <a:xfrm>
            <a:off x="592670" y="677862"/>
            <a:ext cx="1041400" cy="67945"/>
          </a:xfrm>
          <a:custGeom>
            <a:avLst/>
            <a:gdLst/>
            <a:ahLst/>
            <a:cxnLst/>
            <a:rect l="l" t="t" r="r" b="b"/>
            <a:pathLst>
              <a:path w="1041400" h="67945">
                <a:moveTo>
                  <a:pt x="1041400" y="0"/>
                </a:moveTo>
                <a:lnTo>
                  <a:pt x="0" y="0"/>
                </a:lnTo>
                <a:lnTo>
                  <a:pt x="0" y="67729"/>
                </a:lnTo>
                <a:lnTo>
                  <a:pt x="1041400" y="67729"/>
                </a:lnTo>
                <a:lnTo>
                  <a:pt x="1041400" y="0"/>
                </a:lnTo>
                <a:close/>
              </a:path>
            </a:pathLst>
          </a:custGeom>
          <a:solidFill>
            <a:srgbClr val="F0A024"/>
          </a:solidFill>
        </p:spPr>
        <p:txBody>
          <a:bodyPr wrap="square" lIns="0" tIns="0" rIns="0" bIns="0" rtlCol="0"/>
          <a:lstStyle/>
          <a:p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Segnaposto data 1">
            <a:extLst>
              <a:ext uri="{FF2B5EF4-FFF2-40B4-BE49-F238E27FC236}">
                <a16:creationId xmlns:a16="http://schemas.microsoft.com/office/drawing/2014/main" id="{12BB8EEF-779B-8929-E6BE-AEA135A34F0B}"/>
              </a:ext>
            </a:extLst>
          </p:cNvPr>
          <p:cNvSpPr txBox="1">
            <a:spLocks/>
          </p:cNvSpPr>
          <p:nvPr/>
        </p:nvSpPr>
        <p:spPr>
          <a:xfrm>
            <a:off x="838200" y="64579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Anno accademico 2025/2026</a:t>
            </a:r>
            <a:endParaRPr lang="it-I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Segnaposto numero diapositiva 3">
            <a:extLst>
              <a:ext uri="{FF2B5EF4-FFF2-40B4-BE49-F238E27FC236}">
                <a16:creationId xmlns:a16="http://schemas.microsoft.com/office/drawing/2014/main" id="{9D45D631-2D72-DD35-9812-AA856EB22FE7}"/>
              </a:ext>
            </a:extLst>
          </p:cNvPr>
          <p:cNvSpPr txBox="1">
            <a:spLocks/>
          </p:cNvSpPr>
          <p:nvPr/>
        </p:nvSpPr>
        <p:spPr>
          <a:xfrm>
            <a:off x="8610600" y="647827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DF457C4-41BA-4245-A517-1492C4EB6DD6}" type="slidenum">
              <a:rPr lang="it-IT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/>
              <a:t>5</a:t>
            </a:fld>
            <a:endParaRPr lang="it-I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5" name="AutoShape 8" descr="Generazione immagine completata">
            <a:extLst>
              <a:ext uri="{FF2B5EF4-FFF2-40B4-BE49-F238E27FC236}">
                <a16:creationId xmlns:a16="http://schemas.microsoft.com/office/drawing/2014/main" id="{3DDF6E55-96BC-C1FC-857C-5787A92C9D0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7" name="AutoShape 14" descr="Come calcolare il proprio profilo di rischio | IG Italia">
            <a:extLst>
              <a:ext uri="{FF2B5EF4-FFF2-40B4-BE49-F238E27FC236}">
                <a16:creationId xmlns:a16="http://schemas.microsoft.com/office/drawing/2014/main" id="{E0F5F5AF-F5CF-9C2D-7587-8F6EE199892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63B5915D-6F45-8426-539D-FFA8D22B6EFF}"/>
              </a:ext>
            </a:extLst>
          </p:cNvPr>
          <p:cNvSpPr/>
          <p:nvPr/>
        </p:nvSpPr>
        <p:spPr>
          <a:xfrm>
            <a:off x="0" y="6571000"/>
            <a:ext cx="12192000" cy="297048"/>
          </a:xfrm>
          <a:prstGeom prst="rect">
            <a:avLst/>
          </a:prstGeom>
          <a:solidFill>
            <a:srgbClr val="AB27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egnaposto data 1">
            <a:extLst>
              <a:ext uri="{FF2B5EF4-FFF2-40B4-BE49-F238E27FC236}">
                <a16:creationId xmlns:a16="http://schemas.microsoft.com/office/drawing/2014/main" id="{F3476C46-C07C-5189-3BEE-59CCCCC8610D}"/>
              </a:ext>
            </a:extLst>
          </p:cNvPr>
          <p:cNvSpPr txBox="1">
            <a:spLocks/>
          </p:cNvSpPr>
          <p:nvPr/>
        </p:nvSpPr>
        <p:spPr>
          <a:xfrm>
            <a:off x="838200" y="65532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Anno accademico 2025/2026</a:t>
            </a:r>
            <a:endParaRPr lang="it-I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egnaposto piè di pagina 2">
            <a:extLst>
              <a:ext uri="{FF2B5EF4-FFF2-40B4-BE49-F238E27FC236}">
                <a16:creationId xmlns:a16="http://schemas.microsoft.com/office/drawing/2014/main" id="{61706E3B-ADCF-C340-0429-417CC2DF3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7106" y="6552951"/>
            <a:ext cx="5447030" cy="365125"/>
          </a:xfrm>
        </p:spPr>
        <p:txBody>
          <a:bodyPr/>
          <a:lstStyle/>
          <a:p>
            <a:pPr algn="l"/>
            <a:r>
              <a:rPr lang="it-IT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Reti Mesh Decentralizzate </a:t>
            </a:r>
            <a:r>
              <a:rPr lang="it-IT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LoRa</a:t>
            </a:r>
            <a:r>
              <a:rPr lang="it-IT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per la </a:t>
            </a:r>
            <a:r>
              <a:rPr lang="it-IT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Situational</a:t>
            </a:r>
            <a:r>
              <a:rPr lang="it-IT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Awareness</a:t>
            </a:r>
            <a:r>
              <a:rPr lang="it-IT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Contesti Off-</a:t>
            </a:r>
            <a:r>
              <a:rPr lang="it-IT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Grid</a:t>
            </a:r>
            <a:endParaRPr lang="it-I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Segnaposto numero diapositiva 3">
            <a:extLst>
              <a:ext uri="{FF2B5EF4-FFF2-40B4-BE49-F238E27FC236}">
                <a16:creationId xmlns:a16="http://schemas.microsoft.com/office/drawing/2014/main" id="{9809CB42-580B-7D2C-1EB5-CC888EA98110}"/>
              </a:ext>
            </a:extLst>
          </p:cNvPr>
          <p:cNvSpPr txBox="1">
            <a:spLocks/>
          </p:cNvSpPr>
          <p:nvPr/>
        </p:nvSpPr>
        <p:spPr>
          <a:xfrm>
            <a:off x="8610600" y="65100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DF457C4-41BA-4245-A517-1492C4EB6DD6}" type="slidenum">
              <a:rPr lang="it-IT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/>
              <a:t>5</a:t>
            </a:fld>
            <a:endParaRPr lang="it-I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5" name="Immagine 14" descr="Immagine che contiene elettronica, Dispositivo elettronico, design&#10;&#10;Il contenuto generato dall'IA potrebbe non essere corretto.">
            <a:extLst>
              <a:ext uri="{FF2B5EF4-FFF2-40B4-BE49-F238E27FC236}">
                <a16:creationId xmlns:a16="http://schemas.microsoft.com/office/drawing/2014/main" id="{E19C4136-6416-C689-490A-BF078DEDB0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922" y="1773075"/>
            <a:ext cx="3251950" cy="1879845"/>
          </a:xfrm>
          <a:prstGeom prst="rect">
            <a:avLst/>
          </a:prstGeom>
        </p:spPr>
      </p:pic>
      <p:sp>
        <p:nvSpPr>
          <p:cNvPr id="1031" name="AutoShape 8" descr="Bluetooth Icon PNG, Vector, PSD, and Clipart With Transparent Background  for Free Download | Pngtree">
            <a:extLst>
              <a:ext uri="{FF2B5EF4-FFF2-40B4-BE49-F238E27FC236}">
                <a16:creationId xmlns:a16="http://schemas.microsoft.com/office/drawing/2014/main" id="{1C2DAE53-6B90-E4AE-43FC-2FF3B1DA685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064" name="Gruppo 1063">
            <a:extLst>
              <a:ext uri="{FF2B5EF4-FFF2-40B4-BE49-F238E27FC236}">
                <a16:creationId xmlns:a16="http://schemas.microsoft.com/office/drawing/2014/main" id="{32ACA092-EE84-8FE0-9860-9A7C2EA4AE61}"/>
              </a:ext>
            </a:extLst>
          </p:cNvPr>
          <p:cNvGrpSpPr/>
          <p:nvPr/>
        </p:nvGrpSpPr>
        <p:grpSpPr>
          <a:xfrm>
            <a:off x="1274577" y="4202612"/>
            <a:ext cx="1271472" cy="2324042"/>
            <a:chOff x="3105726" y="3937566"/>
            <a:chExt cx="1287000" cy="2463859"/>
          </a:xfrm>
        </p:grpSpPr>
        <p:pic>
          <p:nvPicPr>
            <p:cNvPr id="17" name="Immagine 16" descr="Immagine che contiene elettronica, Dispositivo elettronico&#10;&#10;Il contenuto generato dall'IA potrebbe non essere corretto.">
              <a:extLst>
                <a:ext uri="{FF2B5EF4-FFF2-40B4-BE49-F238E27FC236}">
                  <a16:creationId xmlns:a16="http://schemas.microsoft.com/office/drawing/2014/main" id="{7D777FD0-BD10-71CB-570B-38D4ECA549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59" r="41292" b="14280"/>
            <a:stretch>
              <a:fillRect/>
            </a:stretch>
          </p:blipFill>
          <p:spPr>
            <a:xfrm>
              <a:off x="3105726" y="3937566"/>
              <a:ext cx="1287000" cy="2463859"/>
            </a:xfrm>
            <a:prstGeom prst="rect">
              <a:avLst/>
            </a:prstGeom>
          </p:spPr>
        </p:pic>
        <p:pic>
          <p:nvPicPr>
            <p:cNvPr id="1038" name="Picture 14" descr="Icon Free Bluetooth PNG Transparent Background, Free Download #32002 -  FreeIconsPNG">
              <a:extLst>
                <a:ext uri="{FF2B5EF4-FFF2-40B4-BE49-F238E27FC236}">
                  <a16:creationId xmlns:a16="http://schemas.microsoft.com/office/drawing/2014/main" id="{1261B9FA-A5D1-41BA-5D46-545EDF97C1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05726" y="5408789"/>
              <a:ext cx="262082" cy="2620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0" name="Picture 16" descr="wifi symbol Icon by Freemiumicons on Dribbble">
              <a:extLst>
                <a:ext uri="{FF2B5EF4-FFF2-40B4-BE49-F238E27FC236}">
                  <a16:creationId xmlns:a16="http://schemas.microsoft.com/office/drawing/2014/main" id="{69BBE4E7-C357-B3AF-FCCE-01ED4C0FD2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3625" y="5402890"/>
              <a:ext cx="323533" cy="2679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68" name="CasellaDiTesto 1067">
            <a:extLst>
              <a:ext uri="{FF2B5EF4-FFF2-40B4-BE49-F238E27FC236}">
                <a16:creationId xmlns:a16="http://schemas.microsoft.com/office/drawing/2014/main" id="{8304DE44-2474-2382-A095-8F96D025D9E3}"/>
              </a:ext>
            </a:extLst>
          </p:cNvPr>
          <p:cNvSpPr txBox="1"/>
          <p:nvPr/>
        </p:nvSpPr>
        <p:spPr>
          <a:xfrm>
            <a:off x="5253728" y="1456780"/>
            <a:ext cx="3475299" cy="24593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  <a:lvl1pPr algn="ctr"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Rete Mesh di nodi </a:t>
            </a:r>
            <a:r>
              <a:rPr lang="it-IT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LoRa-Meshtastic</a:t>
            </a:r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 ATAK-CIV</a:t>
            </a:r>
          </a:p>
        </p:txBody>
      </p:sp>
      <p:pic>
        <p:nvPicPr>
          <p:cNvPr id="1077" name="Picture 24" descr="Android Apps by Meshtastic on Google Play">
            <a:extLst>
              <a:ext uri="{FF2B5EF4-FFF2-40B4-BE49-F238E27FC236}">
                <a16:creationId xmlns:a16="http://schemas.microsoft.com/office/drawing/2014/main" id="{69740169-275E-2B1C-D5E5-2A122BAD27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31687" y="6859360"/>
            <a:ext cx="63290" cy="63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03" name="Gruppo 1102">
            <a:extLst>
              <a:ext uri="{FF2B5EF4-FFF2-40B4-BE49-F238E27FC236}">
                <a16:creationId xmlns:a16="http://schemas.microsoft.com/office/drawing/2014/main" id="{1E5A3763-9014-4F27-D0CF-24398FACA97F}"/>
              </a:ext>
            </a:extLst>
          </p:cNvPr>
          <p:cNvGrpSpPr/>
          <p:nvPr/>
        </p:nvGrpSpPr>
        <p:grpSpPr>
          <a:xfrm>
            <a:off x="9947722" y="2634733"/>
            <a:ext cx="1751797" cy="3076437"/>
            <a:chOff x="9800152" y="2259304"/>
            <a:chExt cx="1751797" cy="3076437"/>
          </a:xfrm>
        </p:grpSpPr>
        <p:sp>
          <p:nvSpPr>
            <p:cNvPr id="1051" name="Rettangolo 1050">
              <a:extLst>
                <a:ext uri="{FF2B5EF4-FFF2-40B4-BE49-F238E27FC236}">
                  <a16:creationId xmlns:a16="http://schemas.microsoft.com/office/drawing/2014/main" id="{66790696-8693-1A82-211F-E645C17CD95A}"/>
                </a:ext>
              </a:extLst>
            </p:cNvPr>
            <p:cNvSpPr/>
            <p:nvPr/>
          </p:nvSpPr>
          <p:spPr>
            <a:xfrm>
              <a:off x="9800152" y="5038693"/>
              <a:ext cx="1751103" cy="297048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Fisico</a:t>
              </a:r>
            </a:p>
          </p:txBody>
        </p:sp>
        <p:sp>
          <p:nvSpPr>
            <p:cNvPr id="1052" name="Rettangolo 1051">
              <a:extLst>
                <a:ext uri="{FF2B5EF4-FFF2-40B4-BE49-F238E27FC236}">
                  <a16:creationId xmlns:a16="http://schemas.microsoft.com/office/drawing/2014/main" id="{03981C3B-5769-B82B-BB91-EEB3E8B7CEEF}"/>
                </a:ext>
              </a:extLst>
            </p:cNvPr>
            <p:cNvSpPr/>
            <p:nvPr/>
          </p:nvSpPr>
          <p:spPr>
            <a:xfrm>
              <a:off x="9800153" y="4155959"/>
              <a:ext cx="1751102" cy="316511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Rete</a:t>
              </a:r>
            </a:p>
          </p:txBody>
        </p:sp>
        <p:grpSp>
          <p:nvGrpSpPr>
            <p:cNvPr id="1082" name="Gruppo 1081">
              <a:extLst>
                <a:ext uri="{FF2B5EF4-FFF2-40B4-BE49-F238E27FC236}">
                  <a16:creationId xmlns:a16="http://schemas.microsoft.com/office/drawing/2014/main" id="{1360C3F8-81D0-1420-A345-06B5ECD0DDC3}"/>
                </a:ext>
              </a:extLst>
            </p:cNvPr>
            <p:cNvGrpSpPr/>
            <p:nvPr/>
          </p:nvGrpSpPr>
          <p:grpSpPr>
            <a:xfrm>
              <a:off x="9800845" y="2674077"/>
              <a:ext cx="1751104" cy="903463"/>
              <a:chOff x="9691057" y="4585367"/>
              <a:chExt cx="1751104" cy="899503"/>
            </a:xfrm>
          </p:grpSpPr>
          <p:sp>
            <p:nvSpPr>
              <p:cNvPr id="1065" name="Rettangolo 1064">
                <a:extLst>
                  <a:ext uri="{FF2B5EF4-FFF2-40B4-BE49-F238E27FC236}">
                    <a16:creationId xmlns:a16="http://schemas.microsoft.com/office/drawing/2014/main" id="{D0A468DB-4915-7A07-BE13-23248A7203C1}"/>
                  </a:ext>
                </a:extLst>
              </p:cNvPr>
              <p:cNvSpPr/>
              <p:nvPr/>
            </p:nvSpPr>
            <p:spPr>
              <a:xfrm>
                <a:off x="9691057" y="5066513"/>
                <a:ext cx="1751104" cy="418357"/>
              </a:xfrm>
              <a:prstGeom prst="rect">
                <a:avLst/>
              </a:prstGeom>
              <a:solidFill>
                <a:srgbClr val="AB273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1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Applicativo</a:t>
                </a:r>
              </a:p>
            </p:txBody>
          </p:sp>
          <p:pic>
            <p:nvPicPr>
              <p:cNvPr id="1076" name="Immagine 1075" descr="Immagine che contiene elettronica, Dispositivo elettronico&#10;&#10;Il contenuto generato dall'IA potrebbe non essere corretto.">
                <a:extLst>
                  <a:ext uri="{FF2B5EF4-FFF2-40B4-BE49-F238E27FC236}">
                    <a16:creationId xmlns:a16="http://schemas.microsoft.com/office/drawing/2014/main" id="{C69BCB47-1139-22EE-0822-D42AF80BB2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259" t="63437" r="41292" b="14280"/>
              <a:stretch>
                <a:fillRect/>
              </a:stretch>
            </p:blipFill>
            <p:spPr>
              <a:xfrm>
                <a:off x="9718532" y="4686656"/>
                <a:ext cx="536731" cy="302904"/>
              </a:xfrm>
              <a:prstGeom prst="rect">
                <a:avLst/>
              </a:prstGeom>
            </p:spPr>
          </p:pic>
          <p:pic>
            <p:nvPicPr>
              <p:cNvPr id="1078" name="Picture 6" descr="ATAK-CIV (Civil Use) - App su Google Play">
                <a:extLst>
                  <a:ext uri="{FF2B5EF4-FFF2-40B4-BE49-F238E27FC236}">
                    <a16:creationId xmlns:a16="http://schemas.microsoft.com/office/drawing/2014/main" id="{A7AC4449-10BB-239A-755E-E5FF6EDC478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55263" y="4605149"/>
                <a:ext cx="403460" cy="40346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79" name="Picture 8" descr="Electric Plugin Icon SVG Vector &amp; PNG Free Download | UXWing">
                <a:extLst>
                  <a:ext uri="{FF2B5EF4-FFF2-40B4-BE49-F238E27FC236}">
                    <a16:creationId xmlns:a16="http://schemas.microsoft.com/office/drawing/2014/main" id="{6E583B4E-9202-4938-EA09-D14B990D761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647903" y="4631430"/>
                <a:ext cx="336187" cy="3361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80" name="Picture 24" descr="Android Apps by Meshtastic on Google Play">
                <a:extLst>
                  <a:ext uri="{FF2B5EF4-FFF2-40B4-BE49-F238E27FC236}">
                    <a16:creationId xmlns:a16="http://schemas.microsoft.com/office/drawing/2014/main" id="{81EC2589-D2C0-E827-E3B8-FF2F5AE1DB0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010126" y="4616990"/>
                <a:ext cx="403460" cy="40346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81" name="Rettangolo 1080">
                <a:extLst>
                  <a:ext uri="{FF2B5EF4-FFF2-40B4-BE49-F238E27FC236}">
                    <a16:creationId xmlns:a16="http://schemas.microsoft.com/office/drawing/2014/main" id="{86821D18-70EA-A544-A345-8F2D1DE9235C}"/>
                  </a:ext>
                </a:extLst>
              </p:cNvPr>
              <p:cNvSpPr/>
              <p:nvPr/>
            </p:nvSpPr>
            <p:spPr>
              <a:xfrm>
                <a:off x="9691057" y="4585367"/>
                <a:ext cx="1751104" cy="479669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pic>
          <p:nvPicPr>
            <p:cNvPr id="1088" name="Picture 24" descr="Android Apps by Meshtastic on Google Play">
              <a:extLst>
                <a:ext uri="{FF2B5EF4-FFF2-40B4-BE49-F238E27FC236}">
                  <a16:creationId xmlns:a16="http://schemas.microsoft.com/office/drawing/2014/main" id="{65334A1C-6B93-92F8-ACA6-685FA52222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73897" y="3653543"/>
              <a:ext cx="403460" cy="4034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92" name="Rettangolo 1091">
              <a:extLst>
                <a:ext uri="{FF2B5EF4-FFF2-40B4-BE49-F238E27FC236}">
                  <a16:creationId xmlns:a16="http://schemas.microsoft.com/office/drawing/2014/main" id="{0EE970DE-2A1B-1BA3-352C-67D82AB0F5A4}"/>
                </a:ext>
              </a:extLst>
            </p:cNvPr>
            <p:cNvSpPr/>
            <p:nvPr/>
          </p:nvSpPr>
          <p:spPr>
            <a:xfrm>
              <a:off x="9800153" y="3579023"/>
              <a:ext cx="1751104" cy="57693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1097" name="Immagine 1096" descr="Immagine che contiene elettronica, Dispositivo elettronico&#10;&#10;Il contenuto generato dall'IA potrebbe non essere corretto.">
              <a:extLst>
                <a:ext uri="{FF2B5EF4-FFF2-40B4-BE49-F238E27FC236}">
                  <a16:creationId xmlns:a16="http://schemas.microsoft.com/office/drawing/2014/main" id="{0210914C-963F-1EDB-3525-4D42597461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597" t="1" r="48604" b="51643"/>
            <a:stretch>
              <a:fillRect/>
            </a:stretch>
          </p:blipFill>
          <p:spPr>
            <a:xfrm>
              <a:off x="10184501" y="3611576"/>
              <a:ext cx="333830" cy="519731"/>
            </a:xfrm>
            <a:prstGeom prst="rect">
              <a:avLst/>
            </a:prstGeom>
          </p:spPr>
        </p:pic>
        <p:sp>
          <p:nvSpPr>
            <p:cNvPr id="1098" name="Rettangolo 1097">
              <a:extLst>
                <a:ext uri="{FF2B5EF4-FFF2-40B4-BE49-F238E27FC236}">
                  <a16:creationId xmlns:a16="http://schemas.microsoft.com/office/drawing/2014/main" id="{C00838CD-A44A-8046-4708-0B1750C730E8}"/>
                </a:ext>
              </a:extLst>
            </p:cNvPr>
            <p:cNvSpPr/>
            <p:nvPr/>
          </p:nvSpPr>
          <p:spPr>
            <a:xfrm>
              <a:off x="9800153" y="4473953"/>
              <a:ext cx="1751104" cy="56607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1099" name="Immagine 1098" descr="Immagine che contiene elettronica, Dispositivo elettronico&#10;&#10;Il contenuto generato dall'IA potrebbe non essere corretto.">
              <a:extLst>
                <a:ext uri="{FF2B5EF4-FFF2-40B4-BE49-F238E27FC236}">
                  <a16:creationId xmlns:a16="http://schemas.microsoft.com/office/drawing/2014/main" id="{9C1CC261-EC8E-7F35-E91B-68272B857AE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597" t="1" r="48604" b="51643"/>
            <a:stretch>
              <a:fillRect/>
            </a:stretch>
          </p:blipFill>
          <p:spPr>
            <a:xfrm>
              <a:off x="10142258" y="4497124"/>
              <a:ext cx="333830" cy="519731"/>
            </a:xfrm>
            <a:prstGeom prst="rect">
              <a:avLst/>
            </a:prstGeom>
          </p:spPr>
        </p:pic>
        <p:pic>
          <p:nvPicPr>
            <p:cNvPr id="1100" name="Picture 2">
              <a:extLst>
                <a:ext uri="{FF2B5EF4-FFF2-40B4-BE49-F238E27FC236}">
                  <a16:creationId xmlns:a16="http://schemas.microsoft.com/office/drawing/2014/main" id="{D7D6E945-C09B-90D6-E5BC-1355410617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46025" y="4547677"/>
              <a:ext cx="659204" cy="4120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02" name="Rettangolo 1101">
              <a:extLst>
                <a:ext uri="{FF2B5EF4-FFF2-40B4-BE49-F238E27FC236}">
                  <a16:creationId xmlns:a16="http://schemas.microsoft.com/office/drawing/2014/main" id="{09C37DEF-0A7E-6918-055A-0F3156599066}"/>
                </a:ext>
              </a:extLst>
            </p:cNvPr>
            <p:cNvSpPr/>
            <p:nvPr/>
          </p:nvSpPr>
          <p:spPr>
            <a:xfrm>
              <a:off x="9800152" y="2259304"/>
              <a:ext cx="1751103" cy="297048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2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TCP-IP</a:t>
              </a:r>
            </a:p>
          </p:txBody>
        </p:sp>
      </p:grpSp>
      <p:sp>
        <p:nvSpPr>
          <p:cNvPr id="1108" name="CasellaDiTesto 1107">
            <a:extLst>
              <a:ext uri="{FF2B5EF4-FFF2-40B4-BE49-F238E27FC236}">
                <a16:creationId xmlns:a16="http://schemas.microsoft.com/office/drawing/2014/main" id="{D8C563FD-3491-DF86-768B-8F1997D15266}"/>
              </a:ext>
            </a:extLst>
          </p:cNvPr>
          <p:cNvSpPr txBox="1"/>
          <p:nvPr/>
        </p:nvSpPr>
        <p:spPr>
          <a:xfrm>
            <a:off x="1089761" y="1443930"/>
            <a:ext cx="2240078" cy="23930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  <a:lvl1pPr algn="ctr"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Nodo </a:t>
            </a:r>
            <a:r>
              <a:rPr lang="it-IT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LoRa-Meshtastic</a:t>
            </a:r>
            <a:endParaRPr lang="it-IT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11" name="CasellaDiTesto 1110">
            <a:extLst>
              <a:ext uri="{FF2B5EF4-FFF2-40B4-BE49-F238E27FC236}">
                <a16:creationId xmlns:a16="http://schemas.microsoft.com/office/drawing/2014/main" id="{4AFD8A36-FB29-EFFB-C973-D101B10D4CC8}"/>
              </a:ext>
            </a:extLst>
          </p:cNvPr>
          <p:cNvSpPr txBox="1"/>
          <p:nvPr/>
        </p:nvSpPr>
        <p:spPr>
          <a:xfrm>
            <a:off x="813068" y="3943985"/>
            <a:ext cx="2680160" cy="24669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  <a:lvl1pPr algn="ctr"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Nodo </a:t>
            </a:r>
            <a:r>
              <a:rPr lang="it-IT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LoRa-Meshtastic</a:t>
            </a:r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ATAK-CIV</a:t>
            </a:r>
          </a:p>
        </p:txBody>
      </p:sp>
      <p:grpSp>
        <p:nvGrpSpPr>
          <p:cNvPr id="1118" name="Gruppo 1117">
            <a:extLst>
              <a:ext uri="{FF2B5EF4-FFF2-40B4-BE49-F238E27FC236}">
                <a16:creationId xmlns:a16="http://schemas.microsoft.com/office/drawing/2014/main" id="{1ED21CCF-4307-FCBF-3B1D-BBBF7E04BA92}"/>
              </a:ext>
            </a:extLst>
          </p:cNvPr>
          <p:cNvGrpSpPr/>
          <p:nvPr/>
        </p:nvGrpSpPr>
        <p:grpSpPr>
          <a:xfrm>
            <a:off x="4433134" y="2024317"/>
            <a:ext cx="4764239" cy="3418966"/>
            <a:chOff x="4131178" y="2107842"/>
            <a:chExt cx="4764239" cy="3418966"/>
          </a:xfrm>
        </p:grpSpPr>
        <p:pic>
          <p:nvPicPr>
            <p:cNvPr id="12" name="Immagine 11" descr="Immagine che contiene linea, design&#10;&#10;Il contenuto generato dall'IA potrebbe non essere corretto.">
              <a:extLst>
                <a:ext uri="{FF2B5EF4-FFF2-40B4-BE49-F238E27FC236}">
                  <a16:creationId xmlns:a16="http://schemas.microsoft.com/office/drawing/2014/main" id="{7DB88E22-2C11-E17A-0AF9-2F376FD03A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80" t="1918" r="23525" b="5387"/>
            <a:stretch>
              <a:fillRect/>
            </a:stretch>
          </p:blipFill>
          <p:spPr>
            <a:xfrm>
              <a:off x="4503344" y="2347452"/>
              <a:ext cx="4372156" cy="3179356"/>
            </a:xfrm>
            <a:prstGeom prst="rect">
              <a:avLst/>
            </a:prstGeom>
          </p:spPr>
        </p:pic>
        <p:pic>
          <p:nvPicPr>
            <p:cNvPr id="1115" name="Immagine 1114" descr="Immagine che contiene schizzo, disegno, nero, Elementi grafici&#10;&#10;Il contenuto generato dall'IA potrebbe non essere corretto.">
              <a:extLst>
                <a:ext uri="{FF2B5EF4-FFF2-40B4-BE49-F238E27FC236}">
                  <a16:creationId xmlns:a16="http://schemas.microsoft.com/office/drawing/2014/main" id="{03F820F8-88B6-CACF-AF24-1A2497413FF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89422" y="2107842"/>
              <a:ext cx="1159970" cy="773313"/>
            </a:xfrm>
            <a:prstGeom prst="rect">
              <a:avLst/>
            </a:prstGeom>
          </p:spPr>
        </p:pic>
        <p:pic>
          <p:nvPicPr>
            <p:cNvPr id="1116" name="Immagine 1115" descr="Immagine che contiene schizzo, disegno, nero, Elementi grafici&#10;&#10;Il contenuto generato dall'IA potrebbe non essere corretto.">
              <a:extLst>
                <a:ext uri="{FF2B5EF4-FFF2-40B4-BE49-F238E27FC236}">
                  <a16:creationId xmlns:a16="http://schemas.microsoft.com/office/drawing/2014/main" id="{205545DF-9674-FCA8-6B97-7E94955E5C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31178" y="2937053"/>
              <a:ext cx="1159970" cy="773313"/>
            </a:xfrm>
            <a:prstGeom prst="rect">
              <a:avLst/>
            </a:prstGeom>
          </p:spPr>
        </p:pic>
        <p:pic>
          <p:nvPicPr>
            <p:cNvPr id="1114" name="Immagine 1113" descr="Immagine che contiene schizzo, disegno, nero, Elementi grafici&#10;&#10;Il contenuto generato dall'IA potrebbe non essere corretto.">
              <a:extLst>
                <a:ext uri="{FF2B5EF4-FFF2-40B4-BE49-F238E27FC236}">
                  <a16:creationId xmlns:a16="http://schemas.microsoft.com/office/drawing/2014/main" id="{01D199CC-AB5A-F52B-4FB2-4D803BD1E5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35447" y="3897328"/>
              <a:ext cx="1159970" cy="773313"/>
            </a:xfrm>
            <a:prstGeom prst="rect">
              <a:avLst/>
            </a:prstGeom>
          </p:spPr>
        </p:pic>
      </p:grpSp>
      <p:pic>
        <p:nvPicPr>
          <p:cNvPr id="1117" name="Immagine 1116" descr="Immagine che contiene schizzo, disegno, nero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957E90BB-59B8-6DD4-FE31-14BC1437EE1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7795" y="4327472"/>
            <a:ext cx="1159970" cy="773313"/>
          </a:xfrm>
          <a:prstGeom prst="rect">
            <a:avLst/>
          </a:prstGeom>
        </p:spPr>
      </p:pic>
      <p:sp>
        <p:nvSpPr>
          <p:cNvPr id="1143" name="CasellaDiTesto 1142">
            <a:extLst>
              <a:ext uri="{FF2B5EF4-FFF2-40B4-BE49-F238E27FC236}">
                <a16:creationId xmlns:a16="http://schemas.microsoft.com/office/drawing/2014/main" id="{ED0EB0DD-1904-A236-49F7-C527742240EE}"/>
              </a:ext>
            </a:extLst>
          </p:cNvPr>
          <p:cNvSpPr txBox="1"/>
          <p:nvPr/>
        </p:nvSpPr>
        <p:spPr>
          <a:xfrm rot="21201087">
            <a:off x="5343214" y="2247036"/>
            <a:ext cx="1393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Modulazione CSS</a:t>
            </a:r>
          </a:p>
        </p:txBody>
      </p:sp>
      <p:sp>
        <p:nvSpPr>
          <p:cNvPr id="1144" name="CasellaDiTesto 1143">
            <a:extLst>
              <a:ext uri="{FF2B5EF4-FFF2-40B4-BE49-F238E27FC236}">
                <a16:creationId xmlns:a16="http://schemas.microsoft.com/office/drawing/2014/main" id="{30BD387E-E99E-B78E-F5E0-C603333C7166}"/>
              </a:ext>
            </a:extLst>
          </p:cNvPr>
          <p:cNvSpPr txBox="1"/>
          <p:nvPr/>
        </p:nvSpPr>
        <p:spPr>
          <a:xfrm rot="21118953">
            <a:off x="6766682" y="3849336"/>
            <a:ext cx="1393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Modulazione CSS</a:t>
            </a:r>
          </a:p>
        </p:txBody>
      </p:sp>
    </p:spTree>
    <p:extLst>
      <p:ext uri="{BB962C8B-B14F-4D97-AF65-F5344CB8AC3E}">
        <p14:creationId xmlns:p14="http://schemas.microsoft.com/office/powerpoint/2010/main" val="2876934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9DEED-3318-7FF9-A593-CCF9EB751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49FA3D8C-6C40-0497-F99A-7330A1189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Anno accademico 2025/2026</a:t>
            </a:r>
            <a:endParaRPr lang="it-I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473A089-D94F-43C6-B786-D7D8475CF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457C4-41BA-4245-A517-1492C4EB6DD6}" type="slidenum">
              <a:rPr lang="it-IT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</a:t>
            </a:fld>
            <a:endParaRPr lang="it-I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D076AC02-8E7A-DA91-A144-174E8C4ECB6E}"/>
              </a:ext>
            </a:extLst>
          </p:cNvPr>
          <p:cNvSpPr txBox="1">
            <a:spLocks/>
          </p:cNvSpPr>
          <p:nvPr/>
        </p:nvSpPr>
        <p:spPr>
          <a:xfrm>
            <a:off x="479385" y="745807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Postura di sicurezza del sistema integrato</a:t>
            </a:r>
          </a:p>
        </p:txBody>
      </p:sp>
      <p:sp>
        <p:nvSpPr>
          <p:cNvPr id="14" name="object 3">
            <a:extLst>
              <a:ext uri="{FF2B5EF4-FFF2-40B4-BE49-F238E27FC236}">
                <a16:creationId xmlns:a16="http://schemas.microsoft.com/office/drawing/2014/main" id="{FA2E0A45-D3C2-D7C7-EBF5-270AC1247CDF}"/>
              </a:ext>
            </a:extLst>
          </p:cNvPr>
          <p:cNvSpPr/>
          <p:nvPr/>
        </p:nvSpPr>
        <p:spPr>
          <a:xfrm>
            <a:off x="592670" y="677862"/>
            <a:ext cx="1041400" cy="67945"/>
          </a:xfrm>
          <a:custGeom>
            <a:avLst/>
            <a:gdLst/>
            <a:ahLst/>
            <a:cxnLst/>
            <a:rect l="l" t="t" r="r" b="b"/>
            <a:pathLst>
              <a:path w="1041400" h="67945">
                <a:moveTo>
                  <a:pt x="1041400" y="0"/>
                </a:moveTo>
                <a:lnTo>
                  <a:pt x="0" y="0"/>
                </a:lnTo>
                <a:lnTo>
                  <a:pt x="0" y="67729"/>
                </a:lnTo>
                <a:lnTo>
                  <a:pt x="1041400" y="67729"/>
                </a:lnTo>
                <a:lnTo>
                  <a:pt x="1041400" y="0"/>
                </a:lnTo>
                <a:close/>
              </a:path>
            </a:pathLst>
          </a:custGeom>
          <a:solidFill>
            <a:srgbClr val="F0A024"/>
          </a:solidFill>
        </p:spPr>
        <p:txBody>
          <a:bodyPr wrap="square" lIns="0" tIns="0" rIns="0" bIns="0" rtlCol="0"/>
          <a:lstStyle/>
          <a:p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Segnaposto data 1">
            <a:extLst>
              <a:ext uri="{FF2B5EF4-FFF2-40B4-BE49-F238E27FC236}">
                <a16:creationId xmlns:a16="http://schemas.microsoft.com/office/drawing/2014/main" id="{2AD0EC7D-3903-8327-736B-98BDA7084596}"/>
              </a:ext>
            </a:extLst>
          </p:cNvPr>
          <p:cNvSpPr txBox="1">
            <a:spLocks/>
          </p:cNvSpPr>
          <p:nvPr/>
        </p:nvSpPr>
        <p:spPr>
          <a:xfrm>
            <a:off x="838200" y="64579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Anno accademico 2025/2026</a:t>
            </a:r>
            <a:endParaRPr lang="it-I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Segnaposto numero diapositiva 3">
            <a:extLst>
              <a:ext uri="{FF2B5EF4-FFF2-40B4-BE49-F238E27FC236}">
                <a16:creationId xmlns:a16="http://schemas.microsoft.com/office/drawing/2014/main" id="{471CC1A5-9964-6D43-A7EE-4C1E2679353E}"/>
              </a:ext>
            </a:extLst>
          </p:cNvPr>
          <p:cNvSpPr txBox="1">
            <a:spLocks/>
          </p:cNvSpPr>
          <p:nvPr/>
        </p:nvSpPr>
        <p:spPr>
          <a:xfrm>
            <a:off x="8610600" y="647827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DF457C4-41BA-4245-A517-1492C4EB6DD6}" type="slidenum">
              <a:rPr lang="it-IT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/>
              <a:t>6</a:t>
            </a:fld>
            <a:endParaRPr lang="it-I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BA7C5340-5229-71CC-5933-09CE5E860B29}"/>
              </a:ext>
            </a:extLst>
          </p:cNvPr>
          <p:cNvSpPr/>
          <p:nvPr/>
        </p:nvSpPr>
        <p:spPr>
          <a:xfrm>
            <a:off x="0" y="6571000"/>
            <a:ext cx="12192000" cy="297048"/>
          </a:xfrm>
          <a:prstGeom prst="rect">
            <a:avLst/>
          </a:prstGeom>
          <a:solidFill>
            <a:srgbClr val="AB27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egnaposto data 1">
            <a:extLst>
              <a:ext uri="{FF2B5EF4-FFF2-40B4-BE49-F238E27FC236}">
                <a16:creationId xmlns:a16="http://schemas.microsoft.com/office/drawing/2014/main" id="{C76AE6D5-C185-8D28-C5AE-51D2E7A56C7A}"/>
              </a:ext>
            </a:extLst>
          </p:cNvPr>
          <p:cNvSpPr txBox="1">
            <a:spLocks/>
          </p:cNvSpPr>
          <p:nvPr/>
        </p:nvSpPr>
        <p:spPr>
          <a:xfrm>
            <a:off x="838200" y="65532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Anno accademico 2025/2026</a:t>
            </a:r>
            <a:endParaRPr lang="it-I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egnaposto piè di pagina 2">
            <a:extLst>
              <a:ext uri="{FF2B5EF4-FFF2-40B4-BE49-F238E27FC236}">
                <a16:creationId xmlns:a16="http://schemas.microsoft.com/office/drawing/2014/main" id="{AFBEFE22-7CC1-BAB5-5469-9390253BC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7106" y="6552951"/>
            <a:ext cx="5447030" cy="365125"/>
          </a:xfrm>
        </p:spPr>
        <p:txBody>
          <a:bodyPr/>
          <a:lstStyle/>
          <a:p>
            <a:pPr algn="l"/>
            <a:r>
              <a:rPr lang="it-IT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Reti Mesh Decentralizzate </a:t>
            </a:r>
            <a:r>
              <a:rPr lang="it-IT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LoRa</a:t>
            </a:r>
            <a:r>
              <a:rPr lang="it-IT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per la </a:t>
            </a:r>
            <a:r>
              <a:rPr lang="it-IT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Situational</a:t>
            </a:r>
            <a:r>
              <a:rPr lang="it-IT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Awareness</a:t>
            </a:r>
            <a:r>
              <a:rPr lang="it-IT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Contesti Off-</a:t>
            </a:r>
            <a:r>
              <a:rPr lang="it-IT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Grid</a:t>
            </a:r>
            <a:endParaRPr lang="it-I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Segnaposto numero diapositiva 3">
            <a:extLst>
              <a:ext uri="{FF2B5EF4-FFF2-40B4-BE49-F238E27FC236}">
                <a16:creationId xmlns:a16="http://schemas.microsoft.com/office/drawing/2014/main" id="{6E77E118-00F1-77AB-FC3D-44F29EDFDDEF}"/>
              </a:ext>
            </a:extLst>
          </p:cNvPr>
          <p:cNvSpPr txBox="1">
            <a:spLocks/>
          </p:cNvSpPr>
          <p:nvPr/>
        </p:nvSpPr>
        <p:spPr>
          <a:xfrm>
            <a:off x="8610600" y="65100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DF457C4-41BA-4245-A517-1492C4EB6DD6}" type="slidenum">
              <a:rPr lang="it-IT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/>
              <a:t>6</a:t>
            </a:fld>
            <a:endParaRPr lang="it-I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98" name="Rettangolo 1097">
            <a:extLst>
              <a:ext uri="{FF2B5EF4-FFF2-40B4-BE49-F238E27FC236}">
                <a16:creationId xmlns:a16="http://schemas.microsoft.com/office/drawing/2014/main" id="{3B18C2C5-E14C-26EF-109C-15614275361E}"/>
              </a:ext>
            </a:extLst>
          </p:cNvPr>
          <p:cNvSpPr/>
          <p:nvPr/>
        </p:nvSpPr>
        <p:spPr>
          <a:xfrm>
            <a:off x="4001109" y="3071743"/>
            <a:ext cx="3802377" cy="46325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Rete</a:t>
            </a:r>
          </a:p>
        </p:txBody>
      </p:sp>
      <p:grpSp>
        <p:nvGrpSpPr>
          <p:cNvPr id="1099" name="Gruppo 1098">
            <a:extLst>
              <a:ext uri="{FF2B5EF4-FFF2-40B4-BE49-F238E27FC236}">
                <a16:creationId xmlns:a16="http://schemas.microsoft.com/office/drawing/2014/main" id="{330D33C6-FD8D-BEA8-FBCD-19683FEFDD5C}"/>
              </a:ext>
            </a:extLst>
          </p:cNvPr>
          <p:cNvGrpSpPr/>
          <p:nvPr/>
        </p:nvGrpSpPr>
        <p:grpSpPr>
          <a:xfrm>
            <a:off x="7902667" y="2054247"/>
            <a:ext cx="3802379" cy="1473998"/>
            <a:chOff x="9691057" y="4490467"/>
            <a:chExt cx="1751104" cy="1014712"/>
          </a:xfrm>
        </p:grpSpPr>
        <p:sp>
          <p:nvSpPr>
            <p:cNvPr id="1108" name="Rettangolo 1107">
              <a:extLst>
                <a:ext uri="{FF2B5EF4-FFF2-40B4-BE49-F238E27FC236}">
                  <a16:creationId xmlns:a16="http://schemas.microsoft.com/office/drawing/2014/main" id="{8DE70CDF-5469-7139-AF9C-5C8E78AC843A}"/>
                </a:ext>
              </a:extLst>
            </p:cNvPr>
            <p:cNvSpPr/>
            <p:nvPr/>
          </p:nvSpPr>
          <p:spPr>
            <a:xfrm>
              <a:off x="9691057" y="5190919"/>
              <a:ext cx="1751104" cy="314260"/>
            </a:xfrm>
            <a:prstGeom prst="rect">
              <a:avLst/>
            </a:prstGeom>
            <a:solidFill>
              <a:srgbClr val="AB273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Applicativo</a:t>
              </a:r>
            </a:p>
          </p:txBody>
        </p:sp>
        <p:pic>
          <p:nvPicPr>
            <p:cNvPr id="1109" name="Immagine 1108" descr="Immagine che contiene elettronica, Dispositivo elettronico&#10;&#10;Il contenuto generato dall'IA potrebbe non essere corretto.">
              <a:extLst>
                <a:ext uri="{FF2B5EF4-FFF2-40B4-BE49-F238E27FC236}">
                  <a16:creationId xmlns:a16="http://schemas.microsoft.com/office/drawing/2014/main" id="{4448B56E-EC25-FEB7-BFF7-4583A8E6F7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59" t="63437" r="41292" b="14280"/>
            <a:stretch>
              <a:fillRect/>
            </a:stretch>
          </p:blipFill>
          <p:spPr>
            <a:xfrm>
              <a:off x="9768118" y="4695593"/>
              <a:ext cx="403460" cy="280961"/>
            </a:xfrm>
            <a:prstGeom prst="rect">
              <a:avLst/>
            </a:prstGeom>
          </p:spPr>
        </p:pic>
        <p:pic>
          <p:nvPicPr>
            <p:cNvPr id="1110" name="Picture 6" descr="ATAK-CIV (Civil Use) - App su Google Play">
              <a:extLst>
                <a:ext uri="{FF2B5EF4-FFF2-40B4-BE49-F238E27FC236}">
                  <a16:creationId xmlns:a16="http://schemas.microsoft.com/office/drawing/2014/main" id="{21B2EE26-F54D-ED8E-68BF-A04404D061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55263" y="4605149"/>
              <a:ext cx="403460" cy="4034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11" name="Picture 8" descr="Electric Plugin Icon SVG Vector &amp; PNG Free Download | UXWing">
              <a:extLst>
                <a:ext uri="{FF2B5EF4-FFF2-40B4-BE49-F238E27FC236}">
                  <a16:creationId xmlns:a16="http://schemas.microsoft.com/office/drawing/2014/main" id="{746F1E7D-B51D-E313-A2E3-6007F1B8DC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47903" y="4631430"/>
              <a:ext cx="336187" cy="3361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12" name="Picture 24" descr="Android Apps by Meshtastic on Google Play">
              <a:extLst>
                <a:ext uri="{FF2B5EF4-FFF2-40B4-BE49-F238E27FC236}">
                  <a16:creationId xmlns:a16="http://schemas.microsoft.com/office/drawing/2014/main" id="{BC537660-5C16-5400-75C4-A1002933AE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10126" y="4616990"/>
              <a:ext cx="403460" cy="4034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13" name="Rettangolo 1112">
              <a:extLst>
                <a:ext uri="{FF2B5EF4-FFF2-40B4-BE49-F238E27FC236}">
                  <a16:creationId xmlns:a16="http://schemas.microsoft.com/office/drawing/2014/main" id="{B4A88EF7-75A1-B3A3-11D2-2378CC6566F6}"/>
                </a:ext>
              </a:extLst>
            </p:cNvPr>
            <p:cNvSpPr/>
            <p:nvPr/>
          </p:nvSpPr>
          <p:spPr>
            <a:xfrm>
              <a:off x="9691057" y="4490467"/>
              <a:ext cx="1751104" cy="69411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1100" name="Picture 24" descr="Android Apps by Meshtastic on Google Play">
            <a:extLst>
              <a:ext uri="{FF2B5EF4-FFF2-40B4-BE49-F238E27FC236}">
                <a16:creationId xmlns:a16="http://schemas.microsoft.com/office/drawing/2014/main" id="{41AE40DB-A3CE-A9B7-97D1-FBCAD254C7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0507" y="2239322"/>
            <a:ext cx="876080" cy="583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01" name="Rettangolo 1100">
            <a:extLst>
              <a:ext uri="{FF2B5EF4-FFF2-40B4-BE49-F238E27FC236}">
                <a16:creationId xmlns:a16="http://schemas.microsoft.com/office/drawing/2014/main" id="{6D8ABA5A-548B-749F-982A-91F76AA852CA}"/>
              </a:ext>
            </a:extLst>
          </p:cNvPr>
          <p:cNvSpPr/>
          <p:nvPr/>
        </p:nvSpPr>
        <p:spPr>
          <a:xfrm>
            <a:off x="4007503" y="2043263"/>
            <a:ext cx="3802379" cy="102847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2" name="Gruppo 11">
            <a:extLst>
              <a:ext uri="{FF2B5EF4-FFF2-40B4-BE49-F238E27FC236}">
                <a16:creationId xmlns:a16="http://schemas.microsoft.com/office/drawing/2014/main" id="{05011D34-5358-747A-88A7-36E1DC6318B7}"/>
              </a:ext>
            </a:extLst>
          </p:cNvPr>
          <p:cNvGrpSpPr/>
          <p:nvPr/>
        </p:nvGrpSpPr>
        <p:grpSpPr>
          <a:xfrm>
            <a:off x="76644" y="2054237"/>
            <a:ext cx="3833454" cy="1469272"/>
            <a:chOff x="477424" y="1974014"/>
            <a:chExt cx="3802379" cy="1469272"/>
          </a:xfrm>
        </p:grpSpPr>
        <p:sp>
          <p:nvSpPr>
            <p:cNvPr id="1097" name="Rettangolo 1096">
              <a:extLst>
                <a:ext uri="{FF2B5EF4-FFF2-40B4-BE49-F238E27FC236}">
                  <a16:creationId xmlns:a16="http://schemas.microsoft.com/office/drawing/2014/main" id="{F6374A10-08E8-CEDF-8A9B-81A081487EE0}"/>
                </a:ext>
              </a:extLst>
            </p:cNvPr>
            <p:cNvSpPr/>
            <p:nvPr/>
          </p:nvSpPr>
          <p:spPr>
            <a:xfrm>
              <a:off x="477426" y="2981512"/>
              <a:ext cx="3802377" cy="461774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Fisico</a:t>
              </a:r>
            </a:p>
          </p:txBody>
        </p:sp>
        <p:sp>
          <p:nvSpPr>
            <p:cNvPr id="1103" name="Rettangolo 1102">
              <a:extLst>
                <a:ext uri="{FF2B5EF4-FFF2-40B4-BE49-F238E27FC236}">
                  <a16:creationId xmlns:a16="http://schemas.microsoft.com/office/drawing/2014/main" id="{8EB14F86-9EDE-9DB3-5458-89A0BA698C10}"/>
                </a:ext>
              </a:extLst>
            </p:cNvPr>
            <p:cNvSpPr/>
            <p:nvPr/>
          </p:nvSpPr>
          <p:spPr>
            <a:xfrm>
              <a:off x="477424" y="1974014"/>
              <a:ext cx="3802379" cy="100829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1104" name="Immagine 1103" descr="Immagine che contiene elettronica, Dispositivo elettronico&#10;&#10;Il contenuto generato dall'IA potrebbe non essere corretto.">
              <a:extLst>
                <a:ext uri="{FF2B5EF4-FFF2-40B4-BE49-F238E27FC236}">
                  <a16:creationId xmlns:a16="http://schemas.microsoft.com/office/drawing/2014/main" id="{2F765700-F225-29A4-A248-C1530CB5D9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597" t="1" r="48604" b="51643"/>
            <a:stretch>
              <a:fillRect/>
            </a:stretch>
          </p:blipFill>
          <p:spPr>
            <a:xfrm>
              <a:off x="1363857" y="2000729"/>
              <a:ext cx="449713" cy="829476"/>
            </a:xfrm>
            <a:prstGeom prst="rect">
              <a:avLst/>
            </a:prstGeom>
          </p:spPr>
        </p:pic>
        <p:pic>
          <p:nvPicPr>
            <p:cNvPr id="1105" name="Picture 2">
              <a:extLst>
                <a:ext uri="{FF2B5EF4-FFF2-40B4-BE49-F238E27FC236}">
                  <a16:creationId xmlns:a16="http://schemas.microsoft.com/office/drawing/2014/main" id="{E430F571-A903-D8B2-3A53-6BF08A1753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67018" y="2151969"/>
              <a:ext cx="1365800" cy="5685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11" name="Tabella 10">
            <a:extLst>
              <a:ext uri="{FF2B5EF4-FFF2-40B4-BE49-F238E27FC236}">
                <a16:creationId xmlns:a16="http://schemas.microsoft.com/office/drawing/2014/main" id="{B013BEF6-C1BF-754B-E5F0-44D9D38CC2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6133"/>
              </p:ext>
            </p:extLst>
          </p:nvPr>
        </p:nvGraphicFramePr>
        <p:xfrm>
          <a:off x="7902667" y="3534997"/>
          <a:ext cx="3793144" cy="184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5564">
                  <a:extLst>
                    <a:ext uri="{9D8B030D-6E8A-4147-A177-3AD203B41FA5}">
                      <a16:colId xmlns:a16="http://schemas.microsoft.com/office/drawing/2014/main" val="2191824884"/>
                    </a:ext>
                  </a:extLst>
                </a:gridCol>
                <a:gridCol w="557580">
                  <a:extLst>
                    <a:ext uri="{9D8B030D-6E8A-4147-A177-3AD203B41FA5}">
                      <a16:colId xmlns:a16="http://schemas.microsoft.com/office/drawing/2014/main" val="21403670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Cifratura </a:t>
                      </a:r>
                      <a:r>
                        <a:rPr kumimoji="0" lang="it-IT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at-rest</a:t>
                      </a:r>
                      <a:endParaRPr kumimoji="0" lang="it-IT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it-IT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877546"/>
                  </a:ext>
                </a:extLst>
              </a:tr>
              <a:tr h="2779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Chiavi </a:t>
                      </a:r>
                      <a:r>
                        <a:rPr kumimoji="0" lang="it-IT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pre</a:t>
                      </a: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-condivise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it-IT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128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Integrità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it-IT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125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Autenticazione</a:t>
                      </a:r>
                      <a:endParaRPr lang="it-IT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it-IT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2046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Gestione identità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it-IT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3169271"/>
                  </a:ext>
                </a:extLst>
              </a:tr>
            </a:tbl>
          </a:graphicData>
        </a:graphic>
      </p:graphicFrame>
      <p:graphicFrame>
        <p:nvGraphicFramePr>
          <p:cNvPr id="23" name="Tabella 22">
            <a:extLst>
              <a:ext uri="{FF2B5EF4-FFF2-40B4-BE49-F238E27FC236}">
                <a16:creationId xmlns:a16="http://schemas.microsoft.com/office/drawing/2014/main" id="{E76C784F-3086-A626-EB94-8D5BF65F03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0540793"/>
              </p:ext>
            </p:extLst>
          </p:nvPr>
        </p:nvGraphicFramePr>
        <p:xfrm>
          <a:off x="4012119" y="3542746"/>
          <a:ext cx="3793144" cy="184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5564">
                  <a:extLst>
                    <a:ext uri="{9D8B030D-6E8A-4147-A177-3AD203B41FA5}">
                      <a16:colId xmlns:a16="http://schemas.microsoft.com/office/drawing/2014/main" val="2191824884"/>
                    </a:ext>
                  </a:extLst>
                </a:gridCol>
                <a:gridCol w="557580">
                  <a:extLst>
                    <a:ext uri="{9D8B030D-6E8A-4147-A177-3AD203B41FA5}">
                      <a16:colId xmlns:a16="http://schemas.microsoft.com/office/drawing/2014/main" val="21403670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Confidenzialità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it-IT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877546"/>
                  </a:ext>
                </a:extLst>
              </a:tr>
              <a:tr h="2779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Chiavi </a:t>
                      </a:r>
                      <a:r>
                        <a:rPr kumimoji="0" lang="it-IT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pre</a:t>
                      </a: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-condivise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it-IT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128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Integrità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it-IT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125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Autenticazione nodi</a:t>
                      </a:r>
                      <a:endParaRPr lang="it-IT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it-IT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2046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Gestione chiavi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it-IT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3169271"/>
                  </a:ext>
                </a:extLst>
              </a:tr>
            </a:tbl>
          </a:graphicData>
        </a:graphic>
      </p:graphicFrame>
      <p:graphicFrame>
        <p:nvGraphicFramePr>
          <p:cNvPr id="24" name="Tabella 23">
            <a:extLst>
              <a:ext uri="{FF2B5EF4-FFF2-40B4-BE49-F238E27FC236}">
                <a16:creationId xmlns:a16="http://schemas.microsoft.com/office/drawing/2014/main" id="{B597324D-522C-6967-EA7C-D2A7198600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3314385"/>
              </p:ext>
            </p:extLst>
          </p:nvPr>
        </p:nvGraphicFramePr>
        <p:xfrm>
          <a:off x="76643" y="3523242"/>
          <a:ext cx="3833455" cy="110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9949">
                  <a:extLst>
                    <a:ext uri="{9D8B030D-6E8A-4147-A177-3AD203B41FA5}">
                      <a16:colId xmlns:a16="http://schemas.microsoft.com/office/drawing/2014/main" val="2191824884"/>
                    </a:ext>
                  </a:extLst>
                </a:gridCol>
                <a:gridCol w="563506">
                  <a:extLst>
                    <a:ext uri="{9D8B030D-6E8A-4147-A177-3AD203B41FA5}">
                      <a16:colId xmlns:a16="http://schemas.microsoft.com/office/drawing/2014/main" val="21403670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Resistenza al rumore (CSS)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it-IT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877546"/>
                  </a:ext>
                </a:extLst>
              </a:tr>
              <a:tr h="277963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Cifratura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it-IT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128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Autenticazione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it-IT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125987"/>
                  </a:ext>
                </a:extLst>
              </a:tr>
            </a:tbl>
          </a:graphicData>
        </a:graphic>
      </p:graphicFrame>
      <p:pic>
        <p:nvPicPr>
          <p:cNvPr id="25" name="Elemento grafico 24" descr="Segno di spunta con riempimento a tinta unita">
            <a:extLst>
              <a:ext uri="{FF2B5EF4-FFF2-40B4-BE49-F238E27FC236}">
                <a16:creationId xmlns:a16="http://schemas.microsoft.com/office/drawing/2014/main" id="{26880923-CAB4-DC25-32F0-370EC49D598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204957" y="3582287"/>
            <a:ext cx="321215" cy="321215"/>
          </a:xfrm>
          <a:prstGeom prst="rect">
            <a:avLst/>
          </a:prstGeom>
        </p:spPr>
      </p:pic>
      <p:pic>
        <p:nvPicPr>
          <p:cNvPr id="26" name="Picture 8" descr="Simbolo giallo di pericolo o pericolo Avviso di pericolo ...">
            <a:extLst>
              <a:ext uri="{FF2B5EF4-FFF2-40B4-BE49-F238E27FC236}">
                <a16:creationId xmlns:a16="http://schemas.microsoft.com/office/drawing/2014/main" id="{EE4EEA26-DCC4-D4A0-744B-DAB755C606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4957" y="3910254"/>
            <a:ext cx="341291" cy="321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Elemento grafico 26" descr="Chiudi con riempimento a tinta unita">
            <a:extLst>
              <a:ext uri="{FF2B5EF4-FFF2-40B4-BE49-F238E27FC236}">
                <a16:creationId xmlns:a16="http://schemas.microsoft.com/office/drawing/2014/main" id="{7B8BCF2E-7969-E206-B195-ED125D849D3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221740" y="4323892"/>
            <a:ext cx="287648" cy="287648"/>
          </a:xfrm>
          <a:prstGeom prst="rect">
            <a:avLst/>
          </a:prstGeom>
        </p:spPr>
      </p:pic>
      <p:pic>
        <p:nvPicPr>
          <p:cNvPr id="28" name="Elemento grafico 27" descr="Chiudi con riempimento a tinta unita">
            <a:extLst>
              <a:ext uri="{FF2B5EF4-FFF2-40B4-BE49-F238E27FC236}">
                <a16:creationId xmlns:a16="http://schemas.microsoft.com/office/drawing/2014/main" id="{21D10D2E-8BB7-7A8A-8699-E691A3020F9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214673" y="4694118"/>
            <a:ext cx="287648" cy="287648"/>
          </a:xfrm>
          <a:prstGeom prst="rect">
            <a:avLst/>
          </a:prstGeom>
        </p:spPr>
      </p:pic>
      <p:pic>
        <p:nvPicPr>
          <p:cNvPr id="31" name="Elemento grafico 30" descr="Chiudi con riempimento a tinta unita">
            <a:extLst>
              <a:ext uri="{FF2B5EF4-FFF2-40B4-BE49-F238E27FC236}">
                <a16:creationId xmlns:a16="http://schemas.microsoft.com/office/drawing/2014/main" id="{DAED9971-613C-6442-29D5-55415F6E1FE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238524" y="5052592"/>
            <a:ext cx="287648" cy="287648"/>
          </a:xfrm>
          <a:prstGeom prst="rect">
            <a:avLst/>
          </a:prstGeom>
        </p:spPr>
      </p:pic>
      <p:pic>
        <p:nvPicPr>
          <p:cNvPr id="2050" name="Picture 8" descr="Simbolo giallo di pericolo o pericolo Avviso di pericolo ...">
            <a:extLst>
              <a:ext uri="{FF2B5EF4-FFF2-40B4-BE49-F238E27FC236}">
                <a16:creationId xmlns:a16="http://schemas.microsoft.com/office/drawing/2014/main" id="{AC5E8F2C-7780-3074-0528-2907A810B4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2029" y="5046358"/>
            <a:ext cx="341291" cy="321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Elemento grafico 2051" descr="Chiudi con riempimento a tinta unita">
            <a:extLst>
              <a:ext uri="{FF2B5EF4-FFF2-40B4-BE49-F238E27FC236}">
                <a16:creationId xmlns:a16="http://schemas.microsoft.com/office/drawing/2014/main" id="{4DA1A05E-5FD9-BCB6-7A71-C22F38DC3E7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368850" y="4694118"/>
            <a:ext cx="287648" cy="287648"/>
          </a:xfrm>
          <a:prstGeom prst="rect">
            <a:avLst/>
          </a:prstGeom>
        </p:spPr>
      </p:pic>
      <p:pic>
        <p:nvPicPr>
          <p:cNvPr id="2054" name="Elemento grafico 2053" descr="Chiudi con riempimento a tinta unita">
            <a:extLst>
              <a:ext uri="{FF2B5EF4-FFF2-40B4-BE49-F238E27FC236}">
                <a16:creationId xmlns:a16="http://schemas.microsoft.com/office/drawing/2014/main" id="{5502F504-90BB-9949-D6C7-1DDD2E2980C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368850" y="4308170"/>
            <a:ext cx="287648" cy="287648"/>
          </a:xfrm>
          <a:prstGeom prst="rect">
            <a:avLst/>
          </a:prstGeom>
        </p:spPr>
      </p:pic>
      <p:pic>
        <p:nvPicPr>
          <p:cNvPr id="2055" name="Picture 8" descr="Simbolo giallo di pericolo o pericolo Avviso di pericolo ...">
            <a:extLst>
              <a:ext uri="{FF2B5EF4-FFF2-40B4-BE49-F238E27FC236}">
                <a16:creationId xmlns:a16="http://schemas.microsoft.com/office/drawing/2014/main" id="{EAD97F59-4792-4823-C1A2-5E8009CC52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2028" y="3916129"/>
            <a:ext cx="341291" cy="321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9" name="Elemento grafico 2058" descr="Segno di spunta con riempimento a tinta unita">
            <a:extLst>
              <a:ext uri="{FF2B5EF4-FFF2-40B4-BE49-F238E27FC236}">
                <a16:creationId xmlns:a16="http://schemas.microsoft.com/office/drawing/2014/main" id="{647E0A31-4930-D55B-3C48-DE589A08921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45617" y="3545764"/>
            <a:ext cx="321215" cy="321215"/>
          </a:xfrm>
          <a:prstGeom prst="rect">
            <a:avLst/>
          </a:prstGeom>
        </p:spPr>
      </p:pic>
      <p:pic>
        <p:nvPicPr>
          <p:cNvPr id="2075" name="Immagine 2074" descr="Immagine che contiene elettronica, Dispositivo elettronico&#10;&#10;Il contenuto generato dall'IA potrebbe non essere corretto.">
            <a:extLst>
              <a:ext uri="{FF2B5EF4-FFF2-40B4-BE49-F238E27FC236}">
                <a16:creationId xmlns:a16="http://schemas.microsoft.com/office/drawing/2014/main" id="{061BDC8B-1A69-5659-5D67-9012D28ECB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97" t="1" r="48604" b="51643"/>
          <a:stretch>
            <a:fillRect/>
          </a:stretch>
        </p:blipFill>
        <p:spPr>
          <a:xfrm>
            <a:off x="4861793" y="2098451"/>
            <a:ext cx="453388" cy="829476"/>
          </a:xfrm>
          <a:prstGeom prst="rect">
            <a:avLst/>
          </a:prstGeom>
        </p:spPr>
      </p:pic>
      <p:pic>
        <p:nvPicPr>
          <p:cNvPr id="2076" name="Elemento grafico 2075" descr="Segno di spunta con riempimento a tinta unita">
            <a:extLst>
              <a:ext uri="{FF2B5EF4-FFF2-40B4-BE49-F238E27FC236}">
                <a16:creationId xmlns:a16="http://schemas.microsoft.com/office/drawing/2014/main" id="{04133D57-9CFE-8657-2862-8D463682D50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20792" y="3555692"/>
            <a:ext cx="321215" cy="321215"/>
          </a:xfrm>
          <a:prstGeom prst="rect">
            <a:avLst/>
          </a:prstGeom>
        </p:spPr>
      </p:pic>
      <p:pic>
        <p:nvPicPr>
          <p:cNvPr id="2077" name="Elemento grafico 2076" descr="Chiudi con riempimento a tinta unita">
            <a:extLst>
              <a:ext uri="{FF2B5EF4-FFF2-40B4-BE49-F238E27FC236}">
                <a16:creationId xmlns:a16="http://schemas.microsoft.com/office/drawing/2014/main" id="{4A935674-989E-D7B5-0B42-BA238AF5993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437575" y="3930731"/>
            <a:ext cx="287648" cy="287648"/>
          </a:xfrm>
          <a:prstGeom prst="rect">
            <a:avLst/>
          </a:prstGeom>
        </p:spPr>
      </p:pic>
      <p:pic>
        <p:nvPicPr>
          <p:cNvPr id="2078" name="Elemento grafico 2077" descr="Chiudi con riempimento a tinta unita">
            <a:extLst>
              <a:ext uri="{FF2B5EF4-FFF2-40B4-BE49-F238E27FC236}">
                <a16:creationId xmlns:a16="http://schemas.microsoft.com/office/drawing/2014/main" id="{D0F4B707-3C31-3484-D539-BC620303A05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454359" y="4299364"/>
            <a:ext cx="287648" cy="287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780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C7BC2-B981-22CE-F2B7-8D6F16A8C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8" name="Picture 8">
            <a:extLst>
              <a:ext uri="{FF2B5EF4-FFF2-40B4-BE49-F238E27FC236}">
                <a16:creationId xmlns:a16="http://schemas.microsoft.com/office/drawing/2014/main" id="{C4E72819-2E2E-913B-FBC2-EE198C812A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2329" y="2478203"/>
            <a:ext cx="184498" cy="194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8">
            <a:extLst>
              <a:ext uri="{FF2B5EF4-FFF2-40B4-BE49-F238E27FC236}">
                <a16:creationId xmlns:a16="http://schemas.microsoft.com/office/drawing/2014/main" id="{04D8378D-9166-94FB-BC6C-063294165C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6959" y="2411534"/>
            <a:ext cx="184498" cy="194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ilindro 2">
            <a:extLst>
              <a:ext uri="{FF2B5EF4-FFF2-40B4-BE49-F238E27FC236}">
                <a16:creationId xmlns:a16="http://schemas.microsoft.com/office/drawing/2014/main" id="{DB94AEF0-A4FF-08EE-FE5C-32E1FD9E1C77}"/>
              </a:ext>
            </a:extLst>
          </p:cNvPr>
          <p:cNvSpPr/>
          <p:nvPr/>
        </p:nvSpPr>
        <p:spPr>
          <a:xfrm rot="16200000">
            <a:off x="5769026" y="517710"/>
            <a:ext cx="361950" cy="4785278"/>
          </a:xfrm>
          <a:prstGeom prst="can">
            <a:avLst/>
          </a:prstGeom>
          <a:solidFill>
            <a:schemeClr val="accent2">
              <a:lumMod val="40000"/>
              <a:lumOff val="60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DF4CA5DC-B300-A93F-AC25-EC091A7BA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Anno accademico 2025/2026</a:t>
            </a:r>
            <a:endParaRPr lang="it-I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96B95DC-1299-F4A9-3A42-F313A048A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457C4-41BA-4245-A517-1492C4EB6DD6}" type="slidenum">
              <a:rPr lang="it-IT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</a:t>
            </a:fld>
            <a:endParaRPr lang="it-I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EE8321F1-9CC0-5023-6867-AED06190D0E8}"/>
              </a:ext>
            </a:extLst>
          </p:cNvPr>
          <p:cNvSpPr txBox="1">
            <a:spLocks/>
          </p:cNvSpPr>
          <p:nvPr/>
        </p:nvSpPr>
        <p:spPr>
          <a:xfrm>
            <a:off x="479385" y="745807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Superficie d’attacco</a:t>
            </a:r>
          </a:p>
        </p:txBody>
      </p:sp>
      <p:sp>
        <p:nvSpPr>
          <p:cNvPr id="14" name="object 3">
            <a:extLst>
              <a:ext uri="{FF2B5EF4-FFF2-40B4-BE49-F238E27FC236}">
                <a16:creationId xmlns:a16="http://schemas.microsoft.com/office/drawing/2014/main" id="{5529FC3F-73EC-2E99-69E1-358471E21160}"/>
              </a:ext>
            </a:extLst>
          </p:cNvPr>
          <p:cNvSpPr/>
          <p:nvPr/>
        </p:nvSpPr>
        <p:spPr>
          <a:xfrm>
            <a:off x="592670" y="677862"/>
            <a:ext cx="1041400" cy="67945"/>
          </a:xfrm>
          <a:custGeom>
            <a:avLst/>
            <a:gdLst/>
            <a:ahLst/>
            <a:cxnLst/>
            <a:rect l="l" t="t" r="r" b="b"/>
            <a:pathLst>
              <a:path w="1041400" h="67945">
                <a:moveTo>
                  <a:pt x="1041400" y="0"/>
                </a:moveTo>
                <a:lnTo>
                  <a:pt x="0" y="0"/>
                </a:lnTo>
                <a:lnTo>
                  <a:pt x="0" y="67729"/>
                </a:lnTo>
                <a:lnTo>
                  <a:pt x="1041400" y="67729"/>
                </a:lnTo>
                <a:lnTo>
                  <a:pt x="1041400" y="0"/>
                </a:lnTo>
                <a:close/>
              </a:path>
            </a:pathLst>
          </a:custGeom>
          <a:solidFill>
            <a:srgbClr val="F0A024"/>
          </a:solidFill>
        </p:spPr>
        <p:txBody>
          <a:bodyPr wrap="square" lIns="0" tIns="0" rIns="0" bIns="0" rtlCol="0"/>
          <a:lstStyle/>
          <a:p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Segnaposto data 1">
            <a:extLst>
              <a:ext uri="{FF2B5EF4-FFF2-40B4-BE49-F238E27FC236}">
                <a16:creationId xmlns:a16="http://schemas.microsoft.com/office/drawing/2014/main" id="{E5A19B12-FFDE-8BA7-C5DD-68AFCAB35838}"/>
              </a:ext>
            </a:extLst>
          </p:cNvPr>
          <p:cNvSpPr txBox="1">
            <a:spLocks/>
          </p:cNvSpPr>
          <p:nvPr/>
        </p:nvSpPr>
        <p:spPr>
          <a:xfrm>
            <a:off x="838200" y="64579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Anno accademico 2025/2026</a:t>
            </a:r>
            <a:endParaRPr lang="it-I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Segnaposto numero diapositiva 3">
            <a:extLst>
              <a:ext uri="{FF2B5EF4-FFF2-40B4-BE49-F238E27FC236}">
                <a16:creationId xmlns:a16="http://schemas.microsoft.com/office/drawing/2014/main" id="{D0145BF0-7380-8A07-23C3-FDDBB163D49E}"/>
              </a:ext>
            </a:extLst>
          </p:cNvPr>
          <p:cNvSpPr txBox="1">
            <a:spLocks/>
          </p:cNvSpPr>
          <p:nvPr/>
        </p:nvSpPr>
        <p:spPr>
          <a:xfrm>
            <a:off x="8610600" y="647827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DF457C4-41BA-4245-A517-1492C4EB6DD6}" type="slidenum">
              <a:rPr lang="it-IT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/>
              <a:t>7</a:t>
            </a:fld>
            <a:endParaRPr lang="it-I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5" name="AutoShape 8" descr="Generazione immagine completata">
            <a:extLst>
              <a:ext uri="{FF2B5EF4-FFF2-40B4-BE49-F238E27FC236}">
                <a16:creationId xmlns:a16="http://schemas.microsoft.com/office/drawing/2014/main" id="{C6457312-1E47-3E1F-F3C4-27465383299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76600" y="3540251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7" name="AutoShape 14" descr="Come calcolare il proprio profilo di rischio | IG Italia">
            <a:extLst>
              <a:ext uri="{FF2B5EF4-FFF2-40B4-BE49-F238E27FC236}">
                <a16:creationId xmlns:a16="http://schemas.microsoft.com/office/drawing/2014/main" id="{4F4722F5-0D37-228D-8DE3-62E4C04DDF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D283AC62-9CA3-7B4E-A43F-3AA248B65931}"/>
              </a:ext>
            </a:extLst>
          </p:cNvPr>
          <p:cNvSpPr/>
          <p:nvPr/>
        </p:nvSpPr>
        <p:spPr>
          <a:xfrm>
            <a:off x="0" y="6571000"/>
            <a:ext cx="12192000" cy="297048"/>
          </a:xfrm>
          <a:prstGeom prst="rect">
            <a:avLst/>
          </a:prstGeom>
          <a:solidFill>
            <a:srgbClr val="AB27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egnaposto data 1">
            <a:extLst>
              <a:ext uri="{FF2B5EF4-FFF2-40B4-BE49-F238E27FC236}">
                <a16:creationId xmlns:a16="http://schemas.microsoft.com/office/drawing/2014/main" id="{BF9C9237-5FC8-1970-F09B-EC56D940B436}"/>
              </a:ext>
            </a:extLst>
          </p:cNvPr>
          <p:cNvSpPr txBox="1">
            <a:spLocks/>
          </p:cNvSpPr>
          <p:nvPr/>
        </p:nvSpPr>
        <p:spPr>
          <a:xfrm>
            <a:off x="838200" y="65532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Anno accademico 2025/2026</a:t>
            </a:r>
            <a:endParaRPr lang="it-I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egnaposto piè di pagina 2">
            <a:extLst>
              <a:ext uri="{FF2B5EF4-FFF2-40B4-BE49-F238E27FC236}">
                <a16:creationId xmlns:a16="http://schemas.microsoft.com/office/drawing/2014/main" id="{1FEF8FF6-64DD-E6C2-0540-0761551A6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7106" y="6552951"/>
            <a:ext cx="5447030" cy="365125"/>
          </a:xfrm>
        </p:spPr>
        <p:txBody>
          <a:bodyPr/>
          <a:lstStyle/>
          <a:p>
            <a:pPr algn="l"/>
            <a:r>
              <a:rPr lang="it-IT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Reti Mesh Decentralizzate </a:t>
            </a:r>
            <a:r>
              <a:rPr lang="it-IT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LoRa</a:t>
            </a:r>
            <a:r>
              <a:rPr lang="it-IT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per la </a:t>
            </a:r>
            <a:r>
              <a:rPr lang="it-IT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Situational</a:t>
            </a:r>
            <a:r>
              <a:rPr lang="it-IT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Awareness</a:t>
            </a:r>
            <a:r>
              <a:rPr lang="it-IT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Contesti Off-</a:t>
            </a:r>
            <a:r>
              <a:rPr lang="it-IT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Grid</a:t>
            </a:r>
            <a:endParaRPr lang="it-I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Segnaposto numero diapositiva 3">
            <a:extLst>
              <a:ext uri="{FF2B5EF4-FFF2-40B4-BE49-F238E27FC236}">
                <a16:creationId xmlns:a16="http://schemas.microsoft.com/office/drawing/2014/main" id="{A3E04FFF-D96B-BD25-ED05-0B707EDFDF58}"/>
              </a:ext>
            </a:extLst>
          </p:cNvPr>
          <p:cNvSpPr txBox="1">
            <a:spLocks/>
          </p:cNvSpPr>
          <p:nvPr/>
        </p:nvSpPr>
        <p:spPr>
          <a:xfrm>
            <a:off x="8610600" y="65100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DF457C4-41BA-4245-A517-1492C4EB6DD6}" type="slidenum">
              <a:rPr lang="it-IT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/>
              <a:t>7</a:t>
            </a:fld>
            <a:endParaRPr lang="it-I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070" name="Gruppo 2069">
            <a:extLst>
              <a:ext uri="{FF2B5EF4-FFF2-40B4-BE49-F238E27FC236}">
                <a16:creationId xmlns:a16="http://schemas.microsoft.com/office/drawing/2014/main" id="{CDA6700D-0534-85F3-7C4F-CEA93CEB4CA1}"/>
              </a:ext>
            </a:extLst>
          </p:cNvPr>
          <p:cNvGrpSpPr/>
          <p:nvPr/>
        </p:nvGrpSpPr>
        <p:grpSpPr>
          <a:xfrm>
            <a:off x="1024389" y="2535547"/>
            <a:ext cx="10027724" cy="2417918"/>
            <a:chOff x="1024389" y="2535547"/>
            <a:chExt cx="10027724" cy="2417918"/>
          </a:xfrm>
        </p:grpSpPr>
        <p:pic>
          <p:nvPicPr>
            <p:cNvPr id="10" name="Immagine 9" descr="Immagine che contiene elettronica, Dispositivo elettronico&#10;&#10;Il contenuto generato dall'IA potrebbe non essere corretto.">
              <a:extLst>
                <a:ext uri="{FF2B5EF4-FFF2-40B4-BE49-F238E27FC236}">
                  <a16:creationId xmlns:a16="http://schemas.microsoft.com/office/drawing/2014/main" id="{B30E834B-F11B-EB9C-EFA1-A16D0D0C0C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59" r="41292" b="14280"/>
            <a:stretch>
              <a:fillRect/>
            </a:stretch>
          </p:blipFill>
          <p:spPr>
            <a:xfrm>
              <a:off x="1024389" y="2629423"/>
              <a:ext cx="1271472" cy="2324042"/>
            </a:xfrm>
            <a:prstGeom prst="rect">
              <a:avLst/>
            </a:prstGeom>
          </p:spPr>
        </p:pic>
        <p:pic>
          <p:nvPicPr>
            <p:cNvPr id="12" name="Immagine 11" descr="Immagine che contiene elettronica, Dispositivo elettronico&#10;&#10;Il contenuto generato dall'IA potrebbe non essere corretto.">
              <a:extLst>
                <a:ext uri="{FF2B5EF4-FFF2-40B4-BE49-F238E27FC236}">
                  <a16:creationId xmlns:a16="http://schemas.microsoft.com/office/drawing/2014/main" id="{F6714068-A1DE-D441-EF21-C5A179BBD6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59" r="41292" b="14280"/>
            <a:stretch>
              <a:fillRect/>
            </a:stretch>
          </p:blipFill>
          <p:spPr>
            <a:xfrm>
              <a:off x="9780641" y="2535547"/>
              <a:ext cx="1271472" cy="2324042"/>
            </a:xfrm>
            <a:prstGeom prst="rect">
              <a:avLst/>
            </a:prstGeom>
          </p:spPr>
        </p:pic>
        <p:sp>
          <p:nvSpPr>
            <p:cNvPr id="2054" name="Rettangolo 2053">
              <a:extLst>
                <a:ext uri="{FF2B5EF4-FFF2-40B4-BE49-F238E27FC236}">
                  <a16:creationId xmlns:a16="http://schemas.microsoft.com/office/drawing/2014/main" id="{89CD75FF-13A8-0B15-7951-43307CB1CB1F}"/>
                </a:ext>
              </a:extLst>
            </p:cNvPr>
            <p:cNvSpPr/>
            <p:nvPr/>
          </p:nvSpPr>
          <p:spPr>
            <a:xfrm>
              <a:off x="2390737" y="4358976"/>
              <a:ext cx="976870" cy="365125"/>
            </a:xfrm>
            <a:prstGeom prst="rect">
              <a:avLst/>
            </a:prstGeom>
            <a:solidFill>
              <a:srgbClr val="AB273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Applicativo</a:t>
              </a:r>
            </a:p>
          </p:txBody>
        </p:sp>
        <p:sp>
          <p:nvSpPr>
            <p:cNvPr id="2055" name="Rettangolo 2054">
              <a:extLst>
                <a:ext uri="{FF2B5EF4-FFF2-40B4-BE49-F238E27FC236}">
                  <a16:creationId xmlns:a16="http://schemas.microsoft.com/office/drawing/2014/main" id="{B86638E5-D102-9635-2F3F-73F61D975BCB}"/>
                </a:ext>
              </a:extLst>
            </p:cNvPr>
            <p:cNvSpPr/>
            <p:nvPr/>
          </p:nvSpPr>
          <p:spPr>
            <a:xfrm>
              <a:off x="2390738" y="2681798"/>
              <a:ext cx="976871" cy="31651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Fisico</a:t>
              </a:r>
            </a:p>
          </p:txBody>
        </p:sp>
        <p:sp>
          <p:nvSpPr>
            <p:cNvPr id="2056" name="Rettangolo 2055">
              <a:extLst>
                <a:ext uri="{FF2B5EF4-FFF2-40B4-BE49-F238E27FC236}">
                  <a16:creationId xmlns:a16="http://schemas.microsoft.com/office/drawing/2014/main" id="{55DF5F54-13E5-9965-795C-9D7981B8FA18}"/>
                </a:ext>
              </a:extLst>
            </p:cNvPr>
            <p:cNvSpPr/>
            <p:nvPr/>
          </p:nvSpPr>
          <p:spPr>
            <a:xfrm>
              <a:off x="2390739" y="3452332"/>
              <a:ext cx="976870" cy="323608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Rete</a:t>
              </a:r>
            </a:p>
          </p:txBody>
        </p:sp>
        <p:sp>
          <p:nvSpPr>
            <p:cNvPr id="2063" name="Rettangolo 2062">
              <a:extLst>
                <a:ext uri="{FF2B5EF4-FFF2-40B4-BE49-F238E27FC236}">
                  <a16:creationId xmlns:a16="http://schemas.microsoft.com/office/drawing/2014/main" id="{2BF845F0-FB13-AA41-00FB-3D4A26DC7191}"/>
                </a:ext>
              </a:extLst>
            </p:cNvPr>
            <p:cNvSpPr/>
            <p:nvPr/>
          </p:nvSpPr>
          <p:spPr>
            <a:xfrm>
              <a:off x="8573205" y="4393399"/>
              <a:ext cx="976870" cy="365125"/>
            </a:xfrm>
            <a:prstGeom prst="rect">
              <a:avLst/>
            </a:prstGeom>
            <a:solidFill>
              <a:srgbClr val="AB273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Applicativo</a:t>
              </a:r>
            </a:p>
          </p:txBody>
        </p:sp>
        <p:sp>
          <p:nvSpPr>
            <p:cNvPr id="2064" name="Rettangolo 2063">
              <a:extLst>
                <a:ext uri="{FF2B5EF4-FFF2-40B4-BE49-F238E27FC236}">
                  <a16:creationId xmlns:a16="http://schemas.microsoft.com/office/drawing/2014/main" id="{0A4EEC5D-F1C8-58D3-0121-7F14841A5128}"/>
                </a:ext>
              </a:extLst>
            </p:cNvPr>
            <p:cNvSpPr/>
            <p:nvPr/>
          </p:nvSpPr>
          <p:spPr>
            <a:xfrm>
              <a:off x="8573205" y="2686873"/>
              <a:ext cx="976871" cy="31651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Fisico</a:t>
              </a:r>
            </a:p>
          </p:txBody>
        </p:sp>
        <p:sp>
          <p:nvSpPr>
            <p:cNvPr id="2065" name="Rettangolo 2064">
              <a:extLst>
                <a:ext uri="{FF2B5EF4-FFF2-40B4-BE49-F238E27FC236}">
                  <a16:creationId xmlns:a16="http://schemas.microsoft.com/office/drawing/2014/main" id="{F6758F37-C51C-CACC-155F-B7CE72D473C8}"/>
                </a:ext>
              </a:extLst>
            </p:cNvPr>
            <p:cNvSpPr/>
            <p:nvPr/>
          </p:nvSpPr>
          <p:spPr>
            <a:xfrm>
              <a:off x="8573205" y="3492162"/>
              <a:ext cx="976870" cy="323608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Rete</a:t>
              </a:r>
            </a:p>
          </p:txBody>
        </p:sp>
        <p:cxnSp>
          <p:nvCxnSpPr>
            <p:cNvPr id="2059" name="Connettore diritto 2058">
              <a:extLst>
                <a:ext uri="{FF2B5EF4-FFF2-40B4-BE49-F238E27FC236}">
                  <a16:creationId xmlns:a16="http://schemas.microsoft.com/office/drawing/2014/main" id="{141A8E95-77E6-0EB3-9FBE-1A7BFBF17C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39999" y="2910349"/>
              <a:ext cx="9281" cy="1915586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" name="Connettore a gomito 14">
              <a:extLst>
                <a:ext uri="{FF2B5EF4-FFF2-40B4-BE49-F238E27FC236}">
                  <a16:creationId xmlns:a16="http://schemas.microsoft.com/office/drawing/2014/main" id="{BDD7D22A-F80D-AF3F-C4A9-03E601720C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68224" y="2910349"/>
              <a:ext cx="5390886" cy="1911386"/>
            </a:xfrm>
            <a:prstGeom prst="bentConnector3">
              <a:avLst>
                <a:gd name="adj1" fmla="val 208"/>
              </a:avLst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2071" name="Rettangolo 2070">
            <a:extLst>
              <a:ext uri="{FF2B5EF4-FFF2-40B4-BE49-F238E27FC236}">
                <a16:creationId xmlns:a16="http://schemas.microsoft.com/office/drawing/2014/main" id="{58F62B8F-20A2-56FB-159F-06DC48F32515}"/>
              </a:ext>
            </a:extLst>
          </p:cNvPr>
          <p:cNvSpPr/>
          <p:nvPr/>
        </p:nvSpPr>
        <p:spPr>
          <a:xfrm>
            <a:off x="3134260" y="4870025"/>
            <a:ext cx="233347" cy="9119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4" name="Freccia a destra 1023">
            <a:extLst>
              <a:ext uri="{FF2B5EF4-FFF2-40B4-BE49-F238E27FC236}">
                <a16:creationId xmlns:a16="http://schemas.microsoft.com/office/drawing/2014/main" id="{67BD9F42-7512-C1FD-1E75-C6D5496648F3}"/>
              </a:ext>
            </a:extLst>
          </p:cNvPr>
          <p:cNvSpPr/>
          <p:nvPr/>
        </p:nvSpPr>
        <p:spPr>
          <a:xfrm rot="5400000" flipH="1">
            <a:off x="3236124" y="4213492"/>
            <a:ext cx="90240" cy="68558"/>
          </a:xfrm>
          <a:prstGeom prst="rightArrow">
            <a:avLst>
              <a:gd name="adj1" fmla="val 0"/>
              <a:gd name="adj2" fmla="val 5769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9" name="Freccia a destra 1028">
            <a:extLst>
              <a:ext uri="{FF2B5EF4-FFF2-40B4-BE49-F238E27FC236}">
                <a16:creationId xmlns:a16="http://schemas.microsoft.com/office/drawing/2014/main" id="{252604A1-A1E4-1126-1073-8FAA6A9E7AF8}"/>
              </a:ext>
            </a:extLst>
          </p:cNvPr>
          <p:cNvSpPr/>
          <p:nvPr/>
        </p:nvSpPr>
        <p:spPr>
          <a:xfrm rot="5400000" flipH="1">
            <a:off x="3235168" y="3148637"/>
            <a:ext cx="90240" cy="68558"/>
          </a:xfrm>
          <a:prstGeom prst="rightArrow">
            <a:avLst>
              <a:gd name="adj1" fmla="val 0"/>
              <a:gd name="adj2" fmla="val 5769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30" name="Freccia a destra 1029">
            <a:extLst>
              <a:ext uri="{FF2B5EF4-FFF2-40B4-BE49-F238E27FC236}">
                <a16:creationId xmlns:a16="http://schemas.microsoft.com/office/drawing/2014/main" id="{1E7BBCF0-7789-FFF7-AC91-5D8165137322}"/>
              </a:ext>
            </a:extLst>
          </p:cNvPr>
          <p:cNvSpPr/>
          <p:nvPr/>
        </p:nvSpPr>
        <p:spPr>
          <a:xfrm rot="10800000" flipH="1">
            <a:off x="3757932" y="2876070"/>
            <a:ext cx="90240" cy="68558"/>
          </a:xfrm>
          <a:prstGeom prst="rightArrow">
            <a:avLst>
              <a:gd name="adj1" fmla="val 0"/>
              <a:gd name="adj2" fmla="val 5769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31" name="Freccia a destra 1030">
            <a:extLst>
              <a:ext uri="{FF2B5EF4-FFF2-40B4-BE49-F238E27FC236}">
                <a16:creationId xmlns:a16="http://schemas.microsoft.com/office/drawing/2014/main" id="{4071DC67-43DA-BCA9-1ED9-35CA4EA171EF}"/>
              </a:ext>
            </a:extLst>
          </p:cNvPr>
          <p:cNvSpPr/>
          <p:nvPr/>
        </p:nvSpPr>
        <p:spPr>
          <a:xfrm rot="10800000" flipH="1">
            <a:off x="4680537" y="2876070"/>
            <a:ext cx="90240" cy="68558"/>
          </a:xfrm>
          <a:prstGeom prst="rightArrow">
            <a:avLst>
              <a:gd name="adj1" fmla="val 0"/>
              <a:gd name="adj2" fmla="val 5769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32" name="Freccia a destra 1031">
            <a:extLst>
              <a:ext uri="{FF2B5EF4-FFF2-40B4-BE49-F238E27FC236}">
                <a16:creationId xmlns:a16="http://schemas.microsoft.com/office/drawing/2014/main" id="{4BF1D5E8-C236-D58A-AC6E-135FC1FF3094}"/>
              </a:ext>
            </a:extLst>
          </p:cNvPr>
          <p:cNvSpPr/>
          <p:nvPr/>
        </p:nvSpPr>
        <p:spPr>
          <a:xfrm rot="10800000" flipH="1">
            <a:off x="5745151" y="2876070"/>
            <a:ext cx="90240" cy="68558"/>
          </a:xfrm>
          <a:prstGeom prst="rightArrow">
            <a:avLst>
              <a:gd name="adj1" fmla="val 0"/>
              <a:gd name="adj2" fmla="val 5769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33" name="Freccia a destra 1032">
            <a:extLst>
              <a:ext uri="{FF2B5EF4-FFF2-40B4-BE49-F238E27FC236}">
                <a16:creationId xmlns:a16="http://schemas.microsoft.com/office/drawing/2014/main" id="{14C84D65-E717-7ABE-A7D3-1ABF3EFB7A3C}"/>
              </a:ext>
            </a:extLst>
          </p:cNvPr>
          <p:cNvSpPr/>
          <p:nvPr/>
        </p:nvSpPr>
        <p:spPr>
          <a:xfrm rot="10800000" flipH="1">
            <a:off x="6966811" y="2876070"/>
            <a:ext cx="90240" cy="68558"/>
          </a:xfrm>
          <a:prstGeom prst="rightArrow">
            <a:avLst>
              <a:gd name="adj1" fmla="val 0"/>
              <a:gd name="adj2" fmla="val 5769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34" name="Freccia a destra 1033">
            <a:extLst>
              <a:ext uri="{FF2B5EF4-FFF2-40B4-BE49-F238E27FC236}">
                <a16:creationId xmlns:a16="http://schemas.microsoft.com/office/drawing/2014/main" id="{8F91B648-DFE5-6B1C-8C61-788246FB72BB}"/>
              </a:ext>
            </a:extLst>
          </p:cNvPr>
          <p:cNvSpPr/>
          <p:nvPr/>
        </p:nvSpPr>
        <p:spPr>
          <a:xfrm rot="10800000" flipH="1">
            <a:off x="8165417" y="2876070"/>
            <a:ext cx="90240" cy="68558"/>
          </a:xfrm>
          <a:prstGeom prst="rightArrow">
            <a:avLst>
              <a:gd name="adj1" fmla="val 0"/>
              <a:gd name="adj2" fmla="val 5769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35" name="Freccia a destra 1034">
            <a:extLst>
              <a:ext uri="{FF2B5EF4-FFF2-40B4-BE49-F238E27FC236}">
                <a16:creationId xmlns:a16="http://schemas.microsoft.com/office/drawing/2014/main" id="{F2E4FCEE-6182-1268-F7C2-B8AB6F2B15E3}"/>
              </a:ext>
            </a:extLst>
          </p:cNvPr>
          <p:cNvSpPr/>
          <p:nvPr/>
        </p:nvSpPr>
        <p:spPr>
          <a:xfrm rot="16200000" flipH="1">
            <a:off x="8604465" y="3197685"/>
            <a:ext cx="90240" cy="68558"/>
          </a:xfrm>
          <a:prstGeom prst="rightArrow">
            <a:avLst>
              <a:gd name="adj1" fmla="val 0"/>
              <a:gd name="adj2" fmla="val 5769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37" name="Freccia a destra 1036">
            <a:extLst>
              <a:ext uri="{FF2B5EF4-FFF2-40B4-BE49-F238E27FC236}">
                <a16:creationId xmlns:a16="http://schemas.microsoft.com/office/drawing/2014/main" id="{35DDF550-91BD-D0C3-F2A2-B60733C3B779}"/>
              </a:ext>
            </a:extLst>
          </p:cNvPr>
          <p:cNvSpPr/>
          <p:nvPr/>
        </p:nvSpPr>
        <p:spPr>
          <a:xfrm rot="16200000" flipH="1">
            <a:off x="8604159" y="3997760"/>
            <a:ext cx="90240" cy="68558"/>
          </a:xfrm>
          <a:prstGeom prst="rightArrow">
            <a:avLst>
              <a:gd name="adj1" fmla="val 0"/>
              <a:gd name="adj2" fmla="val 5769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Cilindro 10">
            <a:extLst>
              <a:ext uri="{FF2B5EF4-FFF2-40B4-BE49-F238E27FC236}">
                <a16:creationId xmlns:a16="http://schemas.microsoft.com/office/drawing/2014/main" id="{2EE0CAB4-B614-1F23-FB61-EA97203E60E7}"/>
              </a:ext>
            </a:extLst>
          </p:cNvPr>
          <p:cNvSpPr/>
          <p:nvPr/>
        </p:nvSpPr>
        <p:spPr>
          <a:xfrm rot="16200000">
            <a:off x="5791453" y="1247199"/>
            <a:ext cx="361950" cy="4785278"/>
          </a:xfrm>
          <a:prstGeom prst="can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FEB49E2E-8209-52DA-6252-840FCB3436CF}"/>
              </a:ext>
            </a:extLst>
          </p:cNvPr>
          <p:cNvSpPr txBox="1"/>
          <p:nvPr/>
        </p:nvSpPr>
        <p:spPr>
          <a:xfrm>
            <a:off x="5508013" y="3968870"/>
            <a:ext cx="9589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Canale </a:t>
            </a:r>
            <a:r>
              <a:rPr lang="en-US" sz="11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logico</a:t>
            </a:r>
            <a:endParaRPr lang="it-IT" sz="11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1FE73E09-B329-F082-C2BF-FAA65C923A8F}"/>
              </a:ext>
            </a:extLst>
          </p:cNvPr>
          <p:cNvSpPr txBox="1"/>
          <p:nvPr/>
        </p:nvSpPr>
        <p:spPr>
          <a:xfrm>
            <a:off x="5304636" y="3062072"/>
            <a:ext cx="93647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Canale </a:t>
            </a:r>
            <a:r>
              <a:rPr lang="en-US" sz="11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Fisico</a:t>
            </a:r>
            <a:endParaRPr lang="it-IT" sz="11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F2AA33B0-2778-1AE3-4933-BC61DDC73B09}"/>
              </a:ext>
            </a:extLst>
          </p:cNvPr>
          <p:cNvCxnSpPr>
            <a:cxnSpLocks/>
            <a:endCxn id="55" idx="1"/>
          </p:cNvCxnSpPr>
          <p:nvPr/>
        </p:nvCxnSpPr>
        <p:spPr>
          <a:xfrm flipV="1">
            <a:off x="5636705" y="2090227"/>
            <a:ext cx="0" cy="623307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028" name="Picture 4" descr="Hacker Icon or Logo Isolated Graphic by jaroslavbrilew · Creative Fabrica">
            <a:extLst>
              <a:ext uri="{FF2B5EF4-FFF2-40B4-BE49-F238E27FC236}">
                <a16:creationId xmlns:a16="http://schemas.microsoft.com/office/drawing/2014/main" id="{2BD1261F-156A-B046-7C26-19FA751BE7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78" t="10106" r="30452" b="12062"/>
          <a:stretch/>
        </p:blipFill>
        <p:spPr bwMode="auto">
          <a:xfrm flipH="1">
            <a:off x="5412628" y="1382553"/>
            <a:ext cx="422761" cy="5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6" descr="Signal Jammer Icons - Free SVG &amp; PNG Signal Jammer Images - Noun Project">
            <a:extLst>
              <a:ext uri="{FF2B5EF4-FFF2-40B4-BE49-F238E27FC236}">
                <a16:creationId xmlns:a16="http://schemas.microsoft.com/office/drawing/2014/main" id="{CC572BD9-4A87-6F9E-6AF5-D78786D11F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198" y="1599454"/>
            <a:ext cx="380802" cy="380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Saetta 28">
            <a:extLst>
              <a:ext uri="{FF2B5EF4-FFF2-40B4-BE49-F238E27FC236}">
                <a16:creationId xmlns:a16="http://schemas.microsoft.com/office/drawing/2014/main" id="{37219B73-C5DD-3BD2-20AF-34DCA708A139}"/>
              </a:ext>
            </a:extLst>
          </p:cNvPr>
          <p:cNvSpPr/>
          <p:nvPr/>
        </p:nvSpPr>
        <p:spPr>
          <a:xfrm rot="1317648">
            <a:off x="5686302" y="2016298"/>
            <a:ext cx="824665" cy="736143"/>
          </a:xfrm>
          <a:prstGeom prst="lightningBol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CABBFE9A-22CA-48B5-0311-677ED30EFC79}"/>
              </a:ext>
            </a:extLst>
          </p:cNvPr>
          <p:cNvSpPr txBox="1"/>
          <p:nvPr/>
        </p:nvSpPr>
        <p:spPr>
          <a:xfrm>
            <a:off x="6253831" y="2075143"/>
            <a:ext cx="410552" cy="923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 anchorCtr="1">
            <a:spAutoFit/>
          </a:bodyPr>
          <a:lstStyle/>
          <a:p>
            <a:r>
              <a:rPr lang="en-US" sz="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Jamming</a:t>
            </a:r>
            <a:endParaRPr lang="it-IT" sz="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467412CC-AC19-DAEE-EE18-8D08B5D8B1C1}"/>
              </a:ext>
            </a:extLst>
          </p:cNvPr>
          <p:cNvSpPr txBox="1"/>
          <p:nvPr/>
        </p:nvSpPr>
        <p:spPr>
          <a:xfrm>
            <a:off x="5074489" y="2492573"/>
            <a:ext cx="542471" cy="923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 anchorCtr="1">
            <a:spAutoFit/>
          </a:bodyPr>
          <a:lstStyle/>
          <a:p>
            <a:r>
              <a:rPr lang="en-US" sz="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Eavesdropping</a:t>
            </a:r>
            <a:endParaRPr lang="it-IT" sz="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Rettangolo 36">
            <a:extLst>
              <a:ext uri="{FF2B5EF4-FFF2-40B4-BE49-F238E27FC236}">
                <a16:creationId xmlns:a16="http://schemas.microsoft.com/office/drawing/2014/main" id="{4903F455-A6F5-1FB3-1F2A-C616F855BD1E}"/>
              </a:ext>
            </a:extLst>
          </p:cNvPr>
          <p:cNvSpPr/>
          <p:nvPr/>
        </p:nvSpPr>
        <p:spPr>
          <a:xfrm>
            <a:off x="8536752" y="4868866"/>
            <a:ext cx="233347" cy="9119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1" name="Connettore a gomito 40">
            <a:extLst>
              <a:ext uri="{FF2B5EF4-FFF2-40B4-BE49-F238E27FC236}">
                <a16:creationId xmlns:a16="http://schemas.microsoft.com/office/drawing/2014/main" id="{EBCDD6F7-51E7-0E9F-4F66-A90741C827D9}"/>
              </a:ext>
            </a:extLst>
          </p:cNvPr>
          <p:cNvCxnSpPr>
            <a:cxnSpLocks/>
            <a:endCxn id="47" idx="1"/>
          </p:cNvCxnSpPr>
          <p:nvPr/>
        </p:nvCxnSpPr>
        <p:spPr>
          <a:xfrm>
            <a:off x="6065458" y="1657744"/>
            <a:ext cx="945801" cy="729679"/>
          </a:xfrm>
          <a:prstGeom prst="bentConnector2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7" name="Freccia a destra 46">
            <a:extLst>
              <a:ext uri="{FF2B5EF4-FFF2-40B4-BE49-F238E27FC236}">
                <a16:creationId xmlns:a16="http://schemas.microsoft.com/office/drawing/2014/main" id="{AE9A6C06-5F48-DAC6-0F9F-36919057B88B}"/>
              </a:ext>
            </a:extLst>
          </p:cNvPr>
          <p:cNvSpPr/>
          <p:nvPr/>
        </p:nvSpPr>
        <p:spPr>
          <a:xfrm rot="16200000" flipH="1">
            <a:off x="6965660" y="2398743"/>
            <a:ext cx="91198" cy="68558"/>
          </a:xfrm>
          <a:prstGeom prst="rightArrow">
            <a:avLst>
              <a:gd name="adj1" fmla="val 0"/>
              <a:gd name="adj2" fmla="val 57692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Freccia a destra 54">
            <a:extLst>
              <a:ext uri="{FF2B5EF4-FFF2-40B4-BE49-F238E27FC236}">
                <a16:creationId xmlns:a16="http://schemas.microsoft.com/office/drawing/2014/main" id="{EA50AA05-0A4E-AB0F-3C90-B898F36E6243}"/>
              </a:ext>
            </a:extLst>
          </p:cNvPr>
          <p:cNvSpPr/>
          <p:nvPr/>
        </p:nvSpPr>
        <p:spPr>
          <a:xfrm rot="5400000" flipH="1">
            <a:off x="5591106" y="2010349"/>
            <a:ext cx="91198" cy="68558"/>
          </a:xfrm>
          <a:prstGeom prst="rightArrow">
            <a:avLst>
              <a:gd name="adj1" fmla="val 0"/>
              <a:gd name="adj2" fmla="val 57692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CasellaDiTesto 59">
            <a:extLst>
              <a:ext uri="{FF2B5EF4-FFF2-40B4-BE49-F238E27FC236}">
                <a16:creationId xmlns:a16="http://schemas.microsoft.com/office/drawing/2014/main" id="{90D25C64-21E4-483E-0347-10E7C14A64D2}"/>
              </a:ext>
            </a:extLst>
          </p:cNvPr>
          <p:cNvSpPr txBox="1"/>
          <p:nvPr/>
        </p:nvSpPr>
        <p:spPr>
          <a:xfrm>
            <a:off x="6267914" y="1521090"/>
            <a:ext cx="410552" cy="923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 anchorCtr="1">
            <a:spAutoFit/>
          </a:bodyPr>
          <a:lstStyle/>
          <a:p>
            <a:r>
              <a:rPr lang="en-US" sz="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Spoofing</a:t>
            </a:r>
            <a:endParaRPr lang="it-IT" sz="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2" name="Connettore 2 61">
            <a:extLst>
              <a:ext uri="{FF2B5EF4-FFF2-40B4-BE49-F238E27FC236}">
                <a16:creationId xmlns:a16="http://schemas.microsoft.com/office/drawing/2014/main" id="{518A86BE-4AC6-F58E-C902-584BB0D9FE71}"/>
              </a:ext>
            </a:extLst>
          </p:cNvPr>
          <p:cNvCxnSpPr>
            <a:cxnSpLocks/>
          </p:cNvCxnSpPr>
          <p:nvPr/>
        </p:nvCxnSpPr>
        <p:spPr>
          <a:xfrm flipV="1">
            <a:off x="4776325" y="2102293"/>
            <a:ext cx="0" cy="623307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3" name="Freccia a destra 62">
            <a:extLst>
              <a:ext uri="{FF2B5EF4-FFF2-40B4-BE49-F238E27FC236}">
                <a16:creationId xmlns:a16="http://schemas.microsoft.com/office/drawing/2014/main" id="{3325026F-04AE-6367-2F56-4DCA0D530E6D}"/>
              </a:ext>
            </a:extLst>
          </p:cNvPr>
          <p:cNvSpPr/>
          <p:nvPr/>
        </p:nvSpPr>
        <p:spPr>
          <a:xfrm rot="5400000" flipH="1">
            <a:off x="4730726" y="2030035"/>
            <a:ext cx="91198" cy="68558"/>
          </a:xfrm>
          <a:prstGeom prst="rightArrow">
            <a:avLst>
              <a:gd name="adj1" fmla="val 0"/>
              <a:gd name="adj2" fmla="val 57692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40" name="Connettore 2 1039">
            <a:extLst>
              <a:ext uri="{FF2B5EF4-FFF2-40B4-BE49-F238E27FC236}">
                <a16:creationId xmlns:a16="http://schemas.microsoft.com/office/drawing/2014/main" id="{2280D792-C0F6-9557-1D6D-0FB13892CBF8}"/>
              </a:ext>
            </a:extLst>
          </p:cNvPr>
          <p:cNvCxnSpPr>
            <a:cxnSpLocks/>
            <a:endCxn id="1042" idx="3"/>
          </p:cNvCxnSpPr>
          <p:nvPr/>
        </p:nvCxnSpPr>
        <p:spPr>
          <a:xfrm flipV="1">
            <a:off x="4887575" y="1854741"/>
            <a:ext cx="203043" cy="69306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42" name="Picture 10" descr="Database icon - Download on Iconfinder on Iconfinder">
            <a:extLst>
              <a:ext uri="{FF2B5EF4-FFF2-40B4-BE49-F238E27FC236}">
                <a16:creationId xmlns:a16="http://schemas.microsoft.com/office/drawing/2014/main" id="{59749718-2A29-1773-8C06-E39B2F774E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090618" y="1718397"/>
            <a:ext cx="272687" cy="272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7" name="CasellaDiTesto 1046">
            <a:extLst>
              <a:ext uri="{FF2B5EF4-FFF2-40B4-BE49-F238E27FC236}">
                <a16:creationId xmlns:a16="http://schemas.microsoft.com/office/drawing/2014/main" id="{A56E23C4-DB29-E11D-00D7-41D2B1898D95}"/>
              </a:ext>
            </a:extLst>
          </p:cNvPr>
          <p:cNvSpPr txBox="1"/>
          <p:nvPr/>
        </p:nvSpPr>
        <p:spPr>
          <a:xfrm>
            <a:off x="3702528" y="1653675"/>
            <a:ext cx="542471" cy="923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 anchorCtr="1">
            <a:spAutoFit/>
          </a:bodyPr>
          <a:lstStyle/>
          <a:p>
            <a:r>
              <a:rPr lang="en-US" sz="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Replay</a:t>
            </a:r>
            <a:endParaRPr lang="it-IT" sz="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51" name="Elemento grafico 1050" descr="Clessidra 60% contorno">
            <a:extLst>
              <a:ext uri="{FF2B5EF4-FFF2-40B4-BE49-F238E27FC236}">
                <a16:creationId xmlns:a16="http://schemas.microsoft.com/office/drawing/2014/main" id="{D655AACE-06A0-14C6-4A39-BC094EBABCE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054442" y="1494348"/>
            <a:ext cx="209919" cy="209919"/>
          </a:xfrm>
          <a:prstGeom prst="rect">
            <a:avLst/>
          </a:prstGeom>
        </p:spPr>
      </p:pic>
      <p:cxnSp>
        <p:nvCxnSpPr>
          <p:cNvPr id="1054" name="Connettore a gomito 1053">
            <a:extLst>
              <a:ext uri="{FF2B5EF4-FFF2-40B4-BE49-F238E27FC236}">
                <a16:creationId xmlns:a16="http://schemas.microsoft.com/office/drawing/2014/main" id="{9921940C-3E40-F53C-1E53-1F8FC17A603E}"/>
              </a:ext>
            </a:extLst>
          </p:cNvPr>
          <p:cNvCxnSpPr>
            <a:cxnSpLocks/>
            <a:stCxn id="1051" idx="1"/>
          </p:cNvCxnSpPr>
          <p:nvPr/>
        </p:nvCxnSpPr>
        <p:spPr>
          <a:xfrm rot="10800000" flipV="1">
            <a:off x="4347758" y="1599307"/>
            <a:ext cx="706685" cy="983259"/>
          </a:xfrm>
          <a:prstGeom prst="bentConnector2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59" name="Freccia a destra 1058">
            <a:extLst>
              <a:ext uri="{FF2B5EF4-FFF2-40B4-BE49-F238E27FC236}">
                <a16:creationId xmlns:a16="http://schemas.microsoft.com/office/drawing/2014/main" id="{852C33B2-D4C7-C656-95E5-736F31F5B07D}"/>
              </a:ext>
            </a:extLst>
          </p:cNvPr>
          <p:cNvSpPr/>
          <p:nvPr/>
        </p:nvSpPr>
        <p:spPr>
          <a:xfrm rot="16200000" flipH="1">
            <a:off x="4299774" y="2509147"/>
            <a:ext cx="91198" cy="68558"/>
          </a:xfrm>
          <a:prstGeom prst="rightArrow">
            <a:avLst>
              <a:gd name="adj1" fmla="val 0"/>
              <a:gd name="adj2" fmla="val 57692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60" name="Elemento grafico 1059" descr="Chiudi con riempimento a tinta unita">
            <a:extLst>
              <a:ext uri="{FF2B5EF4-FFF2-40B4-BE49-F238E27FC236}">
                <a16:creationId xmlns:a16="http://schemas.microsoft.com/office/drawing/2014/main" id="{026FBE1D-E10E-51E9-D58C-484261FD2E9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07925" y="2800912"/>
            <a:ext cx="287648" cy="287648"/>
          </a:xfrm>
          <a:prstGeom prst="rect">
            <a:avLst/>
          </a:prstGeom>
        </p:spPr>
      </p:pic>
      <p:grpSp>
        <p:nvGrpSpPr>
          <p:cNvPr id="1069" name="Gruppo 1068">
            <a:extLst>
              <a:ext uri="{FF2B5EF4-FFF2-40B4-BE49-F238E27FC236}">
                <a16:creationId xmlns:a16="http://schemas.microsoft.com/office/drawing/2014/main" id="{D904D535-CB32-DFEF-EE38-2250AFD800B9}"/>
              </a:ext>
            </a:extLst>
          </p:cNvPr>
          <p:cNvGrpSpPr/>
          <p:nvPr/>
        </p:nvGrpSpPr>
        <p:grpSpPr>
          <a:xfrm>
            <a:off x="2985577" y="3022453"/>
            <a:ext cx="390768" cy="91198"/>
            <a:chOff x="2976569" y="3037574"/>
            <a:chExt cx="390768" cy="91198"/>
          </a:xfrm>
        </p:grpSpPr>
        <p:sp>
          <p:nvSpPr>
            <p:cNvPr id="1064" name="Rettangolo 1063">
              <a:extLst>
                <a:ext uri="{FF2B5EF4-FFF2-40B4-BE49-F238E27FC236}">
                  <a16:creationId xmlns:a16="http://schemas.microsoft.com/office/drawing/2014/main" id="{56CA4BD1-1D3D-5A4B-1C5C-4500CF1FEE65}"/>
                </a:ext>
              </a:extLst>
            </p:cNvPr>
            <p:cNvSpPr/>
            <p:nvPr/>
          </p:nvSpPr>
          <p:spPr>
            <a:xfrm>
              <a:off x="3133990" y="3037574"/>
              <a:ext cx="233347" cy="91198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5" name="Rettangolo 1064">
              <a:extLst>
                <a:ext uri="{FF2B5EF4-FFF2-40B4-BE49-F238E27FC236}">
                  <a16:creationId xmlns:a16="http://schemas.microsoft.com/office/drawing/2014/main" id="{C66FBC29-F323-6323-076F-98758E027D83}"/>
                </a:ext>
              </a:extLst>
            </p:cNvPr>
            <p:cNvSpPr/>
            <p:nvPr/>
          </p:nvSpPr>
          <p:spPr>
            <a:xfrm>
              <a:off x="3054058" y="3037574"/>
              <a:ext cx="77246" cy="91198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8" name="Rettangolo 1067">
              <a:extLst>
                <a:ext uri="{FF2B5EF4-FFF2-40B4-BE49-F238E27FC236}">
                  <a16:creationId xmlns:a16="http://schemas.microsoft.com/office/drawing/2014/main" id="{60E6D1A9-6A2C-27C5-CB30-5B4DF23F3391}"/>
                </a:ext>
              </a:extLst>
            </p:cNvPr>
            <p:cNvSpPr/>
            <p:nvPr/>
          </p:nvSpPr>
          <p:spPr>
            <a:xfrm>
              <a:off x="2976569" y="3037574"/>
              <a:ext cx="77246" cy="91198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070" name="Gruppo 1069">
            <a:extLst>
              <a:ext uri="{FF2B5EF4-FFF2-40B4-BE49-F238E27FC236}">
                <a16:creationId xmlns:a16="http://schemas.microsoft.com/office/drawing/2014/main" id="{039A9B22-DE94-BFEB-BD63-6D0A26610FC9}"/>
              </a:ext>
            </a:extLst>
          </p:cNvPr>
          <p:cNvGrpSpPr/>
          <p:nvPr/>
        </p:nvGrpSpPr>
        <p:grpSpPr>
          <a:xfrm>
            <a:off x="3054705" y="3827532"/>
            <a:ext cx="318041" cy="91198"/>
            <a:chOff x="3054705" y="3827532"/>
            <a:chExt cx="318041" cy="91198"/>
          </a:xfrm>
        </p:grpSpPr>
        <p:sp>
          <p:nvSpPr>
            <p:cNvPr id="1062" name="Rettangolo 1061">
              <a:extLst>
                <a:ext uri="{FF2B5EF4-FFF2-40B4-BE49-F238E27FC236}">
                  <a16:creationId xmlns:a16="http://schemas.microsoft.com/office/drawing/2014/main" id="{835DA694-11FB-96B7-CB63-9F6C7D6CD657}"/>
                </a:ext>
              </a:extLst>
            </p:cNvPr>
            <p:cNvSpPr/>
            <p:nvPr/>
          </p:nvSpPr>
          <p:spPr>
            <a:xfrm>
              <a:off x="3139399" y="3827532"/>
              <a:ext cx="233347" cy="91198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3" name="Rettangolo 1062">
              <a:extLst>
                <a:ext uri="{FF2B5EF4-FFF2-40B4-BE49-F238E27FC236}">
                  <a16:creationId xmlns:a16="http://schemas.microsoft.com/office/drawing/2014/main" id="{182BAC22-A907-5E5D-7553-5692700D9992}"/>
                </a:ext>
              </a:extLst>
            </p:cNvPr>
            <p:cNvSpPr/>
            <p:nvPr/>
          </p:nvSpPr>
          <p:spPr>
            <a:xfrm>
              <a:off x="3054705" y="3827532"/>
              <a:ext cx="77246" cy="91198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072" name="Gruppo 1071">
            <a:extLst>
              <a:ext uri="{FF2B5EF4-FFF2-40B4-BE49-F238E27FC236}">
                <a16:creationId xmlns:a16="http://schemas.microsoft.com/office/drawing/2014/main" id="{949687FD-641D-7B05-6B0E-E076EC49000A}"/>
              </a:ext>
            </a:extLst>
          </p:cNvPr>
          <p:cNvGrpSpPr/>
          <p:nvPr/>
        </p:nvGrpSpPr>
        <p:grpSpPr>
          <a:xfrm>
            <a:off x="8572017" y="3049514"/>
            <a:ext cx="390768" cy="91198"/>
            <a:chOff x="2976569" y="3037574"/>
            <a:chExt cx="390768" cy="91198"/>
          </a:xfrm>
        </p:grpSpPr>
        <p:sp>
          <p:nvSpPr>
            <p:cNvPr id="1073" name="Rettangolo 1072">
              <a:extLst>
                <a:ext uri="{FF2B5EF4-FFF2-40B4-BE49-F238E27FC236}">
                  <a16:creationId xmlns:a16="http://schemas.microsoft.com/office/drawing/2014/main" id="{5D15E922-A0EC-52DA-EFF1-58E3245B5A19}"/>
                </a:ext>
              </a:extLst>
            </p:cNvPr>
            <p:cNvSpPr/>
            <p:nvPr/>
          </p:nvSpPr>
          <p:spPr>
            <a:xfrm>
              <a:off x="3133990" y="3037574"/>
              <a:ext cx="233347" cy="91198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74" name="Rettangolo 1073">
              <a:extLst>
                <a:ext uri="{FF2B5EF4-FFF2-40B4-BE49-F238E27FC236}">
                  <a16:creationId xmlns:a16="http://schemas.microsoft.com/office/drawing/2014/main" id="{4CF5D4AF-ACA3-775A-94C6-27AC54DA58A3}"/>
                </a:ext>
              </a:extLst>
            </p:cNvPr>
            <p:cNvSpPr/>
            <p:nvPr/>
          </p:nvSpPr>
          <p:spPr>
            <a:xfrm>
              <a:off x="3054058" y="3037574"/>
              <a:ext cx="77246" cy="91198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75" name="Rettangolo 1074">
              <a:extLst>
                <a:ext uri="{FF2B5EF4-FFF2-40B4-BE49-F238E27FC236}">
                  <a16:creationId xmlns:a16="http://schemas.microsoft.com/office/drawing/2014/main" id="{DFF1ECFC-B67F-3AF1-CDE0-253CB12E860F}"/>
                </a:ext>
              </a:extLst>
            </p:cNvPr>
            <p:cNvSpPr/>
            <p:nvPr/>
          </p:nvSpPr>
          <p:spPr>
            <a:xfrm>
              <a:off x="2976569" y="3037574"/>
              <a:ext cx="77246" cy="91198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080" name="Gruppo 1079">
            <a:extLst>
              <a:ext uri="{FF2B5EF4-FFF2-40B4-BE49-F238E27FC236}">
                <a16:creationId xmlns:a16="http://schemas.microsoft.com/office/drawing/2014/main" id="{D1D3ACD0-CD42-7197-A289-ABFAA558B588}"/>
              </a:ext>
            </a:extLst>
          </p:cNvPr>
          <p:cNvGrpSpPr/>
          <p:nvPr/>
        </p:nvGrpSpPr>
        <p:grpSpPr>
          <a:xfrm>
            <a:off x="8579076" y="3872309"/>
            <a:ext cx="318041" cy="91198"/>
            <a:chOff x="3054705" y="3827532"/>
            <a:chExt cx="318041" cy="91198"/>
          </a:xfrm>
        </p:grpSpPr>
        <p:sp>
          <p:nvSpPr>
            <p:cNvPr id="1081" name="Rettangolo 1080">
              <a:extLst>
                <a:ext uri="{FF2B5EF4-FFF2-40B4-BE49-F238E27FC236}">
                  <a16:creationId xmlns:a16="http://schemas.microsoft.com/office/drawing/2014/main" id="{EDE3E12D-FB6C-0BB1-9335-FE2655A706F1}"/>
                </a:ext>
              </a:extLst>
            </p:cNvPr>
            <p:cNvSpPr/>
            <p:nvPr/>
          </p:nvSpPr>
          <p:spPr>
            <a:xfrm>
              <a:off x="3139399" y="3827532"/>
              <a:ext cx="233347" cy="91198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82" name="Rettangolo 1081">
              <a:extLst>
                <a:ext uri="{FF2B5EF4-FFF2-40B4-BE49-F238E27FC236}">
                  <a16:creationId xmlns:a16="http://schemas.microsoft.com/office/drawing/2014/main" id="{C4BAE380-853F-6631-ED41-8664F422A8C2}"/>
                </a:ext>
              </a:extLst>
            </p:cNvPr>
            <p:cNvSpPr/>
            <p:nvPr/>
          </p:nvSpPr>
          <p:spPr>
            <a:xfrm>
              <a:off x="3054705" y="3827532"/>
              <a:ext cx="77246" cy="91198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048" name="Gruppo 2047">
            <a:extLst>
              <a:ext uri="{FF2B5EF4-FFF2-40B4-BE49-F238E27FC236}">
                <a16:creationId xmlns:a16="http://schemas.microsoft.com/office/drawing/2014/main" id="{D9E241F8-5A45-73DE-0609-EF3C1B8C1375}"/>
              </a:ext>
            </a:extLst>
          </p:cNvPr>
          <p:cNvGrpSpPr/>
          <p:nvPr/>
        </p:nvGrpSpPr>
        <p:grpSpPr>
          <a:xfrm>
            <a:off x="4520277" y="1884535"/>
            <a:ext cx="390768" cy="91198"/>
            <a:chOff x="2976569" y="3037574"/>
            <a:chExt cx="390768" cy="91198"/>
          </a:xfrm>
        </p:grpSpPr>
        <p:sp>
          <p:nvSpPr>
            <p:cNvPr id="2049" name="Rettangolo 2048">
              <a:extLst>
                <a:ext uri="{FF2B5EF4-FFF2-40B4-BE49-F238E27FC236}">
                  <a16:creationId xmlns:a16="http://schemas.microsoft.com/office/drawing/2014/main" id="{BEC9C314-EFE3-197F-362A-9476B16AF269}"/>
                </a:ext>
              </a:extLst>
            </p:cNvPr>
            <p:cNvSpPr/>
            <p:nvPr/>
          </p:nvSpPr>
          <p:spPr>
            <a:xfrm>
              <a:off x="3133990" y="3037574"/>
              <a:ext cx="233347" cy="91198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50" name="Rettangolo 2049">
              <a:extLst>
                <a:ext uri="{FF2B5EF4-FFF2-40B4-BE49-F238E27FC236}">
                  <a16:creationId xmlns:a16="http://schemas.microsoft.com/office/drawing/2014/main" id="{8FC45337-D80D-4958-491C-FA18D0A5DA38}"/>
                </a:ext>
              </a:extLst>
            </p:cNvPr>
            <p:cNvSpPr/>
            <p:nvPr/>
          </p:nvSpPr>
          <p:spPr>
            <a:xfrm>
              <a:off x="3054058" y="3037574"/>
              <a:ext cx="77246" cy="91198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51" name="Rettangolo 2050">
              <a:extLst>
                <a:ext uri="{FF2B5EF4-FFF2-40B4-BE49-F238E27FC236}">
                  <a16:creationId xmlns:a16="http://schemas.microsoft.com/office/drawing/2014/main" id="{9C66AC75-2421-419F-85BE-B6631F5A1279}"/>
                </a:ext>
              </a:extLst>
            </p:cNvPr>
            <p:cNvSpPr/>
            <p:nvPr/>
          </p:nvSpPr>
          <p:spPr>
            <a:xfrm>
              <a:off x="2976569" y="3037574"/>
              <a:ext cx="77246" cy="91198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053" name="Gruppo 2052">
            <a:extLst>
              <a:ext uri="{FF2B5EF4-FFF2-40B4-BE49-F238E27FC236}">
                <a16:creationId xmlns:a16="http://schemas.microsoft.com/office/drawing/2014/main" id="{E0A2515A-2614-7B94-C55A-90F6027AB813}"/>
              </a:ext>
            </a:extLst>
          </p:cNvPr>
          <p:cNvGrpSpPr/>
          <p:nvPr/>
        </p:nvGrpSpPr>
        <p:grpSpPr>
          <a:xfrm>
            <a:off x="4154992" y="2611648"/>
            <a:ext cx="390768" cy="91198"/>
            <a:chOff x="2976569" y="3037574"/>
            <a:chExt cx="390768" cy="91198"/>
          </a:xfrm>
        </p:grpSpPr>
        <p:sp>
          <p:nvSpPr>
            <p:cNvPr id="2057" name="Rettangolo 2056">
              <a:extLst>
                <a:ext uri="{FF2B5EF4-FFF2-40B4-BE49-F238E27FC236}">
                  <a16:creationId xmlns:a16="http://schemas.microsoft.com/office/drawing/2014/main" id="{77835EAD-0654-2D8D-BFC3-1FDDC04AD76D}"/>
                </a:ext>
              </a:extLst>
            </p:cNvPr>
            <p:cNvSpPr/>
            <p:nvPr/>
          </p:nvSpPr>
          <p:spPr>
            <a:xfrm>
              <a:off x="3133990" y="3037574"/>
              <a:ext cx="233347" cy="91198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58" name="Rettangolo 2057">
              <a:extLst>
                <a:ext uri="{FF2B5EF4-FFF2-40B4-BE49-F238E27FC236}">
                  <a16:creationId xmlns:a16="http://schemas.microsoft.com/office/drawing/2014/main" id="{DAA12B5C-705C-D493-F38D-0A559CCAACFF}"/>
                </a:ext>
              </a:extLst>
            </p:cNvPr>
            <p:cNvSpPr/>
            <p:nvPr/>
          </p:nvSpPr>
          <p:spPr>
            <a:xfrm>
              <a:off x="3054058" y="3037574"/>
              <a:ext cx="77246" cy="91198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60" name="Rettangolo 2059">
              <a:extLst>
                <a:ext uri="{FF2B5EF4-FFF2-40B4-BE49-F238E27FC236}">
                  <a16:creationId xmlns:a16="http://schemas.microsoft.com/office/drawing/2014/main" id="{6229F07D-0AB6-429C-1462-A4B1A24B9456}"/>
                </a:ext>
              </a:extLst>
            </p:cNvPr>
            <p:cNvSpPr/>
            <p:nvPr/>
          </p:nvSpPr>
          <p:spPr>
            <a:xfrm>
              <a:off x="2976569" y="3037574"/>
              <a:ext cx="77246" cy="91198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061" name="Gruppo 2060">
            <a:extLst>
              <a:ext uri="{FF2B5EF4-FFF2-40B4-BE49-F238E27FC236}">
                <a16:creationId xmlns:a16="http://schemas.microsoft.com/office/drawing/2014/main" id="{B79AD00D-7A28-1ED0-B3C2-A4C8C7FB4E22}"/>
              </a:ext>
            </a:extLst>
          </p:cNvPr>
          <p:cNvGrpSpPr/>
          <p:nvPr/>
        </p:nvGrpSpPr>
        <p:grpSpPr>
          <a:xfrm>
            <a:off x="6815875" y="2584024"/>
            <a:ext cx="390768" cy="91198"/>
            <a:chOff x="2976569" y="3037574"/>
            <a:chExt cx="390768" cy="91198"/>
          </a:xfrm>
        </p:grpSpPr>
        <p:sp>
          <p:nvSpPr>
            <p:cNvPr id="2062" name="Rettangolo 2061">
              <a:extLst>
                <a:ext uri="{FF2B5EF4-FFF2-40B4-BE49-F238E27FC236}">
                  <a16:creationId xmlns:a16="http://schemas.microsoft.com/office/drawing/2014/main" id="{6A0F64C5-5E7A-015B-9E2A-CB4B883DB3C2}"/>
                </a:ext>
              </a:extLst>
            </p:cNvPr>
            <p:cNvSpPr/>
            <p:nvPr/>
          </p:nvSpPr>
          <p:spPr>
            <a:xfrm>
              <a:off x="3133990" y="3037574"/>
              <a:ext cx="233347" cy="91198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66" name="Rettangolo 2065">
              <a:extLst>
                <a:ext uri="{FF2B5EF4-FFF2-40B4-BE49-F238E27FC236}">
                  <a16:creationId xmlns:a16="http://schemas.microsoft.com/office/drawing/2014/main" id="{665F52CE-F276-F519-7343-9C81C4E5F81E}"/>
                </a:ext>
              </a:extLst>
            </p:cNvPr>
            <p:cNvSpPr/>
            <p:nvPr/>
          </p:nvSpPr>
          <p:spPr>
            <a:xfrm>
              <a:off x="3054058" y="3037574"/>
              <a:ext cx="77246" cy="91198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67" name="Rettangolo 2066">
              <a:extLst>
                <a:ext uri="{FF2B5EF4-FFF2-40B4-BE49-F238E27FC236}">
                  <a16:creationId xmlns:a16="http://schemas.microsoft.com/office/drawing/2014/main" id="{3F890822-84B8-EEAA-046C-C46917C56125}"/>
                </a:ext>
              </a:extLst>
            </p:cNvPr>
            <p:cNvSpPr/>
            <p:nvPr/>
          </p:nvSpPr>
          <p:spPr>
            <a:xfrm>
              <a:off x="2976569" y="3037574"/>
              <a:ext cx="77246" cy="91198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2075" name="Elemento grafico 2074" descr="Blocca con riempimento a tinta unita">
            <a:extLst>
              <a:ext uri="{FF2B5EF4-FFF2-40B4-BE49-F238E27FC236}">
                <a16:creationId xmlns:a16="http://schemas.microsoft.com/office/drawing/2014/main" id="{710728D6-888C-50A1-C8E2-94F846F0E05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464103" y="3460139"/>
            <a:ext cx="326168" cy="326168"/>
          </a:xfrm>
          <a:prstGeom prst="rect">
            <a:avLst/>
          </a:prstGeom>
        </p:spPr>
      </p:pic>
      <p:pic>
        <p:nvPicPr>
          <p:cNvPr id="2069" name="Elemento grafico 2068" descr="Chiave con riempimento a tinta unita">
            <a:extLst>
              <a:ext uri="{FF2B5EF4-FFF2-40B4-BE49-F238E27FC236}">
                <a16:creationId xmlns:a16="http://schemas.microsoft.com/office/drawing/2014/main" id="{01933F7E-980F-4217-461B-1ACAA50A5FA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662615" y="3524586"/>
            <a:ext cx="370547" cy="370547"/>
          </a:xfrm>
          <a:prstGeom prst="rect">
            <a:avLst/>
          </a:prstGeom>
        </p:spPr>
      </p:pic>
      <p:pic>
        <p:nvPicPr>
          <p:cNvPr id="2079" name="Immagine 2078" descr="Immagine che contiene schizzo, disegno, nero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2A4E55F7-1131-0B11-117C-EBC72B1BEA3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17" y="2508856"/>
            <a:ext cx="2085224" cy="1390149"/>
          </a:xfrm>
          <a:prstGeom prst="rect">
            <a:avLst/>
          </a:prstGeom>
        </p:spPr>
      </p:pic>
      <p:pic>
        <p:nvPicPr>
          <p:cNvPr id="2080" name="Immagine 2079" descr="Immagine che contiene schizzo, disegno, nero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31DCA0FF-96B0-D885-1F98-D63E6DAF6DC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5845" y="2215273"/>
            <a:ext cx="2085224" cy="1390149"/>
          </a:xfrm>
          <a:prstGeom prst="rect">
            <a:avLst/>
          </a:prstGeom>
        </p:spPr>
      </p:pic>
      <p:grpSp>
        <p:nvGrpSpPr>
          <p:cNvPr id="2115" name="Gruppo 2114">
            <a:extLst>
              <a:ext uri="{FF2B5EF4-FFF2-40B4-BE49-F238E27FC236}">
                <a16:creationId xmlns:a16="http://schemas.microsoft.com/office/drawing/2014/main" id="{5BF00001-90FE-6955-A521-F6BBF0DF94AF}"/>
              </a:ext>
            </a:extLst>
          </p:cNvPr>
          <p:cNvGrpSpPr/>
          <p:nvPr/>
        </p:nvGrpSpPr>
        <p:grpSpPr>
          <a:xfrm>
            <a:off x="3568904" y="3845051"/>
            <a:ext cx="779883" cy="2463674"/>
            <a:chOff x="4508381" y="3845051"/>
            <a:chExt cx="779883" cy="2463674"/>
          </a:xfrm>
        </p:grpSpPr>
        <p:sp>
          <p:nvSpPr>
            <p:cNvPr id="2092" name="Freccia a destra 2091">
              <a:extLst>
                <a:ext uri="{FF2B5EF4-FFF2-40B4-BE49-F238E27FC236}">
                  <a16:creationId xmlns:a16="http://schemas.microsoft.com/office/drawing/2014/main" id="{828BA7D8-3B71-3EDB-6D97-052D271950C2}"/>
                </a:ext>
              </a:extLst>
            </p:cNvPr>
            <p:cNvSpPr/>
            <p:nvPr/>
          </p:nvSpPr>
          <p:spPr>
            <a:xfrm rot="16200000" flipH="1">
              <a:off x="4692324" y="5377860"/>
              <a:ext cx="91198" cy="68558"/>
            </a:xfrm>
            <a:prstGeom prst="rightArrow">
              <a:avLst>
                <a:gd name="adj1" fmla="val 0"/>
                <a:gd name="adj2" fmla="val 57692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04" name="Freccia a destra 2103">
              <a:extLst>
                <a:ext uri="{FF2B5EF4-FFF2-40B4-BE49-F238E27FC236}">
                  <a16:creationId xmlns:a16="http://schemas.microsoft.com/office/drawing/2014/main" id="{A232EFB5-F00A-04FA-833D-E761A795A19A}"/>
                </a:ext>
              </a:extLst>
            </p:cNvPr>
            <p:cNvSpPr/>
            <p:nvPr/>
          </p:nvSpPr>
          <p:spPr>
            <a:xfrm rot="5400000" flipH="1">
              <a:off x="5090605" y="4006789"/>
              <a:ext cx="91198" cy="68558"/>
            </a:xfrm>
            <a:prstGeom prst="rightArrow">
              <a:avLst>
                <a:gd name="adj1" fmla="val 0"/>
                <a:gd name="adj2" fmla="val 57692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2114" name="Gruppo 2113">
              <a:extLst>
                <a:ext uri="{FF2B5EF4-FFF2-40B4-BE49-F238E27FC236}">
                  <a16:creationId xmlns:a16="http://schemas.microsoft.com/office/drawing/2014/main" id="{95F01BF5-C8B7-4F3F-D758-CE114354FC7E}"/>
                </a:ext>
              </a:extLst>
            </p:cNvPr>
            <p:cNvGrpSpPr/>
            <p:nvPr/>
          </p:nvGrpSpPr>
          <p:grpSpPr>
            <a:xfrm>
              <a:off x="4508381" y="3845051"/>
              <a:ext cx="779883" cy="2463674"/>
              <a:chOff x="4508381" y="3845051"/>
              <a:chExt cx="779883" cy="2463674"/>
            </a:xfrm>
          </p:grpSpPr>
          <p:cxnSp>
            <p:nvCxnSpPr>
              <p:cNvPr id="2088" name="Connettore 2 2087">
                <a:extLst>
                  <a:ext uri="{FF2B5EF4-FFF2-40B4-BE49-F238E27FC236}">
                    <a16:creationId xmlns:a16="http://schemas.microsoft.com/office/drawing/2014/main" id="{D61ACAD3-63B6-4445-2954-42FFC29E55C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42046" y="3845051"/>
                <a:ext cx="3918" cy="1521104"/>
              </a:xfrm>
              <a:prstGeom prst="straightConnector1">
                <a:avLst/>
              </a:prstGeom>
              <a:ln w="19050" cap="flat" cmpd="sng" algn="ctr">
                <a:solidFill>
                  <a:srgbClr val="FF0000"/>
                </a:solidFill>
                <a:prstDash val="sys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grpSp>
            <p:nvGrpSpPr>
              <p:cNvPr id="2093" name="Gruppo 2092">
                <a:extLst>
                  <a:ext uri="{FF2B5EF4-FFF2-40B4-BE49-F238E27FC236}">
                    <a16:creationId xmlns:a16="http://schemas.microsoft.com/office/drawing/2014/main" id="{D88B8A80-1553-E792-EF33-9ABCCA25C081}"/>
                  </a:ext>
                </a:extLst>
              </p:cNvPr>
              <p:cNvGrpSpPr/>
              <p:nvPr/>
            </p:nvGrpSpPr>
            <p:grpSpPr>
              <a:xfrm>
                <a:off x="4569534" y="5502545"/>
                <a:ext cx="318041" cy="91198"/>
                <a:chOff x="3054705" y="3827532"/>
                <a:chExt cx="318041" cy="91198"/>
              </a:xfrm>
            </p:grpSpPr>
            <p:sp>
              <p:nvSpPr>
                <p:cNvPr id="2094" name="Rettangolo 2093">
                  <a:extLst>
                    <a:ext uri="{FF2B5EF4-FFF2-40B4-BE49-F238E27FC236}">
                      <a16:creationId xmlns:a16="http://schemas.microsoft.com/office/drawing/2014/main" id="{3E4C9F4A-E81B-E2DF-D012-FE97388C7A64}"/>
                    </a:ext>
                  </a:extLst>
                </p:cNvPr>
                <p:cNvSpPr/>
                <p:nvPr/>
              </p:nvSpPr>
              <p:spPr>
                <a:xfrm>
                  <a:off x="3139399" y="3827532"/>
                  <a:ext cx="233347" cy="91198"/>
                </a:xfrm>
                <a:prstGeom prst="rect">
                  <a:avLst/>
                </a:prstGeom>
                <a:solidFill>
                  <a:srgbClr val="C0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95" name="Rettangolo 2094">
                  <a:extLst>
                    <a:ext uri="{FF2B5EF4-FFF2-40B4-BE49-F238E27FC236}">
                      <a16:creationId xmlns:a16="http://schemas.microsoft.com/office/drawing/2014/main" id="{488235A6-72C9-8DBE-55B9-62BDD84E47F9}"/>
                    </a:ext>
                  </a:extLst>
                </p:cNvPr>
                <p:cNvSpPr/>
                <p:nvPr/>
              </p:nvSpPr>
              <p:spPr>
                <a:xfrm>
                  <a:off x="3054705" y="3827532"/>
                  <a:ext cx="77246" cy="91198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pic>
            <p:nvPicPr>
              <p:cNvPr id="2097" name="Picture 16" descr="Premium Vector | Processing vector icon">
                <a:extLst>
                  <a:ext uri="{FF2B5EF4-FFF2-40B4-BE49-F238E27FC236}">
                    <a16:creationId xmlns:a16="http://schemas.microsoft.com/office/drawing/2014/main" id="{2C0ABE49-3557-30C7-3B8D-31420677776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66593" y="5632411"/>
                <a:ext cx="350906" cy="35090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2098" name="Gruppo 2097">
                <a:extLst>
                  <a:ext uri="{FF2B5EF4-FFF2-40B4-BE49-F238E27FC236}">
                    <a16:creationId xmlns:a16="http://schemas.microsoft.com/office/drawing/2014/main" id="{488C6B59-A6AB-3C51-3AC8-339E58B8211C}"/>
                  </a:ext>
                </a:extLst>
              </p:cNvPr>
              <p:cNvGrpSpPr/>
              <p:nvPr/>
            </p:nvGrpSpPr>
            <p:grpSpPr>
              <a:xfrm>
                <a:off x="4566593" y="6048142"/>
                <a:ext cx="318041" cy="91198"/>
                <a:chOff x="3054705" y="3827532"/>
                <a:chExt cx="318041" cy="91198"/>
              </a:xfrm>
            </p:grpSpPr>
            <p:sp>
              <p:nvSpPr>
                <p:cNvPr id="2099" name="Rettangolo 2098">
                  <a:extLst>
                    <a:ext uri="{FF2B5EF4-FFF2-40B4-BE49-F238E27FC236}">
                      <a16:creationId xmlns:a16="http://schemas.microsoft.com/office/drawing/2014/main" id="{62111510-8CBC-7545-17AD-81F4A2C5F1D4}"/>
                    </a:ext>
                  </a:extLst>
                </p:cNvPr>
                <p:cNvSpPr/>
                <p:nvPr/>
              </p:nvSpPr>
              <p:spPr>
                <a:xfrm>
                  <a:off x="3139399" y="3827532"/>
                  <a:ext cx="233347" cy="91198"/>
                </a:xfrm>
                <a:custGeom>
                  <a:avLst/>
                  <a:gdLst>
                    <a:gd name="csX0" fmla="*/ 0 w 233347"/>
                    <a:gd name="csY0" fmla="*/ 0 h 91198"/>
                    <a:gd name="csX1" fmla="*/ 233347 w 233347"/>
                    <a:gd name="csY1" fmla="*/ 0 h 91198"/>
                    <a:gd name="csX2" fmla="*/ 233347 w 233347"/>
                    <a:gd name="csY2" fmla="*/ 91198 h 91198"/>
                    <a:gd name="csX3" fmla="*/ 0 w 233347"/>
                    <a:gd name="csY3" fmla="*/ 91198 h 91198"/>
                    <a:gd name="csX4" fmla="*/ 0 w 233347"/>
                    <a:gd name="csY4" fmla="*/ 0 h 9119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233347" h="91198" fill="none" extrusionOk="0">
                      <a:moveTo>
                        <a:pt x="0" y="0"/>
                      </a:moveTo>
                      <a:cubicBezTo>
                        <a:pt x="103255" y="-14842"/>
                        <a:pt x="144163" y="21567"/>
                        <a:pt x="233347" y="0"/>
                      </a:cubicBezTo>
                      <a:cubicBezTo>
                        <a:pt x="237192" y="45188"/>
                        <a:pt x="231423" y="62016"/>
                        <a:pt x="233347" y="91198"/>
                      </a:cubicBezTo>
                      <a:cubicBezTo>
                        <a:pt x="180727" y="118993"/>
                        <a:pt x="95979" y="78409"/>
                        <a:pt x="0" y="91198"/>
                      </a:cubicBezTo>
                      <a:cubicBezTo>
                        <a:pt x="-10236" y="51016"/>
                        <a:pt x="8230" y="38092"/>
                        <a:pt x="0" y="0"/>
                      </a:cubicBezTo>
                      <a:close/>
                    </a:path>
                    <a:path w="233347" h="91198" stroke="0" extrusionOk="0">
                      <a:moveTo>
                        <a:pt x="0" y="0"/>
                      </a:moveTo>
                      <a:cubicBezTo>
                        <a:pt x="94417" y="-9428"/>
                        <a:pt x="154789" y="25315"/>
                        <a:pt x="233347" y="0"/>
                      </a:cubicBezTo>
                      <a:cubicBezTo>
                        <a:pt x="239991" y="43307"/>
                        <a:pt x="232602" y="50444"/>
                        <a:pt x="233347" y="91198"/>
                      </a:cubicBezTo>
                      <a:cubicBezTo>
                        <a:pt x="161682" y="108283"/>
                        <a:pt x="67636" y="77458"/>
                        <a:pt x="0" y="91198"/>
                      </a:cubicBezTo>
                      <a:cubicBezTo>
                        <a:pt x="-9948" y="66391"/>
                        <a:pt x="897" y="32794"/>
                        <a:pt x="0" y="0"/>
                      </a:cubicBezTo>
                      <a:close/>
                    </a:path>
                  </a:pathLst>
                </a:custGeom>
                <a:solidFill>
                  <a:srgbClr val="C00000"/>
                </a:solidFill>
                <a:ln cap="flat">
                  <a:prstDash val="sysDash"/>
                  <a:extLst>
                    <a:ext uri="{C807C97D-BFC1-408E-A445-0C87EB9F89A2}">
                      <ask:lineSketchStyleProps xmlns:ask="http://schemas.microsoft.com/office/drawing/2018/sketchyshapes" sd="1219033472">
                        <a:prstGeom prst="rect">
                          <a:avLst/>
                        </a:prstGeom>
                        <ask:type>
                          <ask:lineSketchScribbl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100" name="Rettangolo 2099">
                  <a:extLst>
                    <a:ext uri="{FF2B5EF4-FFF2-40B4-BE49-F238E27FC236}">
                      <a16:creationId xmlns:a16="http://schemas.microsoft.com/office/drawing/2014/main" id="{424CE708-2BE3-54B2-BFC4-8E41EEFE7352}"/>
                    </a:ext>
                  </a:extLst>
                </p:cNvPr>
                <p:cNvSpPr/>
                <p:nvPr/>
              </p:nvSpPr>
              <p:spPr>
                <a:xfrm>
                  <a:off x="3054705" y="3827532"/>
                  <a:ext cx="77246" cy="91198"/>
                </a:xfrm>
                <a:custGeom>
                  <a:avLst/>
                  <a:gdLst>
                    <a:gd name="csX0" fmla="*/ 0 w 77246"/>
                    <a:gd name="csY0" fmla="*/ 0 h 91198"/>
                    <a:gd name="csX1" fmla="*/ 77246 w 77246"/>
                    <a:gd name="csY1" fmla="*/ 0 h 91198"/>
                    <a:gd name="csX2" fmla="*/ 77246 w 77246"/>
                    <a:gd name="csY2" fmla="*/ 91198 h 91198"/>
                    <a:gd name="csX3" fmla="*/ 0 w 77246"/>
                    <a:gd name="csY3" fmla="*/ 91198 h 91198"/>
                    <a:gd name="csX4" fmla="*/ 0 w 77246"/>
                    <a:gd name="csY4" fmla="*/ 0 h 9119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77246" h="91198" fill="none" extrusionOk="0">
                      <a:moveTo>
                        <a:pt x="0" y="0"/>
                      </a:moveTo>
                      <a:cubicBezTo>
                        <a:pt x="29770" y="-3346"/>
                        <a:pt x="56226" y="6451"/>
                        <a:pt x="77246" y="0"/>
                      </a:cubicBezTo>
                      <a:cubicBezTo>
                        <a:pt x="84700" y="38168"/>
                        <a:pt x="69227" y="67018"/>
                        <a:pt x="77246" y="91198"/>
                      </a:cubicBezTo>
                      <a:cubicBezTo>
                        <a:pt x="46595" y="99982"/>
                        <a:pt x="38049" y="91100"/>
                        <a:pt x="0" y="91198"/>
                      </a:cubicBezTo>
                      <a:cubicBezTo>
                        <a:pt x="-8947" y="62772"/>
                        <a:pt x="10269" y="19824"/>
                        <a:pt x="0" y="0"/>
                      </a:cubicBezTo>
                      <a:close/>
                    </a:path>
                    <a:path w="77246" h="91198" stroke="0" extrusionOk="0">
                      <a:moveTo>
                        <a:pt x="0" y="0"/>
                      </a:moveTo>
                      <a:cubicBezTo>
                        <a:pt x="18454" y="-9253"/>
                        <a:pt x="48476" y="8778"/>
                        <a:pt x="77246" y="0"/>
                      </a:cubicBezTo>
                      <a:cubicBezTo>
                        <a:pt x="80047" y="41397"/>
                        <a:pt x="71118" y="47887"/>
                        <a:pt x="77246" y="91198"/>
                      </a:cubicBezTo>
                      <a:cubicBezTo>
                        <a:pt x="41422" y="91277"/>
                        <a:pt x="17180" y="90692"/>
                        <a:pt x="0" y="91198"/>
                      </a:cubicBezTo>
                      <a:cubicBezTo>
                        <a:pt x="-1822" y="47025"/>
                        <a:pt x="10643" y="23723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cap="flat">
                  <a:prstDash val="sysDash"/>
                  <a:extLst>
                    <a:ext uri="{C807C97D-BFC1-408E-A445-0C87EB9F89A2}">
                      <ask:lineSketchStyleProps xmlns:ask="http://schemas.microsoft.com/office/drawing/2018/sketchyshapes" sd="1670402538">
                        <a:prstGeom prst="rect">
                          <a:avLst/>
                        </a:prstGeom>
                        <ask:type>
                          <ask:lineSketchScribbl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2101" name="Connettore a gomito 2100">
                <a:extLst>
                  <a:ext uri="{FF2B5EF4-FFF2-40B4-BE49-F238E27FC236}">
                    <a16:creationId xmlns:a16="http://schemas.microsoft.com/office/drawing/2014/main" id="{E57E0AF3-38EB-527C-3781-D61949448B35}"/>
                  </a:ext>
                </a:extLst>
              </p:cNvPr>
              <p:cNvCxnSpPr>
                <a:cxnSpLocks/>
                <a:endCxn id="2099" idx="3"/>
              </p:cNvCxnSpPr>
              <p:nvPr/>
            </p:nvCxnSpPr>
            <p:spPr>
              <a:xfrm rot="5400000">
                <a:off x="3975903" y="4933440"/>
                <a:ext cx="2069032" cy="251570"/>
              </a:xfrm>
              <a:prstGeom prst="bentConnector2">
                <a:avLst/>
              </a:prstGeom>
              <a:ln w="19050" cap="flat" cmpd="sng" algn="ctr">
                <a:solidFill>
                  <a:srgbClr val="FF0000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grpSp>
            <p:nvGrpSpPr>
              <p:cNvPr id="2105" name="Gruppo 2104">
                <a:extLst>
                  <a:ext uri="{FF2B5EF4-FFF2-40B4-BE49-F238E27FC236}">
                    <a16:creationId xmlns:a16="http://schemas.microsoft.com/office/drawing/2014/main" id="{514201F8-6306-DB10-CFCE-FF1F3CEB1960}"/>
                  </a:ext>
                </a:extLst>
              </p:cNvPr>
              <p:cNvGrpSpPr/>
              <p:nvPr/>
            </p:nvGrpSpPr>
            <p:grpSpPr>
              <a:xfrm>
                <a:off x="4970223" y="3859649"/>
                <a:ext cx="318041" cy="91198"/>
                <a:chOff x="3054705" y="3827532"/>
                <a:chExt cx="318041" cy="91198"/>
              </a:xfrm>
            </p:grpSpPr>
            <p:sp>
              <p:nvSpPr>
                <p:cNvPr id="2106" name="Rettangolo 2105">
                  <a:extLst>
                    <a:ext uri="{FF2B5EF4-FFF2-40B4-BE49-F238E27FC236}">
                      <a16:creationId xmlns:a16="http://schemas.microsoft.com/office/drawing/2014/main" id="{B0D2A0E3-307C-0B65-76CF-579B371DA687}"/>
                    </a:ext>
                  </a:extLst>
                </p:cNvPr>
                <p:cNvSpPr/>
                <p:nvPr/>
              </p:nvSpPr>
              <p:spPr>
                <a:xfrm>
                  <a:off x="3139399" y="3827532"/>
                  <a:ext cx="233347" cy="91198"/>
                </a:xfrm>
                <a:custGeom>
                  <a:avLst/>
                  <a:gdLst>
                    <a:gd name="csX0" fmla="*/ 0 w 233347"/>
                    <a:gd name="csY0" fmla="*/ 0 h 91198"/>
                    <a:gd name="csX1" fmla="*/ 233347 w 233347"/>
                    <a:gd name="csY1" fmla="*/ 0 h 91198"/>
                    <a:gd name="csX2" fmla="*/ 233347 w 233347"/>
                    <a:gd name="csY2" fmla="*/ 91198 h 91198"/>
                    <a:gd name="csX3" fmla="*/ 0 w 233347"/>
                    <a:gd name="csY3" fmla="*/ 91198 h 91198"/>
                    <a:gd name="csX4" fmla="*/ 0 w 233347"/>
                    <a:gd name="csY4" fmla="*/ 0 h 9119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233347" h="91198" fill="none" extrusionOk="0">
                      <a:moveTo>
                        <a:pt x="0" y="0"/>
                      </a:moveTo>
                      <a:cubicBezTo>
                        <a:pt x="103255" y="-14842"/>
                        <a:pt x="144163" y="21567"/>
                        <a:pt x="233347" y="0"/>
                      </a:cubicBezTo>
                      <a:cubicBezTo>
                        <a:pt x="237192" y="45188"/>
                        <a:pt x="231423" y="62016"/>
                        <a:pt x="233347" y="91198"/>
                      </a:cubicBezTo>
                      <a:cubicBezTo>
                        <a:pt x="180727" y="118993"/>
                        <a:pt x="95979" y="78409"/>
                        <a:pt x="0" y="91198"/>
                      </a:cubicBezTo>
                      <a:cubicBezTo>
                        <a:pt x="-10236" y="51016"/>
                        <a:pt x="8230" y="38092"/>
                        <a:pt x="0" y="0"/>
                      </a:cubicBezTo>
                      <a:close/>
                    </a:path>
                    <a:path w="233347" h="91198" stroke="0" extrusionOk="0">
                      <a:moveTo>
                        <a:pt x="0" y="0"/>
                      </a:moveTo>
                      <a:cubicBezTo>
                        <a:pt x="94417" y="-9428"/>
                        <a:pt x="154789" y="25315"/>
                        <a:pt x="233347" y="0"/>
                      </a:cubicBezTo>
                      <a:cubicBezTo>
                        <a:pt x="239991" y="43307"/>
                        <a:pt x="232602" y="50444"/>
                        <a:pt x="233347" y="91198"/>
                      </a:cubicBezTo>
                      <a:cubicBezTo>
                        <a:pt x="161682" y="108283"/>
                        <a:pt x="67636" y="77458"/>
                        <a:pt x="0" y="91198"/>
                      </a:cubicBezTo>
                      <a:cubicBezTo>
                        <a:pt x="-9948" y="66391"/>
                        <a:pt x="897" y="32794"/>
                        <a:pt x="0" y="0"/>
                      </a:cubicBezTo>
                      <a:close/>
                    </a:path>
                  </a:pathLst>
                </a:custGeom>
                <a:solidFill>
                  <a:srgbClr val="C00000"/>
                </a:solidFill>
                <a:ln cap="flat">
                  <a:prstDash val="sysDash"/>
                  <a:extLst>
                    <a:ext uri="{C807C97D-BFC1-408E-A445-0C87EB9F89A2}">
                      <ask:lineSketchStyleProps xmlns:ask="http://schemas.microsoft.com/office/drawing/2018/sketchyshapes" sd="1219033472">
                        <a:prstGeom prst="rect">
                          <a:avLst/>
                        </a:prstGeom>
                        <ask:type>
                          <ask:lineSketchScribbl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107" name="Rettangolo 2106">
                  <a:extLst>
                    <a:ext uri="{FF2B5EF4-FFF2-40B4-BE49-F238E27FC236}">
                      <a16:creationId xmlns:a16="http://schemas.microsoft.com/office/drawing/2014/main" id="{479315D2-8B8F-4A03-3CBD-1A5A7AECA882}"/>
                    </a:ext>
                  </a:extLst>
                </p:cNvPr>
                <p:cNvSpPr/>
                <p:nvPr/>
              </p:nvSpPr>
              <p:spPr>
                <a:xfrm>
                  <a:off x="3054705" y="3827532"/>
                  <a:ext cx="77246" cy="91198"/>
                </a:xfrm>
                <a:custGeom>
                  <a:avLst/>
                  <a:gdLst>
                    <a:gd name="csX0" fmla="*/ 0 w 77246"/>
                    <a:gd name="csY0" fmla="*/ 0 h 91198"/>
                    <a:gd name="csX1" fmla="*/ 77246 w 77246"/>
                    <a:gd name="csY1" fmla="*/ 0 h 91198"/>
                    <a:gd name="csX2" fmla="*/ 77246 w 77246"/>
                    <a:gd name="csY2" fmla="*/ 91198 h 91198"/>
                    <a:gd name="csX3" fmla="*/ 0 w 77246"/>
                    <a:gd name="csY3" fmla="*/ 91198 h 91198"/>
                    <a:gd name="csX4" fmla="*/ 0 w 77246"/>
                    <a:gd name="csY4" fmla="*/ 0 h 9119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77246" h="91198" fill="none" extrusionOk="0">
                      <a:moveTo>
                        <a:pt x="0" y="0"/>
                      </a:moveTo>
                      <a:cubicBezTo>
                        <a:pt x="29770" y="-3346"/>
                        <a:pt x="56226" y="6451"/>
                        <a:pt x="77246" y="0"/>
                      </a:cubicBezTo>
                      <a:cubicBezTo>
                        <a:pt x="84700" y="38168"/>
                        <a:pt x="69227" y="67018"/>
                        <a:pt x="77246" y="91198"/>
                      </a:cubicBezTo>
                      <a:cubicBezTo>
                        <a:pt x="46595" y="99982"/>
                        <a:pt x="38049" y="91100"/>
                        <a:pt x="0" y="91198"/>
                      </a:cubicBezTo>
                      <a:cubicBezTo>
                        <a:pt x="-8947" y="62772"/>
                        <a:pt x="10269" y="19824"/>
                        <a:pt x="0" y="0"/>
                      </a:cubicBezTo>
                      <a:close/>
                    </a:path>
                    <a:path w="77246" h="91198" stroke="0" extrusionOk="0">
                      <a:moveTo>
                        <a:pt x="0" y="0"/>
                      </a:moveTo>
                      <a:cubicBezTo>
                        <a:pt x="18454" y="-9253"/>
                        <a:pt x="48476" y="8778"/>
                        <a:pt x="77246" y="0"/>
                      </a:cubicBezTo>
                      <a:cubicBezTo>
                        <a:pt x="80047" y="41397"/>
                        <a:pt x="71118" y="47887"/>
                        <a:pt x="77246" y="91198"/>
                      </a:cubicBezTo>
                      <a:cubicBezTo>
                        <a:pt x="41422" y="91277"/>
                        <a:pt x="17180" y="90692"/>
                        <a:pt x="0" y="91198"/>
                      </a:cubicBezTo>
                      <a:cubicBezTo>
                        <a:pt x="-1822" y="47025"/>
                        <a:pt x="10643" y="23723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cap="flat">
                  <a:prstDash val="sysDash"/>
                  <a:extLst>
                    <a:ext uri="{C807C97D-BFC1-408E-A445-0C87EB9F89A2}">
                      <ask:lineSketchStyleProps xmlns:ask="http://schemas.microsoft.com/office/drawing/2018/sketchyshapes" sd="1670402538">
                        <a:prstGeom prst="rect">
                          <a:avLst/>
                        </a:prstGeom>
                        <ask:type>
                          <ask:lineSketchScribbl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2109" name="CasellaDiTesto 2108">
                <a:extLst>
                  <a:ext uri="{FF2B5EF4-FFF2-40B4-BE49-F238E27FC236}">
                    <a16:creationId xmlns:a16="http://schemas.microsoft.com/office/drawing/2014/main" id="{E8099ED8-9381-841B-4562-1F2E2414CCB9}"/>
                  </a:ext>
                </a:extLst>
              </p:cNvPr>
              <p:cNvSpPr txBox="1"/>
              <p:nvPr/>
            </p:nvSpPr>
            <p:spPr>
              <a:xfrm>
                <a:off x="4508381" y="6216392"/>
                <a:ext cx="542471" cy="9233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 anchor="ctr" anchorCtr="1">
                <a:spAutoFit/>
              </a:bodyPr>
              <a:lstStyle/>
              <a:p>
                <a:r>
                  <a:rPr lang="en-US" sz="6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Tampering</a:t>
                </a:r>
                <a:endParaRPr lang="it-IT" sz="6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grpSp>
        <p:nvGrpSpPr>
          <p:cNvPr id="2117" name="Gruppo 2116">
            <a:extLst>
              <a:ext uri="{FF2B5EF4-FFF2-40B4-BE49-F238E27FC236}">
                <a16:creationId xmlns:a16="http://schemas.microsoft.com/office/drawing/2014/main" id="{9407080F-B8DD-8C6D-9724-1358E83E5978}"/>
              </a:ext>
            </a:extLst>
          </p:cNvPr>
          <p:cNvGrpSpPr/>
          <p:nvPr/>
        </p:nvGrpSpPr>
        <p:grpSpPr>
          <a:xfrm>
            <a:off x="5062620" y="5359863"/>
            <a:ext cx="1455301" cy="1069049"/>
            <a:chOff x="4424466" y="5289519"/>
            <a:chExt cx="1455301" cy="1069049"/>
          </a:xfrm>
        </p:grpSpPr>
        <p:pic>
          <p:nvPicPr>
            <p:cNvPr id="2087" name="Picture 8">
              <a:extLst>
                <a:ext uri="{FF2B5EF4-FFF2-40B4-BE49-F238E27FC236}">
                  <a16:creationId xmlns:a16="http://schemas.microsoft.com/office/drawing/2014/main" id="{F5D61D72-A988-6BB6-F070-9414A8C456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00558" y="5690065"/>
              <a:ext cx="218336" cy="2303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16" name="Picture 8">
              <a:extLst>
                <a:ext uri="{FF2B5EF4-FFF2-40B4-BE49-F238E27FC236}">
                  <a16:creationId xmlns:a16="http://schemas.microsoft.com/office/drawing/2014/main" id="{F03E729E-30F6-CB79-B2F3-7DF2F0AD18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24466" y="5946737"/>
              <a:ext cx="186417" cy="1966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13" name="Picture 22" descr="Is Mesh Networking the Future of Internet Connectivity? | Read More">
              <a:extLst>
                <a:ext uri="{FF2B5EF4-FFF2-40B4-BE49-F238E27FC236}">
                  <a16:creationId xmlns:a16="http://schemas.microsoft.com/office/drawing/2014/main" id="{48B8D16B-37B8-B8DD-0370-8E9DADCC20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83483" y="5953962"/>
              <a:ext cx="296284" cy="2722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4" name="Immagine 2083" descr="Immagine che contiene elettronica, Dispositivo elettronico&#10;&#10;Il contenuto generato dall'IA potrebbe non essere corretto.">
              <a:extLst>
                <a:ext uri="{FF2B5EF4-FFF2-40B4-BE49-F238E27FC236}">
                  <a16:creationId xmlns:a16="http://schemas.microsoft.com/office/drawing/2014/main" id="{84997880-A830-0B84-D3E4-99A680DA5D1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59" r="41292" b="14280"/>
            <a:stretch>
              <a:fillRect/>
            </a:stretch>
          </p:blipFill>
          <p:spPr>
            <a:xfrm>
              <a:off x="5028635" y="5289519"/>
              <a:ext cx="549937" cy="1005194"/>
            </a:xfrm>
            <a:prstGeom prst="rect">
              <a:avLst/>
            </a:prstGeom>
          </p:spPr>
        </p:pic>
        <p:pic>
          <p:nvPicPr>
            <p:cNvPr id="2086" name="Picture 4" descr="Hacker Icon or Logo Isolated Graphic by jaroslavbrilew · Creative Fabrica">
              <a:extLst>
                <a:ext uri="{FF2B5EF4-FFF2-40B4-BE49-F238E27FC236}">
                  <a16:creationId xmlns:a16="http://schemas.microsoft.com/office/drawing/2014/main" id="{65045FFC-F32F-486D-C94A-B2048FE32DE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678" t="10106" r="30452" b="12062"/>
            <a:stretch/>
          </p:blipFill>
          <p:spPr bwMode="auto">
            <a:xfrm flipH="1">
              <a:off x="4802520" y="5525972"/>
              <a:ext cx="338170" cy="4405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10" name="Elemento grafico 2109" descr="Chiave con riempimento a tinta unita">
              <a:extLst>
                <a:ext uri="{FF2B5EF4-FFF2-40B4-BE49-F238E27FC236}">
                  <a16:creationId xmlns:a16="http://schemas.microsoft.com/office/drawing/2014/main" id="{E65714CA-CE91-9020-5E8F-CC1F6EFEDD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491868" y="5988021"/>
              <a:ext cx="370547" cy="370547"/>
            </a:xfrm>
            <a:prstGeom prst="rect">
              <a:avLst/>
            </a:prstGeom>
          </p:spPr>
        </p:pic>
      </p:grpSp>
      <p:sp>
        <p:nvSpPr>
          <p:cNvPr id="2118" name="CasellaDiTesto 2117">
            <a:extLst>
              <a:ext uri="{FF2B5EF4-FFF2-40B4-BE49-F238E27FC236}">
                <a16:creationId xmlns:a16="http://schemas.microsoft.com/office/drawing/2014/main" id="{3550C862-FB98-3774-A40A-FFF508EF4A70}"/>
              </a:ext>
            </a:extLst>
          </p:cNvPr>
          <p:cNvSpPr txBox="1"/>
          <p:nvPr/>
        </p:nvSpPr>
        <p:spPr>
          <a:xfrm>
            <a:off x="5473712" y="6373605"/>
            <a:ext cx="801989" cy="923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 anchorCtr="1">
            <a:spAutoFit/>
          </a:bodyPr>
          <a:lstStyle/>
          <a:p>
            <a:r>
              <a:rPr lang="en-US" sz="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Malicious Mesh Node</a:t>
            </a:r>
            <a:endParaRPr lang="it-IT" sz="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141" name="Elemento grafico 2140" descr="Chiave con riempimento a tinta unita">
            <a:extLst>
              <a:ext uri="{FF2B5EF4-FFF2-40B4-BE49-F238E27FC236}">
                <a16:creationId xmlns:a16="http://schemas.microsoft.com/office/drawing/2014/main" id="{D373C7C1-6D8A-6416-7FCB-C165DB289321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69138" y="4831263"/>
            <a:ext cx="370547" cy="370547"/>
          </a:xfrm>
          <a:prstGeom prst="rect">
            <a:avLst/>
          </a:prstGeom>
        </p:spPr>
      </p:pic>
      <p:pic>
        <p:nvPicPr>
          <p:cNvPr id="2146" name="Elemento grafico 2145" descr="Blocca con riempimento a tinta unita">
            <a:extLst>
              <a:ext uri="{FF2B5EF4-FFF2-40B4-BE49-F238E27FC236}">
                <a16:creationId xmlns:a16="http://schemas.microsoft.com/office/drawing/2014/main" id="{E8F86D27-D275-2133-802C-5DCD332E512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94397" y="4705782"/>
            <a:ext cx="326168" cy="326168"/>
          </a:xfrm>
          <a:prstGeom prst="rect">
            <a:avLst/>
          </a:prstGeom>
        </p:spPr>
      </p:pic>
      <p:pic>
        <p:nvPicPr>
          <p:cNvPr id="2147" name="Elemento grafico 2146" descr="Chiave con riempimento a tinta unita">
            <a:extLst>
              <a:ext uri="{FF2B5EF4-FFF2-40B4-BE49-F238E27FC236}">
                <a16:creationId xmlns:a16="http://schemas.microsoft.com/office/drawing/2014/main" id="{75BF9B60-43B0-A1B2-C4FE-FBE24DE61093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071435" y="4828212"/>
            <a:ext cx="370547" cy="370547"/>
          </a:xfrm>
          <a:prstGeom prst="rect">
            <a:avLst/>
          </a:prstGeom>
        </p:spPr>
      </p:pic>
      <p:pic>
        <p:nvPicPr>
          <p:cNvPr id="2148" name="Elemento grafico 2147" descr="Blocca con riempimento a tinta unita">
            <a:extLst>
              <a:ext uri="{FF2B5EF4-FFF2-40B4-BE49-F238E27FC236}">
                <a16:creationId xmlns:a16="http://schemas.microsoft.com/office/drawing/2014/main" id="{637F8A1E-D540-73B6-4469-250E8E8D2B7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896694" y="4702731"/>
            <a:ext cx="326168" cy="326168"/>
          </a:xfrm>
          <a:prstGeom prst="rect">
            <a:avLst/>
          </a:prstGeom>
        </p:spPr>
      </p:pic>
      <p:grpSp>
        <p:nvGrpSpPr>
          <p:cNvPr id="2224" name="Gruppo 2223">
            <a:extLst>
              <a:ext uri="{FF2B5EF4-FFF2-40B4-BE49-F238E27FC236}">
                <a16:creationId xmlns:a16="http://schemas.microsoft.com/office/drawing/2014/main" id="{5F73E720-87D6-5FA5-AC19-DA6D6EDF7A35}"/>
              </a:ext>
            </a:extLst>
          </p:cNvPr>
          <p:cNvGrpSpPr/>
          <p:nvPr/>
        </p:nvGrpSpPr>
        <p:grpSpPr>
          <a:xfrm>
            <a:off x="4716279" y="3817311"/>
            <a:ext cx="1109902" cy="1620449"/>
            <a:chOff x="4835793" y="3823780"/>
            <a:chExt cx="1109902" cy="1620449"/>
          </a:xfrm>
        </p:grpSpPr>
        <p:grpSp>
          <p:nvGrpSpPr>
            <p:cNvPr id="2223" name="Gruppo 2222">
              <a:extLst>
                <a:ext uri="{FF2B5EF4-FFF2-40B4-BE49-F238E27FC236}">
                  <a16:creationId xmlns:a16="http://schemas.microsoft.com/office/drawing/2014/main" id="{5821C860-2607-26D0-F107-32980AA899DB}"/>
                </a:ext>
              </a:extLst>
            </p:cNvPr>
            <p:cNvGrpSpPr/>
            <p:nvPr/>
          </p:nvGrpSpPr>
          <p:grpSpPr>
            <a:xfrm>
              <a:off x="4835793" y="3823780"/>
              <a:ext cx="1109902" cy="1598223"/>
              <a:chOff x="4835793" y="3823780"/>
              <a:chExt cx="1109902" cy="1598223"/>
            </a:xfrm>
          </p:grpSpPr>
          <p:grpSp>
            <p:nvGrpSpPr>
              <p:cNvPr id="2132" name="Gruppo 2131">
                <a:extLst>
                  <a:ext uri="{FF2B5EF4-FFF2-40B4-BE49-F238E27FC236}">
                    <a16:creationId xmlns:a16="http://schemas.microsoft.com/office/drawing/2014/main" id="{5DBC3F45-373C-3F83-5404-8FA6B5967893}"/>
                  </a:ext>
                </a:extLst>
              </p:cNvPr>
              <p:cNvGrpSpPr/>
              <p:nvPr/>
            </p:nvGrpSpPr>
            <p:grpSpPr>
              <a:xfrm>
                <a:off x="5499778" y="4934860"/>
                <a:ext cx="313279" cy="91198"/>
                <a:chOff x="3054058" y="3037574"/>
                <a:chExt cx="313279" cy="91198"/>
              </a:xfrm>
            </p:grpSpPr>
            <p:sp>
              <p:nvSpPr>
                <p:cNvPr id="2133" name="Rettangolo 2132">
                  <a:extLst>
                    <a:ext uri="{FF2B5EF4-FFF2-40B4-BE49-F238E27FC236}">
                      <a16:creationId xmlns:a16="http://schemas.microsoft.com/office/drawing/2014/main" id="{1BB15DC8-F088-2422-AC6B-D17E8668E629}"/>
                    </a:ext>
                  </a:extLst>
                </p:cNvPr>
                <p:cNvSpPr/>
                <p:nvPr/>
              </p:nvSpPr>
              <p:spPr>
                <a:xfrm>
                  <a:off x="3133990" y="3037574"/>
                  <a:ext cx="233347" cy="91198"/>
                </a:xfrm>
                <a:prstGeom prst="rect">
                  <a:avLst/>
                </a:prstGeom>
                <a:solidFill>
                  <a:srgbClr val="C0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134" name="Rettangolo 2133">
                  <a:extLst>
                    <a:ext uri="{FF2B5EF4-FFF2-40B4-BE49-F238E27FC236}">
                      <a16:creationId xmlns:a16="http://schemas.microsoft.com/office/drawing/2014/main" id="{9A22678A-6DD9-3A0E-AF71-E0BA23CCA971}"/>
                    </a:ext>
                  </a:extLst>
                </p:cNvPr>
                <p:cNvSpPr/>
                <p:nvPr/>
              </p:nvSpPr>
              <p:spPr>
                <a:xfrm>
                  <a:off x="3054058" y="3037574"/>
                  <a:ext cx="77246" cy="91198"/>
                </a:xfrm>
                <a:prstGeom prst="rect">
                  <a:avLst/>
                </a:prstGeom>
                <a:solidFill>
                  <a:srgbClr val="00B0F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222" name="Gruppo 2221">
                <a:extLst>
                  <a:ext uri="{FF2B5EF4-FFF2-40B4-BE49-F238E27FC236}">
                    <a16:creationId xmlns:a16="http://schemas.microsoft.com/office/drawing/2014/main" id="{DE9E38C4-AEB8-629D-3FBA-7103BB4BCFA2}"/>
                  </a:ext>
                </a:extLst>
              </p:cNvPr>
              <p:cNvGrpSpPr/>
              <p:nvPr/>
            </p:nvGrpSpPr>
            <p:grpSpPr>
              <a:xfrm>
                <a:off x="4835793" y="3823780"/>
                <a:ext cx="1109902" cy="1598223"/>
                <a:chOff x="4835793" y="3823780"/>
                <a:chExt cx="1109902" cy="1598223"/>
              </a:xfrm>
            </p:grpSpPr>
            <p:pic>
              <p:nvPicPr>
                <p:cNvPr id="2128" name="Picture 8">
                  <a:extLst>
                    <a:ext uri="{FF2B5EF4-FFF2-40B4-BE49-F238E27FC236}">
                      <a16:creationId xmlns:a16="http://schemas.microsoft.com/office/drawing/2014/main" id="{DF6D9625-57F9-8125-AEB6-CD2F8E3B5A3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835793" y="3860257"/>
                  <a:ext cx="184498" cy="19464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130" name="Picture 10" descr="Database icon - Download on Iconfinder on Iconfinder">
                  <a:extLst>
                    <a:ext uri="{FF2B5EF4-FFF2-40B4-BE49-F238E27FC236}">
                      <a16:creationId xmlns:a16="http://schemas.microsoft.com/office/drawing/2014/main" id="{5C6A03F0-712B-582A-D50E-87264DFA02C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5673008" y="5052670"/>
                  <a:ext cx="272687" cy="272687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grpSp>
              <p:nvGrpSpPr>
                <p:cNvPr id="2136" name="Gruppo 2135">
                  <a:extLst>
                    <a:ext uri="{FF2B5EF4-FFF2-40B4-BE49-F238E27FC236}">
                      <a16:creationId xmlns:a16="http://schemas.microsoft.com/office/drawing/2014/main" id="{FC8CF03C-EF78-551D-415F-4231EAD474A6}"/>
                    </a:ext>
                  </a:extLst>
                </p:cNvPr>
                <p:cNvGrpSpPr/>
                <p:nvPr/>
              </p:nvGrpSpPr>
              <p:grpSpPr>
                <a:xfrm>
                  <a:off x="5022218" y="3855565"/>
                  <a:ext cx="313279" cy="91198"/>
                  <a:chOff x="3054058" y="3037574"/>
                  <a:chExt cx="313279" cy="91198"/>
                </a:xfrm>
              </p:grpSpPr>
              <p:sp>
                <p:nvSpPr>
                  <p:cNvPr id="2137" name="Rettangolo 2136">
                    <a:extLst>
                      <a:ext uri="{FF2B5EF4-FFF2-40B4-BE49-F238E27FC236}">
                        <a16:creationId xmlns:a16="http://schemas.microsoft.com/office/drawing/2014/main" id="{8D335236-07A8-40C4-B2C5-2E2E2B0CA4F6}"/>
                      </a:ext>
                    </a:extLst>
                  </p:cNvPr>
                  <p:cNvSpPr/>
                  <p:nvPr/>
                </p:nvSpPr>
                <p:spPr>
                  <a:xfrm>
                    <a:off x="3133990" y="3037574"/>
                    <a:ext cx="233347" cy="91198"/>
                  </a:xfrm>
                  <a:prstGeom prst="rect">
                    <a:avLst/>
                  </a:prstGeom>
                  <a:solidFill>
                    <a:srgbClr val="C000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it-IT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38" name="Rettangolo 2137">
                    <a:extLst>
                      <a:ext uri="{FF2B5EF4-FFF2-40B4-BE49-F238E27FC236}">
                        <a16:creationId xmlns:a16="http://schemas.microsoft.com/office/drawing/2014/main" id="{E6EC0D17-8617-7A51-AF2A-017B85C0E63B}"/>
                      </a:ext>
                    </a:extLst>
                  </p:cNvPr>
                  <p:cNvSpPr/>
                  <p:nvPr/>
                </p:nvSpPr>
                <p:spPr>
                  <a:xfrm>
                    <a:off x="3054058" y="3037574"/>
                    <a:ext cx="77246" cy="91198"/>
                  </a:xfrm>
                  <a:prstGeom prst="rect">
                    <a:avLst/>
                  </a:prstGeom>
                  <a:solidFill>
                    <a:srgbClr val="00B0F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it-IT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2152" name="Freccia a destra 2151">
                  <a:extLst>
                    <a:ext uri="{FF2B5EF4-FFF2-40B4-BE49-F238E27FC236}">
                      <a16:creationId xmlns:a16="http://schemas.microsoft.com/office/drawing/2014/main" id="{8C8D2F79-F165-521E-3B04-8227D729163C}"/>
                    </a:ext>
                  </a:extLst>
                </p:cNvPr>
                <p:cNvSpPr/>
                <p:nvPr/>
              </p:nvSpPr>
              <p:spPr>
                <a:xfrm rot="5552704" flipH="1">
                  <a:off x="5065159" y="4026201"/>
                  <a:ext cx="91198" cy="68558"/>
                </a:xfrm>
                <a:prstGeom prst="rightArrow">
                  <a:avLst>
                    <a:gd name="adj1" fmla="val 0"/>
                    <a:gd name="adj2" fmla="val 57692"/>
                  </a:avLst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cxnSp>
              <p:nvCxnSpPr>
                <p:cNvPr id="2157" name="Connettore a gomito 2156">
                  <a:extLst>
                    <a:ext uri="{FF2B5EF4-FFF2-40B4-BE49-F238E27FC236}">
                      <a16:creationId xmlns:a16="http://schemas.microsoft.com/office/drawing/2014/main" id="{BFDDB0C7-3CB7-6DC0-8D4B-57CB061C1227}"/>
                    </a:ext>
                  </a:extLst>
                </p:cNvPr>
                <p:cNvCxnSpPr>
                  <a:cxnSpLocks/>
                  <a:stCxn id="2152" idx="1"/>
                  <a:endCxn id="2149" idx="1"/>
                </p:cNvCxnSpPr>
                <p:nvPr/>
              </p:nvCxnSpPr>
              <p:spPr>
                <a:xfrm rot="16200000" flipH="1">
                  <a:off x="4698305" y="4516462"/>
                  <a:ext cx="1211010" cy="390154"/>
                </a:xfrm>
                <a:prstGeom prst="bentConnector2">
                  <a:avLst/>
                </a:prstGeom>
                <a:ln w="19050" cap="flat" cmpd="sng" algn="ctr">
                  <a:solidFill>
                    <a:srgbClr val="FF0000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2160" name="Connettore 2 2159">
                  <a:extLst>
                    <a:ext uri="{FF2B5EF4-FFF2-40B4-BE49-F238E27FC236}">
                      <a16:creationId xmlns:a16="http://schemas.microsoft.com/office/drawing/2014/main" id="{027C5501-7328-56C9-CEBE-A60643A0E6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498887" y="3823780"/>
                  <a:ext cx="1118" cy="1011106"/>
                </a:xfrm>
                <a:prstGeom prst="straightConnector1">
                  <a:avLst/>
                </a:prstGeom>
                <a:ln w="19050" cap="flat" cmpd="sng" algn="ctr">
                  <a:solidFill>
                    <a:srgbClr val="FF0000"/>
                  </a:solidFill>
                  <a:prstDash val="sys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sp>
              <p:nvSpPr>
                <p:cNvPr id="2161" name="Freccia a destra 2160">
                  <a:extLst>
                    <a:ext uri="{FF2B5EF4-FFF2-40B4-BE49-F238E27FC236}">
                      <a16:creationId xmlns:a16="http://schemas.microsoft.com/office/drawing/2014/main" id="{31DBA049-E279-D899-FC77-EA98BBB43C00}"/>
                    </a:ext>
                  </a:extLst>
                </p:cNvPr>
                <p:cNvSpPr/>
                <p:nvPr/>
              </p:nvSpPr>
              <p:spPr>
                <a:xfrm rot="16200000" flipH="1">
                  <a:off x="5462414" y="4800813"/>
                  <a:ext cx="91198" cy="68558"/>
                </a:xfrm>
                <a:prstGeom prst="rightArrow">
                  <a:avLst>
                    <a:gd name="adj1" fmla="val 0"/>
                    <a:gd name="adj2" fmla="val 57692"/>
                  </a:avLst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cxnSp>
              <p:nvCxnSpPr>
                <p:cNvPr id="2163" name="Connettore 2 2162">
                  <a:extLst>
                    <a:ext uri="{FF2B5EF4-FFF2-40B4-BE49-F238E27FC236}">
                      <a16:creationId xmlns:a16="http://schemas.microsoft.com/office/drawing/2014/main" id="{05890174-43C2-89DD-0DD6-334F2298BB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548479" y="5063614"/>
                  <a:ext cx="108934" cy="125400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prstDash val="sysDash"/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pic>
              <p:nvPicPr>
                <p:cNvPr id="2149" name="Elemento grafico 2148" descr="Clessidra 60% contorno">
                  <a:extLst>
                    <a:ext uri="{FF2B5EF4-FFF2-40B4-BE49-F238E27FC236}">
                      <a16:creationId xmlns:a16="http://schemas.microsoft.com/office/drawing/2014/main" id="{60D73900-DD0E-9E21-50CA-EB43F40B8A3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498887" y="5212084"/>
                  <a:ext cx="209919" cy="209919"/>
                </a:xfrm>
                <a:prstGeom prst="rect">
                  <a:avLst/>
                </a:prstGeom>
              </p:spPr>
            </p:pic>
          </p:grpSp>
        </p:grpSp>
        <p:sp>
          <p:nvSpPr>
            <p:cNvPr id="2169" name="CasellaDiTesto 2168">
              <a:extLst>
                <a:ext uri="{FF2B5EF4-FFF2-40B4-BE49-F238E27FC236}">
                  <a16:creationId xmlns:a16="http://schemas.microsoft.com/office/drawing/2014/main" id="{EBBBB379-5396-5197-AC46-F22E7B2889F2}"/>
                </a:ext>
              </a:extLst>
            </p:cNvPr>
            <p:cNvSpPr txBox="1"/>
            <p:nvPr/>
          </p:nvSpPr>
          <p:spPr>
            <a:xfrm>
              <a:off x="4902720" y="5351896"/>
              <a:ext cx="542471" cy="923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lIns="0" tIns="0" rIns="0" bIns="0" rtlCol="0" anchor="ctr" anchorCtr="1">
              <a:spAutoFit/>
            </a:bodyPr>
            <a:lstStyle/>
            <a:p>
              <a:r>
                <a:rPr lang="en-US" sz="6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Replay</a:t>
              </a:r>
              <a:endParaRPr lang="it-IT" sz="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225" name="Gruppo 2224">
            <a:extLst>
              <a:ext uri="{FF2B5EF4-FFF2-40B4-BE49-F238E27FC236}">
                <a16:creationId xmlns:a16="http://schemas.microsoft.com/office/drawing/2014/main" id="{DC27EE98-8149-D919-D0FC-B4985CF1F567}"/>
              </a:ext>
            </a:extLst>
          </p:cNvPr>
          <p:cNvGrpSpPr/>
          <p:nvPr/>
        </p:nvGrpSpPr>
        <p:grpSpPr>
          <a:xfrm>
            <a:off x="6192813" y="3496013"/>
            <a:ext cx="917822" cy="2145507"/>
            <a:chOff x="6192813" y="3496013"/>
            <a:chExt cx="917822" cy="2145507"/>
          </a:xfrm>
        </p:grpSpPr>
        <p:grpSp>
          <p:nvGrpSpPr>
            <p:cNvPr id="2170" name="Gruppo 2169">
              <a:extLst>
                <a:ext uri="{FF2B5EF4-FFF2-40B4-BE49-F238E27FC236}">
                  <a16:creationId xmlns:a16="http://schemas.microsoft.com/office/drawing/2014/main" id="{B6E1DF7F-304F-A42C-B214-222BCCBC6AA9}"/>
                </a:ext>
              </a:extLst>
            </p:cNvPr>
            <p:cNvGrpSpPr/>
            <p:nvPr/>
          </p:nvGrpSpPr>
          <p:grpSpPr>
            <a:xfrm>
              <a:off x="6426112" y="3581400"/>
              <a:ext cx="313279" cy="91198"/>
              <a:chOff x="3054058" y="3037574"/>
              <a:chExt cx="313279" cy="91198"/>
            </a:xfrm>
          </p:grpSpPr>
          <p:sp>
            <p:nvSpPr>
              <p:cNvPr id="2171" name="Rettangolo 2170">
                <a:extLst>
                  <a:ext uri="{FF2B5EF4-FFF2-40B4-BE49-F238E27FC236}">
                    <a16:creationId xmlns:a16="http://schemas.microsoft.com/office/drawing/2014/main" id="{43390B62-3A2E-8CCB-A8B1-57B1F776CEF1}"/>
                  </a:ext>
                </a:extLst>
              </p:cNvPr>
              <p:cNvSpPr/>
              <p:nvPr/>
            </p:nvSpPr>
            <p:spPr>
              <a:xfrm>
                <a:off x="3133990" y="3037574"/>
                <a:ext cx="233347" cy="91198"/>
              </a:xfrm>
              <a:prstGeom prst="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172" name="Rettangolo 2171">
                <a:extLst>
                  <a:ext uri="{FF2B5EF4-FFF2-40B4-BE49-F238E27FC236}">
                    <a16:creationId xmlns:a16="http://schemas.microsoft.com/office/drawing/2014/main" id="{7ED008D9-4E46-9921-D43B-E596F0AA5719}"/>
                  </a:ext>
                </a:extLst>
              </p:cNvPr>
              <p:cNvSpPr/>
              <p:nvPr/>
            </p:nvSpPr>
            <p:spPr>
              <a:xfrm>
                <a:off x="3054058" y="3037574"/>
                <a:ext cx="77246" cy="91198"/>
              </a:xfrm>
              <a:prstGeom prst="rect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cxnSp>
          <p:nvCxnSpPr>
            <p:cNvPr id="2173" name="Connettore a gomito 2172">
              <a:extLst>
                <a:ext uri="{FF2B5EF4-FFF2-40B4-BE49-F238E27FC236}">
                  <a16:creationId xmlns:a16="http://schemas.microsoft.com/office/drawing/2014/main" id="{52B099C2-C009-92EF-AA1B-2263B21C2C4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449688" y="4453087"/>
              <a:ext cx="1931558" cy="445307"/>
            </a:xfrm>
            <a:prstGeom prst="bentConnector3">
              <a:avLst>
                <a:gd name="adj1" fmla="val 69005"/>
              </a:avLst>
            </a:prstGeom>
            <a:ln w="1905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pic>
          <p:nvPicPr>
            <p:cNvPr id="2181" name="Elemento grafico 2180" descr="Chiudi con riempimento a tinta unita">
              <a:extLst>
                <a:ext uri="{FF2B5EF4-FFF2-40B4-BE49-F238E27FC236}">
                  <a16:creationId xmlns:a16="http://schemas.microsoft.com/office/drawing/2014/main" id="{241E109A-F35F-A119-A07B-2A97CD2C7CD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822987" y="3496013"/>
              <a:ext cx="287648" cy="287648"/>
            </a:xfrm>
            <a:prstGeom prst="rect">
              <a:avLst/>
            </a:prstGeom>
          </p:spPr>
        </p:pic>
      </p:grpSp>
      <p:sp>
        <p:nvSpPr>
          <p:cNvPr id="2183" name="Freccia a destra 2182">
            <a:extLst>
              <a:ext uri="{FF2B5EF4-FFF2-40B4-BE49-F238E27FC236}">
                <a16:creationId xmlns:a16="http://schemas.microsoft.com/office/drawing/2014/main" id="{B7CF1684-0C3D-1276-6833-9AA9C44D4522}"/>
              </a:ext>
            </a:extLst>
          </p:cNvPr>
          <p:cNvSpPr/>
          <p:nvPr/>
        </p:nvSpPr>
        <p:spPr>
          <a:xfrm rot="10800000" flipH="1">
            <a:off x="6775986" y="3600313"/>
            <a:ext cx="90240" cy="68558"/>
          </a:xfrm>
          <a:prstGeom prst="rightArrow">
            <a:avLst>
              <a:gd name="adj1" fmla="val 0"/>
              <a:gd name="adj2" fmla="val 5769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86" name="Cilindro 2185">
            <a:extLst>
              <a:ext uri="{FF2B5EF4-FFF2-40B4-BE49-F238E27FC236}">
                <a16:creationId xmlns:a16="http://schemas.microsoft.com/office/drawing/2014/main" id="{715C9698-B1F0-A095-FC44-C54191D9F230}"/>
              </a:ext>
            </a:extLst>
          </p:cNvPr>
          <p:cNvSpPr/>
          <p:nvPr/>
        </p:nvSpPr>
        <p:spPr>
          <a:xfrm rot="16200000">
            <a:off x="5764720" y="2124125"/>
            <a:ext cx="361950" cy="4785278"/>
          </a:xfrm>
          <a:prstGeom prst="can">
            <a:avLst/>
          </a:prstGeom>
          <a:solidFill>
            <a:srgbClr val="C000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226" name="Gruppo 2225">
            <a:extLst>
              <a:ext uri="{FF2B5EF4-FFF2-40B4-BE49-F238E27FC236}">
                <a16:creationId xmlns:a16="http://schemas.microsoft.com/office/drawing/2014/main" id="{BB7EB985-5604-0E94-A526-E3624C689A52}"/>
              </a:ext>
            </a:extLst>
          </p:cNvPr>
          <p:cNvGrpSpPr/>
          <p:nvPr/>
        </p:nvGrpSpPr>
        <p:grpSpPr>
          <a:xfrm>
            <a:off x="6153845" y="4741708"/>
            <a:ext cx="2022561" cy="1013143"/>
            <a:chOff x="6106124" y="4726821"/>
            <a:chExt cx="2022561" cy="1013143"/>
          </a:xfrm>
        </p:grpSpPr>
        <p:pic>
          <p:nvPicPr>
            <p:cNvPr id="2215" name="Picture 8">
              <a:extLst>
                <a:ext uri="{FF2B5EF4-FFF2-40B4-BE49-F238E27FC236}">
                  <a16:creationId xmlns:a16="http://schemas.microsoft.com/office/drawing/2014/main" id="{FBA93C7C-4D41-72A3-FBEC-5EFA6D73BC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55469" y="4750489"/>
              <a:ext cx="173216" cy="1827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193" name="Connettore a gomito 2192">
              <a:extLst>
                <a:ext uri="{FF2B5EF4-FFF2-40B4-BE49-F238E27FC236}">
                  <a16:creationId xmlns:a16="http://schemas.microsoft.com/office/drawing/2014/main" id="{7045ECB2-87BA-1921-4DCD-1366C4A222CC}"/>
                </a:ext>
              </a:extLst>
            </p:cNvPr>
            <p:cNvCxnSpPr>
              <a:cxnSpLocks/>
              <a:endCxn id="2213" idx="2"/>
            </p:cNvCxnSpPr>
            <p:nvPr/>
          </p:nvCxnSpPr>
          <p:spPr>
            <a:xfrm flipV="1">
              <a:off x="6106124" y="4818019"/>
              <a:ext cx="1751930" cy="921945"/>
            </a:xfrm>
            <a:prstGeom prst="bentConnector2">
              <a:avLst/>
            </a:prstGeom>
            <a:ln w="1905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213" name="Rettangolo 2212">
              <a:extLst>
                <a:ext uri="{FF2B5EF4-FFF2-40B4-BE49-F238E27FC236}">
                  <a16:creationId xmlns:a16="http://schemas.microsoft.com/office/drawing/2014/main" id="{66815025-8FDA-C61F-9DB2-27FA953105A2}"/>
                </a:ext>
              </a:extLst>
            </p:cNvPr>
            <p:cNvSpPr/>
            <p:nvPr/>
          </p:nvSpPr>
          <p:spPr>
            <a:xfrm>
              <a:off x="7741380" y="4726821"/>
              <a:ext cx="233347" cy="91198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2228" name="CasellaDiTesto 2227">
            <a:extLst>
              <a:ext uri="{FF2B5EF4-FFF2-40B4-BE49-F238E27FC236}">
                <a16:creationId xmlns:a16="http://schemas.microsoft.com/office/drawing/2014/main" id="{5B379401-EBF1-7BF8-8762-AB39184C8B41}"/>
              </a:ext>
            </a:extLst>
          </p:cNvPr>
          <p:cNvSpPr txBox="1"/>
          <p:nvPr/>
        </p:nvSpPr>
        <p:spPr>
          <a:xfrm>
            <a:off x="7557556" y="5809163"/>
            <a:ext cx="542471" cy="923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 anchorCtr="1">
            <a:spAutoFit/>
          </a:bodyPr>
          <a:lstStyle/>
          <a:p>
            <a:r>
              <a:rPr lang="en-US" sz="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Injection</a:t>
            </a:r>
          </a:p>
        </p:txBody>
      </p:sp>
    </p:spTree>
    <p:extLst>
      <p:ext uri="{BB962C8B-B14F-4D97-AF65-F5344CB8AC3E}">
        <p14:creationId xmlns:p14="http://schemas.microsoft.com/office/powerpoint/2010/main" val="292562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67DBB-5568-ADD1-1A3C-20E766CA0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2F53C4E9-2FBA-A2CB-9966-F05442E49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Anno accademico 2025/2026</a:t>
            </a:r>
            <a:endParaRPr lang="it-I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EB0102D-0678-4E98-E4BC-3EEB6D331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457C4-41BA-4245-A517-1492C4EB6DD6}" type="slidenum">
              <a:rPr lang="it-IT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</a:t>
            </a:fld>
            <a:endParaRPr lang="it-I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22D3F771-9232-C737-E621-8B5EA1DB611E}"/>
              </a:ext>
            </a:extLst>
          </p:cNvPr>
          <p:cNvSpPr txBox="1">
            <a:spLocks/>
          </p:cNvSpPr>
          <p:nvPr/>
        </p:nvSpPr>
        <p:spPr>
          <a:xfrm>
            <a:off x="479385" y="745808"/>
            <a:ext cx="10515600" cy="37822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Modello di Sicurezza a Profili di Rischio</a:t>
            </a:r>
          </a:p>
        </p:txBody>
      </p:sp>
      <p:sp>
        <p:nvSpPr>
          <p:cNvPr id="14" name="object 3">
            <a:extLst>
              <a:ext uri="{FF2B5EF4-FFF2-40B4-BE49-F238E27FC236}">
                <a16:creationId xmlns:a16="http://schemas.microsoft.com/office/drawing/2014/main" id="{BDF96A9C-B5BF-D2BF-8DE8-6AA339A7F705}"/>
              </a:ext>
            </a:extLst>
          </p:cNvPr>
          <p:cNvSpPr/>
          <p:nvPr/>
        </p:nvSpPr>
        <p:spPr>
          <a:xfrm>
            <a:off x="592670" y="677862"/>
            <a:ext cx="1041400" cy="67945"/>
          </a:xfrm>
          <a:custGeom>
            <a:avLst/>
            <a:gdLst/>
            <a:ahLst/>
            <a:cxnLst/>
            <a:rect l="l" t="t" r="r" b="b"/>
            <a:pathLst>
              <a:path w="1041400" h="67945">
                <a:moveTo>
                  <a:pt x="1041400" y="0"/>
                </a:moveTo>
                <a:lnTo>
                  <a:pt x="0" y="0"/>
                </a:lnTo>
                <a:lnTo>
                  <a:pt x="0" y="67729"/>
                </a:lnTo>
                <a:lnTo>
                  <a:pt x="1041400" y="67729"/>
                </a:lnTo>
                <a:lnTo>
                  <a:pt x="1041400" y="0"/>
                </a:lnTo>
                <a:close/>
              </a:path>
            </a:pathLst>
          </a:custGeom>
          <a:solidFill>
            <a:srgbClr val="F0A024"/>
          </a:solidFill>
        </p:spPr>
        <p:txBody>
          <a:bodyPr wrap="square" lIns="0" tIns="0" rIns="0" bIns="0" rtlCol="0"/>
          <a:lstStyle/>
          <a:p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Segnaposto data 1">
            <a:extLst>
              <a:ext uri="{FF2B5EF4-FFF2-40B4-BE49-F238E27FC236}">
                <a16:creationId xmlns:a16="http://schemas.microsoft.com/office/drawing/2014/main" id="{D1B3463F-9EAE-8F20-8B2C-C36FEE4B4A33}"/>
              </a:ext>
            </a:extLst>
          </p:cNvPr>
          <p:cNvSpPr txBox="1">
            <a:spLocks/>
          </p:cNvSpPr>
          <p:nvPr/>
        </p:nvSpPr>
        <p:spPr>
          <a:xfrm>
            <a:off x="838200" y="64579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Anno accademico 2025/2026</a:t>
            </a:r>
            <a:endParaRPr lang="it-I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Segnaposto numero diapositiva 3">
            <a:extLst>
              <a:ext uri="{FF2B5EF4-FFF2-40B4-BE49-F238E27FC236}">
                <a16:creationId xmlns:a16="http://schemas.microsoft.com/office/drawing/2014/main" id="{154C87F0-904B-2E0E-FEA0-BA610FB5AEA9}"/>
              </a:ext>
            </a:extLst>
          </p:cNvPr>
          <p:cNvSpPr txBox="1">
            <a:spLocks/>
          </p:cNvSpPr>
          <p:nvPr/>
        </p:nvSpPr>
        <p:spPr>
          <a:xfrm>
            <a:off x="8610600" y="647827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DF457C4-41BA-4245-A517-1492C4EB6DD6}" type="slidenum">
              <a:rPr lang="it-IT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/>
              <a:t>8</a:t>
            </a:fld>
            <a:endParaRPr lang="it-I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5" name="AutoShape 8" descr="Generazione immagine completata">
            <a:extLst>
              <a:ext uri="{FF2B5EF4-FFF2-40B4-BE49-F238E27FC236}">
                <a16:creationId xmlns:a16="http://schemas.microsoft.com/office/drawing/2014/main" id="{7B8C0970-A325-EAF0-A76F-F5B3F64399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81967" y="353268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7" name="AutoShape 14" descr="Come calcolare il proprio profilo di rischio | IG Italia">
            <a:extLst>
              <a:ext uri="{FF2B5EF4-FFF2-40B4-BE49-F238E27FC236}">
                <a16:creationId xmlns:a16="http://schemas.microsoft.com/office/drawing/2014/main" id="{7DC12400-7E90-E682-95A2-4AED7015A15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34367" y="368508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F3524E05-6EDE-2025-D392-01AEF5FD9C53}"/>
              </a:ext>
            </a:extLst>
          </p:cNvPr>
          <p:cNvSpPr/>
          <p:nvPr/>
        </p:nvSpPr>
        <p:spPr>
          <a:xfrm>
            <a:off x="0" y="6571000"/>
            <a:ext cx="12192000" cy="297048"/>
          </a:xfrm>
          <a:prstGeom prst="rect">
            <a:avLst/>
          </a:prstGeom>
          <a:solidFill>
            <a:srgbClr val="AB27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egnaposto data 1">
            <a:extLst>
              <a:ext uri="{FF2B5EF4-FFF2-40B4-BE49-F238E27FC236}">
                <a16:creationId xmlns:a16="http://schemas.microsoft.com/office/drawing/2014/main" id="{4004E1A9-6C3D-BA47-E95B-797F37C8A9AE}"/>
              </a:ext>
            </a:extLst>
          </p:cNvPr>
          <p:cNvSpPr txBox="1">
            <a:spLocks/>
          </p:cNvSpPr>
          <p:nvPr/>
        </p:nvSpPr>
        <p:spPr>
          <a:xfrm>
            <a:off x="838200" y="65532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Anno accademico 2025/2026</a:t>
            </a:r>
            <a:endParaRPr lang="it-I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egnaposto piè di pagina 2">
            <a:extLst>
              <a:ext uri="{FF2B5EF4-FFF2-40B4-BE49-F238E27FC236}">
                <a16:creationId xmlns:a16="http://schemas.microsoft.com/office/drawing/2014/main" id="{04C3F3B0-B50A-2C96-C924-C997379C4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7106" y="6552951"/>
            <a:ext cx="5447030" cy="365125"/>
          </a:xfrm>
        </p:spPr>
        <p:txBody>
          <a:bodyPr/>
          <a:lstStyle/>
          <a:p>
            <a:pPr algn="l"/>
            <a:r>
              <a:rPr lang="it-IT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Reti Mesh Decentralizzate </a:t>
            </a:r>
            <a:r>
              <a:rPr lang="it-IT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LoRa</a:t>
            </a:r>
            <a:r>
              <a:rPr lang="it-IT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per la </a:t>
            </a:r>
            <a:r>
              <a:rPr lang="it-IT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Situational</a:t>
            </a:r>
            <a:r>
              <a:rPr lang="it-IT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Awareness</a:t>
            </a:r>
            <a:r>
              <a:rPr lang="it-IT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Contesti Off-</a:t>
            </a:r>
            <a:r>
              <a:rPr lang="it-IT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Grid</a:t>
            </a:r>
            <a:endParaRPr lang="it-I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Segnaposto numero diapositiva 3">
            <a:extLst>
              <a:ext uri="{FF2B5EF4-FFF2-40B4-BE49-F238E27FC236}">
                <a16:creationId xmlns:a16="http://schemas.microsoft.com/office/drawing/2014/main" id="{8360A96D-0C58-CAC9-8BCD-8D1C81535079}"/>
              </a:ext>
            </a:extLst>
          </p:cNvPr>
          <p:cNvSpPr txBox="1">
            <a:spLocks/>
          </p:cNvSpPr>
          <p:nvPr/>
        </p:nvSpPr>
        <p:spPr>
          <a:xfrm>
            <a:off x="8610600" y="65100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DF457C4-41BA-4245-A517-1492C4EB6DD6}" type="slidenum">
              <a:rPr lang="it-IT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/>
              <a:t>8</a:t>
            </a:fld>
            <a:endParaRPr lang="it-I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Segnaposto contenuto 3">
            <a:extLst>
              <a:ext uri="{FF2B5EF4-FFF2-40B4-BE49-F238E27FC236}">
                <a16:creationId xmlns:a16="http://schemas.microsoft.com/office/drawing/2014/main" id="{F0212C3C-1EEA-8C85-67D9-F920ECE41CC2}"/>
              </a:ext>
            </a:extLst>
          </p:cNvPr>
          <p:cNvSpPr txBox="1">
            <a:spLocks/>
          </p:cNvSpPr>
          <p:nvPr/>
        </p:nvSpPr>
        <p:spPr>
          <a:xfrm>
            <a:off x="5716131" y="1585735"/>
            <a:ext cx="4910359" cy="266027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it-I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D971BEE8-F697-8148-FF5A-1A96D9799D32}"/>
              </a:ext>
            </a:extLst>
          </p:cNvPr>
          <p:cNvSpPr/>
          <p:nvPr/>
        </p:nvSpPr>
        <p:spPr>
          <a:xfrm>
            <a:off x="245247" y="1697265"/>
            <a:ext cx="2894216" cy="2288091"/>
          </a:xfrm>
          <a:prstGeom prst="rect">
            <a:avLst/>
          </a:prstGeom>
          <a:solidFill>
            <a:srgbClr val="92D050">
              <a:alpha val="30000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itolo 1">
            <a:extLst>
              <a:ext uri="{FF2B5EF4-FFF2-40B4-BE49-F238E27FC236}">
                <a16:creationId xmlns:a16="http://schemas.microsoft.com/office/drawing/2014/main" id="{1880E6EB-4730-629B-27CB-54CD5F44C044}"/>
              </a:ext>
            </a:extLst>
          </p:cNvPr>
          <p:cNvSpPr txBox="1">
            <a:spLocks/>
          </p:cNvSpPr>
          <p:nvPr/>
        </p:nvSpPr>
        <p:spPr>
          <a:xfrm>
            <a:off x="876567" y="621213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it-IT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07FF9162-C948-141E-44ED-795FC0BE1B86}"/>
              </a:ext>
            </a:extLst>
          </p:cNvPr>
          <p:cNvSpPr/>
          <p:nvPr/>
        </p:nvSpPr>
        <p:spPr>
          <a:xfrm>
            <a:off x="7789666" y="1503904"/>
            <a:ext cx="4137408" cy="26061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87605B2F-6823-2E83-7710-77A17622B609}"/>
              </a:ext>
            </a:extLst>
          </p:cNvPr>
          <p:cNvSpPr/>
          <p:nvPr/>
        </p:nvSpPr>
        <p:spPr>
          <a:xfrm>
            <a:off x="3252839" y="1503893"/>
            <a:ext cx="4480917" cy="26062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228367E0-E595-DA2F-9B11-B94E9DA5FEAF}"/>
              </a:ext>
            </a:extLst>
          </p:cNvPr>
          <p:cNvSpPr/>
          <p:nvPr/>
        </p:nvSpPr>
        <p:spPr>
          <a:xfrm>
            <a:off x="243513" y="1503893"/>
            <a:ext cx="2894216" cy="26062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2292F970-C77D-0A5D-2C8C-4FA7F5D0BF02}"/>
              </a:ext>
            </a:extLst>
          </p:cNvPr>
          <p:cNvSpPr txBox="1"/>
          <p:nvPr/>
        </p:nvSpPr>
        <p:spPr>
          <a:xfrm>
            <a:off x="1278488" y="1442876"/>
            <a:ext cx="734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Basso</a:t>
            </a:r>
            <a:endParaRPr lang="it-IT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0C4E5593-1A45-34D7-0137-70EDE6B7B77B}"/>
              </a:ext>
            </a:extLst>
          </p:cNvPr>
          <p:cNvSpPr txBox="1"/>
          <p:nvPr/>
        </p:nvSpPr>
        <p:spPr>
          <a:xfrm>
            <a:off x="4956659" y="1435654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Medio</a:t>
            </a:r>
            <a:endParaRPr lang="it-IT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3EEE11A9-3528-0F11-ED31-107A4CE14F04}"/>
              </a:ext>
            </a:extLst>
          </p:cNvPr>
          <p:cNvSpPr txBox="1"/>
          <p:nvPr/>
        </p:nvSpPr>
        <p:spPr>
          <a:xfrm>
            <a:off x="9697484" y="1449537"/>
            <a:ext cx="581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Alto</a:t>
            </a:r>
            <a:endParaRPr lang="it-IT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27F7C61D-AEE6-7160-7664-5AE7259E0E47}"/>
              </a:ext>
            </a:extLst>
          </p:cNvPr>
          <p:cNvSpPr txBox="1"/>
          <p:nvPr/>
        </p:nvSpPr>
        <p:spPr>
          <a:xfrm>
            <a:off x="340283" y="2339208"/>
            <a:ext cx="25206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Compliance normative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Configurazione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standard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componenti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(Firmware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Meshtastic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 ATAK-CIV)</a:t>
            </a:r>
          </a:p>
        </p:txBody>
      </p:sp>
      <p:sp>
        <p:nvSpPr>
          <p:cNvPr id="32" name="Rettangolo 31">
            <a:extLst>
              <a:ext uri="{FF2B5EF4-FFF2-40B4-BE49-F238E27FC236}">
                <a16:creationId xmlns:a16="http://schemas.microsoft.com/office/drawing/2014/main" id="{56746CE3-562F-FA26-D178-250251D55950}"/>
              </a:ext>
            </a:extLst>
          </p:cNvPr>
          <p:cNvSpPr/>
          <p:nvPr/>
        </p:nvSpPr>
        <p:spPr>
          <a:xfrm>
            <a:off x="3252089" y="1762586"/>
            <a:ext cx="4475677" cy="4593763"/>
          </a:xfrm>
          <a:prstGeom prst="rect">
            <a:avLst/>
          </a:prstGeom>
          <a:solidFill>
            <a:srgbClr val="FFC000">
              <a:alpha val="3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1008ED8B-E2F6-6D76-EE18-02499C4687B8}"/>
              </a:ext>
            </a:extLst>
          </p:cNvPr>
          <p:cNvSpPr/>
          <p:nvPr/>
        </p:nvSpPr>
        <p:spPr>
          <a:xfrm>
            <a:off x="7789665" y="1764514"/>
            <a:ext cx="4137408" cy="4591835"/>
          </a:xfrm>
          <a:prstGeom prst="rect">
            <a:avLst/>
          </a:prstGeom>
          <a:solidFill>
            <a:srgbClr val="FF0000">
              <a:alpha val="3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Rettangolo 33">
            <a:extLst>
              <a:ext uri="{FF2B5EF4-FFF2-40B4-BE49-F238E27FC236}">
                <a16:creationId xmlns:a16="http://schemas.microsoft.com/office/drawing/2014/main" id="{EE5275E1-799D-04B8-A46E-BA236EC7FD55}"/>
              </a:ext>
            </a:extLst>
          </p:cNvPr>
          <p:cNvSpPr/>
          <p:nvPr/>
        </p:nvSpPr>
        <p:spPr>
          <a:xfrm>
            <a:off x="3335520" y="4356297"/>
            <a:ext cx="8536394" cy="1906301"/>
          </a:xfrm>
          <a:prstGeom prst="rect">
            <a:avLst/>
          </a:prstGeom>
          <a:solidFill>
            <a:srgbClr val="F7F7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endParaRPr lang="it-IT" sz="12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5" name="Immagine 34" descr="Immagine che contiene cartone animato&#10;&#10;Il contenuto generato dall'IA potrebbe non essere corretto.">
            <a:extLst>
              <a:ext uri="{FF2B5EF4-FFF2-40B4-BE49-F238E27FC236}">
                <a16:creationId xmlns:a16="http://schemas.microsoft.com/office/drawing/2014/main" id="{80F6F5F1-77BC-5F5B-49F7-CE972B83F6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9983" y="3362481"/>
            <a:ext cx="521275" cy="521275"/>
          </a:xfrm>
          <a:prstGeom prst="rect">
            <a:avLst/>
          </a:prstGeom>
        </p:spPr>
      </p:pic>
      <p:pic>
        <p:nvPicPr>
          <p:cNvPr id="36" name="Immagine 35" descr="Immagine che contiene Elementi grafici, grafica, simbolo, clipart&#10;&#10;Il contenuto generato dall'IA potrebbe non essere corretto.">
            <a:extLst>
              <a:ext uri="{FF2B5EF4-FFF2-40B4-BE49-F238E27FC236}">
                <a16:creationId xmlns:a16="http://schemas.microsoft.com/office/drawing/2014/main" id="{3D84637E-A65C-90FC-6697-5AE8C8CDCE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0239" y="2239115"/>
            <a:ext cx="251041" cy="251041"/>
          </a:xfrm>
          <a:prstGeom prst="rect">
            <a:avLst/>
          </a:prstGeom>
        </p:spPr>
      </p:pic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12F1DA91-37DB-3928-3424-409E61B8D063}"/>
              </a:ext>
            </a:extLst>
          </p:cNvPr>
          <p:cNvSpPr txBox="1"/>
          <p:nvPr/>
        </p:nvSpPr>
        <p:spPr>
          <a:xfrm>
            <a:off x="3233796" y="2138302"/>
            <a:ext cx="13118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it-IT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 sui messaggi di canale</a:t>
            </a: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D82BA1F4-643F-A63B-A1C5-67064C534382}"/>
              </a:ext>
            </a:extLst>
          </p:cNvPr>
          <p:cNvSpPr txBox="1"/>
          <p:nvPr/>
        </p:nvSpPr>
        <p:spPr>
          <a:xfrm>
            <a:off x="3240695" y="2804691"/>
            <a:ext cx="8930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Contatori anti-replay</a:t>
            </a: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1EE28D6E-B6B6-3EC9-7C2A-9C05EBCF55B4}"/>
              </a:ext>
            </a:extLst>
          </p:cNvPr>
          <p:cNvSpPr txBox="1"/>
          <p:nvPr/>
        </p:nvSpPr>
        <p:spPr>
          <a:xfrm>
            <a:off x="3225881" y="3578960"/>
            <a:ext cx="14932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Randomizzazione traffico periodico</a:t>
            </a:r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7B5B4C6A-A257-BBB6-CE4E-FECE57B7E473}"/>
              </a:ext>
            </a:extLst>
          </p:cNvPr>
          <p:cNvSpPr txBox="1"/>
          <p:nvPr/>
        </p:nvSpPr>
        <p:spPr>
          <a:xfrm>
            <a:off x="7849698" y="2151859"/>
            <a:ext cx="12474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t-IT"/>
            </a:defPPr>
            <a:lvl1pPr indent="0">
              <a:buFont typeface="Arial" panose="020B0604020202020204" pitchFamily="34" charset="0"/>
              <a:buNone/>
              <a:defRPr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it-IT" dirty="0"/>
              <a:t>AEAD sui  messaggi di canali</a:t>
            </a:r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6C2FAC42-8CEE-28F8-DCAF-6B131066F125}"/>
              </a:ext>
            </a:extLst>
          </p:cNvPr>
          <p:cNvSpPr txBox="1"/>
          <p:nvPr/>
        </p:nvSpPr>
        <p:spPr>
          <a:xfrm>
            <a:off x="7784311" y="2844413"/>
            <a:ext cx="13637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t-IT"/>
            </a:defPPr>
            <a:lvl1pPr indent="0">
              <a:buFont typeface="Arial" panose="020B0604020202020204" pitchFamily="34" charset="0"/>
              <a:buNone/>
              <a:defRPr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it-IT" dirty="0"/>
              <a:t>Gestione gerarchica delle chiavi</a:t>
            </a:r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9F017DD4-8BF1-FD1C-FA86-2F34B15B9580}"/>
              </a:ext>
            </a:extLst>
          </p:cNvPr>
          <p:cNvSpPr txBox="1"/>
          <p:nvPr/>
        </p:nvSpPr>
        <p:spPr>
          <a:xfrm>
            <a:off x="7808022" y="3572224"/>
            <a:ext cx="11670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Frequency </a:t>
            </a:r>
            <a:r>
              <a:rPr lang="it-IT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hopping</a:t>
            </a:r>
            <a:r>
              <a:rPr lang="it-IT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deterministico</a:t>
            </a:r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4EDD0F0C-0324-D875-AB9D-9FAB577EB678}"/>
              </a:ext>
            </a:extLst>
          </p:cNvPr>
          <p:cNvSpPr txBox="1"/>
          <p:nvPr/>
        </p:nvSpPr>
        <p:spPr>
          <a:xfrm>
            <a:off x="3359193" y="4933726"/>
            <a:ext cx="41113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Validazione semantica dei dati</a:t>
            </a:r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5B39DFB4-F75E-692E-96D5-7B17F570BC97}"/>
              </a:ext>
            </a:extLst>
          </p:cNvPr>
          <p:cNvSpPr txBox="1"/>
          <p:nvPr/>
        </p:nvSpPr>
        <p:spPr>
          <a:xfrm>
            <a:off x="3359193" y="4660704"/>
            <a:ext cx="41113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Firma digitale dei messaggi </a:t>
            </a:r>
            <a:r>
              <a:rPr lang="it-IT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CoT</a:t>
            </a:r>
            <a:endParaRPr lang="it-IT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CasellaDiTesto 44">
            <a:extLst>
              <a:ext uri="{FF2B5EF4-FFF2-40B4-BE49-F238E27FC236}">
                <a16:creationId xmlns:a16="http://schemas.microsoft.com/office/drawing/2014/main" id="{A99DECF5-19E6-38E2-A868-7F6E39F39A01}"/>
              </a:ext>
            </a:extLst>
          </p:cNvPr>
          <p:cNvSpPr txBox="1"/>
          <p:nvPr/>
        </p:nvSpPr>
        <p:spPr>
          <a:xfrm>
            <a:off x="3352367" y="5224325"/>
            <a:ext cx="23898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Monitoraggio eventi di sicurezza e gestione chiavi</a:t>
            </a:r>
          </a:p>
        </p:txBody>
      </p:sp>
      <p:sp>
        <p:nvSpPr>
          <p:cNvPr id="46" name="Freccia a destra 45">
            <a:extLst>
              <a:ext uri="{FF2B5EF4-FFF2-40B4-BE49-F238E27FC236}">
                <a16:creationId xmlns:a16="http://schemas.microsoft.com/office/drawing/2014/main" id="{1171AEA9-39D4-E513-8AEA-C73B9751AED1}"/>
              </a:ext>
            </a:extLst>
          </p:cNvPr>
          <p:cNvSpPr/>
          <p:nvPr/>
        </p:nvSpPr>
        <p:spPr>
          <a:xfrm rot="5400000">
            <a:off x="1423093" y="4291663"/>
            <a:ext cx="205451" cy="196894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DD7DAD71-2D25-29AB-6595-14AC7CF0891A}"/>
              </a:ext>
            </a:extLst>
          </p:cNvPr>
          <p:cNvSpPr txBox="1"/>
          <p:nvPr/>
        </p:nvSpPr>
        <p:spPr>
          <a:xfrm>
            <a:off x="3078028" y="1706453"/>
            <a:ext cx="46564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it-IT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Misure proposte per firmware </a:t>
            </a:r>
            <a:r>
              <a:rPr lang="it-IT" sz="1600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Meshtastic</a:t>
            </a:r>
            <a:endParaRPr lang="it-IT" sz="16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2E3C0F60-7048-2CAB-54A6-FFAB44F5C7BE}"/>
              </a:ext>
            </a:extLst>
          </p:cNvPr>
          <p:cNvSpPr txBox="1"/>
          <p:nvPr/>
        </p:nvSpPr>
        <p:spPr>
          <a:xfrm>
            <a:off x="7734861" y="1727957"/>
            <a:ext cx="44840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Misure proposte per firmware </a:t>
            </a:r>
            <a:r>
              <a:rPr lang="it-IT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Meshtastic</a:t>
            </a:r>
            <a:endParaRPr lang="it-IT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Rettangolo 52">
            <a:extLst>
              <a:ext uri="{FF2B5EF4-FFF2-40B4-BE49-F238E27FC236}">
                <a16:creationId xmlns:a16="http://schemas.microsoft.com/office/drawing/2014/main" id="{2F5C8791-D100-E2E6-7FC2-F3F0FE7FF99B}"/>
              </a:ext>
            </a:extLst>
          </p:cNvPr>
          <p:cNvSpPr/>
          <p:nvPr/>
        </p:nvSpPr>
        <p:spPr>
          <a:xfrm>
            <a:off x="7954483" y="1763709"/>
            <a:ext cx="3721581" cy="26489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4" name="Immagine 53" descr="Immagine che contiene Elementi grafici, grafica, simbolo, clipart&#10;&#10;Il contenuto generato dall'IA potrebbe non essere corretto.">
            <a:extLst>
              <a:ext uri="{FF2B5EF4-FFF2-40B4-BE49-F238E27FC236}">
                <a16:creationId xmlns:a16="http://schemas.microsoft.com/office/drawing/2014/main" id="{72E1F375-469A-8C5E-54BB-CEFD8D6813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8591" y="2294274"/>
            <a:ext cx="251041" cy="251041"/>
          </a:xfrm>
          <a:prstGeom prst="rect">
            <a:avLst/>
          </a:prstGeom>
        </p:spPr>
      </p:pic>
      <p:pic>
        <p:nvPicPr>
          <p:cNvPr id="55" name="Immagine 54" descr="Immagine che contiene Elementi grafici, grafica, simbolo, clipart&#10;&#10;Il contenuto generato dall'IA potrebbe non essere corretto.">
            <a:extLst>
              <a:ext uri="{FF2B5EF4-FFF2-40B4-BE49-F238E27FC236}">
                <a16:creationId xmlns:a16="http://schemas.microsoft.com/office/drawing/2014/main" id="{8DDB6DB0-6259-8734-F625-3E39431505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7766" y="3047027"/>
            <a:ext cx="251041" cy="251041"/>
          </a:xfrm>
          <a:prstGeom prst="rect">
            <a:avLst/>
          </a:prstGeom>
        </p:spPr>
      </p:pic>
      <p:pic>
        <p:nvPicPr>
          <p:cNvPr id="56" name="Immagine 55" descr="Immagine che contiene Elementi grafici, grafica, simbolo, clipart&#10;&#10;Il contenuto generato dall'IA potrebbe non essere corretto.">
            <a:extLst>
              <a:ext uri="{FF2B5EF4-FFF2-40B4-BE49-F238E27FC236}">
                <a16:creationId xmlns:a16="http://schemas.microsoft.com/office/drawing/2014/main" id="{DDAAD49D-7ABC-4E3F-EA7F-215EC48335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7887" y="3763043"/>
            <a:ext cx="251041" cy="251041"/>
          </a:xfrm>
          <a:prstGeom prst="rect">
            <a:avLst/>
          </a:prstGeom>
        </p:spPr>
      </p:pic>
      <p:pic>
        <p:nvPicPr>
          <p:cNvPr id="61" name="Immagine 60" descr="Immagine che contiene Elementi grafici, grafica, simbolo, clipart&#10;&#10;Il contenuto generato dall'IA potrebbe non essere corretto.">
            <a:extLst>
              <a:ext uri="{FF2B5EF4-FFF2-40B4-BE49-F238E27FC236}">
                <a16:creationId xmlns:a16="http://schemas.microsoft.com/office/drawing/2014/main" id="{53C663D4-8DBA-E584-632B-E3221EC226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9800" y="2918035"/>
            <a:ext cx="251041" cy="251041"/>
          </a:xfrm>
          <a:prstGeom prst="rect">
            <a:avLst/>
          </a:prstGeom>
        </p:spPr>
      </p:pic>
      <p:pic>
        <p:nvPicPr>
          <p:cNvPr id="62" name="Immagine 61" descr="Immagine che contiene Elementi grafici, grafica, simbolo, clipart&#10;&#10;Il contenuto generato dall'IA potrebbe non essere corretto.">
            <a:extLst>
              <a:ext uri="{FF2B5EF4-FFF2-40B4-BE49-F238E27FC236}">
                <a16:creationId xmlns:a16="http://schemas.microsoft.com/office/drawing/2014/main" id="{94714F12-AB3F-96F0-57C1-FED54BE463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4754" y="3661100"/>
            <a:ext cx="251041" cy="251041"/>
          </a:xfrm>
          <a:prstGeom prst="rect">
            <a:avLst/>
          </a:prstGeom>
        </p:spPr>
      </p:pic>
      <p:pic>
        <p:nvPicPr>
          <p:cNvPr id="63" name="Immagine 62" descr="Immagine che contiene Elementi grafici, grafica, simbolo, clipart&#10;&#10;Il contenuto generato dall'IA potrebbe non essere corretto.">
            <a:extLst>
              <a:ext uri="{FF2B5EF4-FFF2-40B4-BE49-F238E27FC236}">
                <a16:creationId xmlns:a16="http://schemas.microsoft.com/office/drawing/2014/main" id="{3F54FDA2-3657-DBFD-25D4-A9637256D6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7514" y="4973284"/>
            <a:ext cx="251041" cy="251041"/>
          </a:xfrm>
          <a:prstGeom prst="rect">
            <a:avLst/>
          </a:prstGeom>
        </p:spPr>
      </p:pic>
      <p:sp>
        <p:nvSpPr>
          <p:cNvPr id="1026" name="CasellaDiTesto 1025">
            <a:extLst>
              <a:ext uri="{FF2B5EF4-FFF2-40B4-BE49-F238E27FC236}">
                <a16:creationId xmlns:a16="http://schemas.microsoft.com/office/drawing/2014/main" id="{8D8D4D6D-02D1-609D-BEE0-84319A47362B}"/>
              </a:ext>
            </a:extLst>
          </p:cNvPr>
          <p:cNvSpPr txBox="1"/>
          <p:nvPr/>
        </p:nvSpPr>
        <p:spPr>
          <a:xfrm>
            <a:off x="5483682" y="4303245"/>
            <a:ext cx="46769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t-IT"/>
            </a:defPPr>
            <a:lvl1pPr indent="0" algn="ctr">
              <a:buFont typeface="Arial" panose="020B0604020202020204" pitchFamily="34" charset="0"/>
              <a:buNone/>
              <a:defRPr sz="1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it-IT" sz="1600" dirty="0"/>
              <a:t>Misure applicative comuni</a:t>
            </a:r>
          </a:p>
        </p:txBody>
      </p:sp>
      <p:sp>
        <p:nvSpPr>
          <p:cNvPr id="1029" name="Rettangolo 1028">
            <a:extLst>
              <a:ext uri="{FF2B5EF4-FFF2-40B4-BE49-F238E27FC236}">
                <a16:creationId xmlns:a16="http://schemas.microsoft.com/office/drawing/2014/main" id="{A8A07F82-4E3C-6537-27C9-9F0201AD377F}"/>
              </a:ext>
            </a:extLst>
          </p:cNvPr>
          <p:cNvSpPr/>
          <p:nvPr/>
        </p:nvSpPr>
        <p:spPr>
          <a:xfrm>
            <a:off x="6171233" y="4360851"/>
            <a:ext cx="3394798" cy="2639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30" name="CasellaDiTesto 1029">
            <a:extLst>
              <a:ext uri="{FF2B5EF4-FFF2-40B4-BE49-F238E27FC236}">
                <a16:creationId xmlns:a16="http://schemas.microsoft.com/office/drawing/2014/main" id="{E4182EC2-3672-5255-9E14-A35DEC0E4485}"/>
              </a:ext>
            </a:extLst>
          </p:cNvPr>
          <p:cNvSpPr txBox="1"/>
          <p:nvPr/>
        </p:nvSpPr>
        <p:spPr>
          <a:xfrm>
            <a:off x="3359193" y="5884826"/>
            <a:ext cx="214570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t-IT"/>
            </a:defPPr>
            <a:lvl1pPr>
              <a:defRPr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it-IT" dirty="0" err="1"/>
              <a:t>Hardening</a:t>
            </a:r>
            <a:r>
              <a:rPr lang="it-IT" dirty="0"/>
              <a:t> dell’app </a:t>
            </a:r>
            <a:r>
              <a:rPr lang="it-IT" dirty="0" err="1"/>
              <a:t>Meshtastic</a:t>
            </a:r>
            <a:endParaRPr lang="it-IT" dirty="0"/>
          </a:p>
        </p:txBody>
      </p:sp>
      <p:sp>
        <p:nvSpPr>
          <p:cNvPr id="1033" name="CasellaDiTesto 1032">
            <a:extLst>
              <a:ext uri="{FF2B5EF4-FFF2-40B4-BE49-F238E27FC236}">
                <a16:creationId xmlns:a16="http://schemas.microsoft.com/office/drawing/2014/main" id="{8202364E-36B4-BA80-5C68-F3065CC2B9C9}"/>
              </a:ext>
            </a:extLst>
          </p:cNvPr>
          <p:cNvSpPr txBox="1"/>
          <p:nvPr/>
        </p:nvSpPr>
        <p:spPr>
          <a:xfrm>
            <a:off x="182627" y="4743278"/>
            <a:ext cx="2724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Vulnerabilità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multilivello</a:t>
            </a:r>
            <a:endParaRPr lang="it-IT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34" name="Immagine 1033" descr="Immagine che contiene Elementi grafici, grafica, simbolo, clipart&#10;&#10;Il contenuto generato dall'IA potrebbe non essere corretto.">
            <a:extLst>
              <a:ext uri="{FF2B5EF4-FFF2-40B4-BE49-F238E27FC236}">
                <a16:creationId xmlns:a16="http://schemas.microsoft.com/office/drawing/2014/main" id="{31704365-F07E-925A-CD98-9755E5B6D8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7679" y="4650370"/>
            <a:ext cx="251041" cy="251041"/>
          </a:xfrm>
          <a:prstGeom prst="rect">
            <a:avLst/>
          </a:prstGeom>
        </p:spPr>
      </p:pic>
      <p:pic>
        <p:nvPicPr>
          <p:cNvPr id="1035" name="Immagine 1034" descr="Immagine che contiene Elementi grafici, grafica, simbolo, clipart&#10;&#10;Il contenuto generato dall'IA potrebbe non essere corretto.">
            <a:extLst>
              <a:ext uri="{FF2B5EF4-FFF2-40B4-BE49-F238E27FC236}">
                <a16:creationId xmlns:a16="http://schemas.microsoft.com/office/drawing/2014/main" id="{FA7FB470-2BF9-889F-DD37-D0909A539E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7514" y="5388851"/>
            <a:ext cx="251041" cy="251041"/>
          </a:xfrm>
          <a:prstGeom prst="rect">
            <a:avLst/>
          </a:prstGeom>
        </p:spPr>
      </p:pic>
      <p:pic>
        <p:nvPicPr>
          <p:cNvPr id="1036" name="Immagine 1035" descr="Immagine che contiene Elementi grafici, grafica, simbolo, clipart&#10;&#10;Il contenuto generato dall'IA potrebbe non essere corretto.">
            <a:extLst>
              <a:ext uri="{FF2B5EF4-FFF2-40B4-BE49-F238E27FC236}">
                <a16:creationId xmlns:a16="http://schemas.microsoft.com/office/drawing/2014/main" id="{07775F74-D29C-8F27-C077-4A062B4344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903" y="5925670"/>
            <a:ext cx="251041" cy="251041"/>
          </a:xfrm>
          <a:prstGeom prst="rect">
            <a:avLst/>
          </a:prstGeom>
        </p:spPr>
      </p:pic>
      <p:sp>
        <p:nvSpPr>
          <p:cNvPr id="1037" name="CasellaDiTesto 1036">
            <a:extLst>
              <a:ext uri="{FF2B5EF4-FFF2-40B4-BE49-F238E27FC236}">
                <a16:creationId xmlns:a16="http://schemas.microsoft.com/office/drawing/2014/main" id="{3B1F7060-7E08-0FED-0106-27F8061C9ED0}"/>
              </a:ext>
            </a:extLst>
          </p:cNvPr>
          <p:cNvSpPr txBox="1"/>
          <p:nvPr/>
        </p:nvSpPr>
        <p:spPr>
          <a:xfrm>
            <a:off x="4962978" y="2126970"/>
            <a:ext cx="8488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it-IT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Spoofing, tampering</a:t>
            </a:r>
            <a:endParaRPr lang="it-IT" sz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39" name="CasellaDiTesto 1038">
            <a:extLst>
              <a:ext uri="{FF2B5EF4-FFF2-40B4-BE49-F238E27FC236}">
                <a16:creationId xmlns:a16="http://schemas.microsoft.com/office/drawing/2014/main" id="{814359D7-ED17-9FAF-F2FE-C3FADEAD208A}"/>
              </a:ext>
            </a:extLst>
          </p:cNvPr>
          <p:cNvSpPr txBox="1"/>
          <p:nvPr/>
        </p:nvSpPr>
        <p:spPr>
          <a:xfrm>
            <a:off x="6437516" y="2129415"/>
            <a:ext cx="15133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Autenticazione e e integrità semplice</a:t>
            </a:r>
          </a:p>
        </p:txBody>
      </p:sp>
      <p:pic>
        <p:nvPicPr>
          <p:cNvPr id="1041" name="Elemento grafico 1040" descr="Segno di spunta con riempimento a tinta unita">
            <a:extLst>
              <a:ext uri="{FF2B5EF4-FFF2-40B4-BE49-F238E27FC236}">
                <a16:creationId xmlns:a16="http://schemas.microsoft.com/office/drawing/2014/main" id="{0FF4A13C-D264-60D3-236C-38FAB5D500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30210" y="2285889"/>
            <a:ext cx="272818" cy="272818"/>
          </a:xfrm>
          <a:prstGeom prst="rect">
            <a:avLst/>
          </a:prstGeom>
        </p:spPr>
      </p:pic>
      <p:sp>
        <p:nvSpPr>
          <p:cNvPr id="1042" name="CasellaDiTesto 1041">
            <a:extLst>
              <a:ext uri="{FF2B5EF4-FFF2-40B4-BE49-F238E27FC236}">
                <a16:creationId xmlns:a16="http://schemas.microsoft.com/office/drawing/2014/main" id="{09AB1AB8-1FBA-D00B-9785-BE5A94064470}"/>
              </a:ext>
            </a:extLst>
          </p:cNvPr>
          <p:cNvSpPr txBox="1"/>
          <p:nvPr/>
        </p:nvSpPr>
        <p:spPr>
          <a:xfrm>
            <a:off x="6430475" y="2798190"/>
            <a:ext cx="13506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sz="1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Protezione</a:t>
            </a:r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replay attack</a:t>
            </a:r>
            <a:endParaRPr lang="it-IT" sz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3" name="CasellaDiTesto 1042">
            <a:extLst>
              <a:ext uri="{FF2B5EF4-FFF2-40B4-BE49-F238E27FC236}">
                <a16:creationId xmlns:a16="http://schemas.microsoft.com/office/drawing/2014/main" id="{5FB795B5-E748-D72D-B25A-E6318FE37589}"/>
              </a:ext>
            </a:extLst>
          </p:cNvPr>
          <p:cNvSpPr txBox="1"/>
          <p:nvPr/>
        </p:nvSpPr>
        <p:spPr>
          <a:xfrm>
            <a:off x="4928925" y="2745349"/>
            <a:ext cx="12579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Replay interno ed esterno di pacchetti validi</a:t>
            </a:r>
          </a:p>
        </p:txBody>
      </p:sp>
      <p:sp>
        <p:nvSpPr>
          <p:cNvPr id="1044" name="CasellaDiTesto 1043">
            <a:extLst>
              <a:ext uri="{FF2B5EF4-FFF2-40B4-BE49-F238E27FC236}">
                <a16:creationId xmlns:a16="http://schemas.microsoft.com/office/drawing/2014/main" id="{2461FAB7-A958-F5A1-C333-1B0D2BE252E9}"/>
              </a:ext>
            </a:extLst>
          </p:cNvPr>
          <p:cNvSpPr txBox="1"/>
          <p:nvPr/>
        </p:nvSpPr>
        <p:spPr>
          <a:xfrm>
            <a:off x="4889413" y="3484079"/>
            <a:ext cx="12752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it-IT" sz="1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nalisi</a:t>
            </a:r>
            <a:r>
              <a:rPr lang="it-IT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tempora</a:t>
            </a:r>
            <a:r>
              <a:rPr lang="it-IT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 traffico,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it-IT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jamming reattivo</a:t>
            </a:r>
            <a:endParaRPr lang="it-IT" sz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5" name="CasellaDiTesto 1044">
            <a:extLst>
              <a:ext uri="{FF2B5EF4-FFF2-40B4-BE49-F238E27FC236}">
                <a16:creationId xmlns:a16="http://schemas.microsoft.com/office/drawing/2014/main" id="{C90B4FD5-1F44-1E47-2E8C-5B8DF05980C4}"/>
              </a:ext>
            </a:extLst>
          </p:cNvPr>
          <p:cNvSpPr txBox="1"/>
          <p:nvPr/>
        </p:nvSpPr>
        <p:spPr>
          <a:xfrm>
            <a:off x="6392374" y="3513811"/>
            <a:ext cx="14297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Imprevedibilità temporale del traffico</a:t>
            </a:r>
          </a:p>
        </p:txBody>
      </p:sp>
      <p:sp>
        <p:nvSpPr>
          <p:cNvPr id="1047" name="CasellaDiTesto 1046">
            <a:extLst>
              <a:ext uri="{FF2B5EF4-FFF2-40B4-BE49-F238E27FC236}">
                <a16:creationId xmlns:a16="http://schemas.microsoft.com/office/drawing/2014/main" id="{10E7A87D-E43E-E1AC-FAD0-A006D88C22FE}"/>
              </a:ext>
            </a:extLst>
          </p:cNvPr>
          <p:cNvSpPr txBox="1"/>
          <p:nvPr/>
        </p:nvSpPr>
        <p:spPr>
          <a:xfrm>
            <a:off x="9163751" y="2160262"/>
            <a:ext cx="9781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it-IT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Spoofing, </a:t>
            </a:r>
            <a:r>
              <a:rPr lang="it-IT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forgery</a:t>
            </a:r>
            <a:r>
              <a:rPr lang="it-IT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tampering</a:t>
            </a:r>
            <a:endParaRPr lang="it-IT" sz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9" name="CasellaDiTesto 1048">
            <a:extLst>
              <a:ext uri="{FF2B5EF4-FFF2-40B4-BE49-F238E27FC236}">
                <a16:creationId xmlns:a16="http://schemas.microsoft.com/office/drawing/2014/main" id="{0E646958-2A67-308C-1D52-B87572689C8E}"/>
              </a:ext>
            </a:extLst>
          </p:cNvPr>
          <p:cNvSpPr txBox="1"/>
          <p:nvPr/>
        </p:nvSpPr>
        <p:spPr>
          <a:xfrm>
            <a:off x="10705614" y="2117503"/>
            <a:ext cx="1386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Integrità e autenticità forti e integrate</a:t>
            </a:r>
          </a:p>
        </p:txBody>
      </p:sp>
      <p:sp>
        <p:nvSpPr>
          <p:cNvPr id="1050" name="CasellaDiTesto 1049">
            <a:extLst>
              <a:ext uri="{FF2B5EF4-FFF2-40B4-BE49-F238E27FC236}">
                <a16:creationId xmlns:a16="http://schemas.microsoft.com/office/drawing/2014/main" id="{C99977E3-8118-A251-7F0A-213B885314F7}"/>
              </a:ext>
            </a:extLst>
          </p:cNvPr>
          <p:cNvSpPr txBox="1"/>
          <p:nvPr/>
        </p:nvSpPr>
        <p:spPr>
          <a:xfrm>
            <a:off x="9110213" y="2865151"/>
            <a:ext cx="15248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Compromissione persistente delle chiavi, nodi malevoli</a:t>
            </a:r>
          </a:p>
        </p:txBody>
      </p:sp>
      <p:sp>
        <p:nvSpPr>
          <p:cNvPr id="1051" name="CasellaDiTesto 1050">
            <a:extLst>
              <a:ext uri="{FF2B5EF4-FFF2-40B4-BE49-F238E27FC236}">
                <a16:creationId xmlns:a16="http://schemas.microsoft.com/office/drawing/2014/main" id="{D03C3A17-12CA-2E41-648F-95EAB141DF99}"/>
              </a:ext>
            </a:extLst>
          </p:cNvPr>
          <p:cNvSpPr txBox="1"/>
          <p:nvPr/>
        </p:nvSpPr>
        <p:spPr>
          <a:xfrm>
            <a:off x="10720701" y="2860411"/>
            <a:ext cx="13429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Rotazione selettiva e revoca rapida dei nodi</a:t>
            </a:r>
          </a:p>
        </p:txBody>
      </p:sp>
      <p:sp>
        <p:nvSpPr>
          <p:cNvPr id="1052" name="CasellaDiTesto 1051">
            <a:extLst>
              <a:ext uri="{FF2B5EF4-FFF2-40B4-BE49-F238E27FC236}">
                <a16:creationId xmlns:a16="http://schemas.microsoft.com/office/drawing/2014/main" id="{AA085048-C3FF-360A-C9BF-E6B5146BEB9D}"/>
              </a:ext>
            </a:extLst>
          </p:cNvPr>
          <p:cNvSpPr txBox="1"/>
          <p:nvPr/>
        </p:nvSpPr>
        <p:spPr>
          <a:xfrm>
            <a:off x="9170809" y="3525367"/>
            <a:ext cx="13590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Jamming mirato, intercettazione persistente</a:t>
            </a:r>
          </a:p>
        </p:txBody>
      </p:sp>
      <p:sp>
        <p:nvSpPr>
          <p:cNvPr id="1053" name="CasellaDiTesto 1052">
            <a:extLst>
              <a:ext uri="{FF2B5EF4-FFF2-40B4-BE49-F238E27FC236}">
                <a16:creationId xmlns:a16="http://schemas.microsoft.com/office/drawing/2014/main" id="{C13394FE-3584-CF30-88C5-143D4DEB94D4}"/>
              </a:ext>
            </a:extLst>
          </p:cNvPr>
          <p:cNvSpPr txBox="1"/>
          <p:nvPr/>
        </p:nvSpPr>
        <p:spPr>
          <a:xfrm>
            <a:off x="10690114" y="3586196"/>
            <a:ext cx="13590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Canale radio imprevedibile e più resiliente</a:t>
            </a:r>
          </a:p>
        </p:txBody>
      </p:sp>
      <p:sp>
        <p:nvSpPr>
          <p:cNvPr id="1054" name="CasellaDiTesto 1053">
            <a:extLst>
              <a:ext uri="{FF2B5EF4-FFF2-40B4-BE49-F238E27FC236}">
                <a16:creationId xmlns:a16="http://schemas.microsoft.com/office/drawing/2014/main" id="{B5A9F14C-5328-B06F-C5F3-EDA27C135BA9}"/>
              </a:ext>
            </a:extLst>
          </p:cNvPr>
          <p:cNvSpPr txBox="1"/>
          <p:nvPr/>
        </p:nvSpPr>
        <p:spPr>
          <a:xfrm>
            <a:off x="6427393" y="4608226"/>
            <a:ext cx="19825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Injection e manipolazione</a:t>
            </a:r>
          </a:p>
        </p:txBody>
      </p:sp>
      <p:sp>
        <p:nvSpPr>
          <p:cNvPr id="1056" name="CasellaDiTesto 1055">
            <a:extLst>
              <a:ext uri="{FF2B5EF4-FFF2-40B4-BE49-F238E27FC236}">
                <a16:creationId xmlns:a16="http://schemas.microsoft.com/office/drawing/2014/main" id="{BDB36BAC-5EBA-603F-57E4-9EBF37AD76F4}"/>
              </a:ext>
            </a:extLst>
          </p:cNvPr>
          <p:cNvSpPr txBox="1"/>
          <p:nvPr/>
        </p:nvSpPr>
        <p:spPr>
          <a:xfrm>
            <a:off x="9052594" y="4627087"/>
            <a:ext cx="29027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Autenticità e integrità end-to-end</a:t>
            </a:r>
          </a:p>
        </p:txBody>
      </p:sp>
      <p:pic>
        <p:nvPicPr>
          <p:cNvPr id="1057" name="Elemento grafico 1056" descr="Segno di spunta con riempimento a tinta unita">
            <a:extLst>
              <a:ext uri="{FF2B5EF4-FFF2-40B4-BE49-F238E27FC236}">
                <a16:creationId xmlns:a16="http://schemas.microsoft.com/office/drawing/2014/main" id="{F9322276-B58A-8FC9-7945-529F81B98E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18549" y="4579164"/>
            <a:ext cx="321215" cy="321215"/>
          </a:xfrm>
          <a:prstGeom prst="rect">
            <a:avLst/>
          </a:prstGeom>
        </p:spPr>
      </p:pic>
      <p:sp>
        <p:nvSpPr>
          <p:cNvPr id="1058" name="CasellaDiTesto 1057">
            <a:extLst>
              <a:ext uri="{FF2B5EF4-FFF2-40B4-BE49-F238E27FC236}">
                <a16:creationId xmlns:a16="http://schemas.microsoft.com/office/drawing/2014/main" id="{7DC0B193-FA89-D54E-EE97-372BFFD83175}"/>
              </a:ext>
            </a:extLst>
          </p:cNvPr>
          <p:cNvSpPr txBox="1"/>
          <p:nvPr/>
        </p:nvSpPr>
        <p:spPr>
          <a:xfrm>
            <a:off x="6434220" y="4915172"/>
            <a:ext cx="41113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Messaggi falsi o incoerenti</a:t>
            </a:r>
          </a:p>
        </p:txBody>
      </p:sp>
      <p:sp>
        <p:nvSpPr>
          <p:cNvPr id="1059" name="CasellaDiTesto 1058">
            <a:extLst>
              <a:ext uri="{FF2B5EF4-FFF2-40B4-BE49-F238E27FC236}">
                <a16:creationId xmlns:a16="http://schemas.microsoft.com/office/drawing/2014/main" id="{2CB3E82A-D305-4685-CB16-79528DC41067}"/>
              </a:ext>
            </a:extLst>
          </p:cNvPr>
          <p:cNvSpPr txBox="1"/>
          <p:nvPr/>
        </p:nvSpPr>
        <p:spPr>
          <a:xfrm>
            <a:off x="9111491" y="4927944"/>
            <a:ext cx="41113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Maggiore affidabilità della COP</a:t>
            </a:r>
          </a:p>
        </p:txBody>
      </p:sp>
      <p:pic>
        <p:nvPicPr>
          <p:cNvPr id="1060" name="Elemento grafico 1059" descr="Segno di spunta con riempimento a tinta unita">
            <a:extLst>
              <a:ext uri="{FF2B5EF4-FFF2-40B4-BE49-F238E27FC236}">
                <a16:creationId xmlns:a16="http://schemas.microsoft.com/office/drawing/2014/main" id="{A4082EA4-F188-F767-A01F-DF094AB8CC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46873" y="4905261"/>
            <a:ext cx="321215" cy="321215"/>
          </a:xfrm>
          <a:prstGeom prst="rect">
            <a:avLst/>
          </a:prstGeom>
        </p:spPr>
      </p:pic>
      <p:sp>
        <p:nvSpPr>
          <p:cNvPr id="1061" name="CasellaDiTesto 1060">
            <a:extLst>
              <a:ext uri="{FF2B5EF4-FFF2-40B4-BE49-F238E27FC236}">
                <a16:creationId xmlns:a16="http://schemas.microsoft.com/office/drawing/2014/main" id="{3CE3AC66-B348-41C3-F2D4-CBDFB8A146AD}"/>
              </a:ext>
            </a:extLst>
          </p:cNvPr>
          <p:cNvSpPr txBox="1"/>
          <p:nvPr/>
        </p:nvSpPr>
        <p:spPr>
          <a:xfrm>
            <a:off x="6427138" y="5225870"/>
            <a:ext cx="19124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Uso improprio delle chiavi, compromissioni non rilevate</a:t>
            </a:r>
          </a:p>
        </p:txBody>
      </p:sp>
      <p:sp>
        <p:nvSpPr>
          <p:cNvPr id="1062" name="CasellaDiTesto 1061">
            <a:extLst>
              <a:ext uri="{FF2B5EF4-FFF2-40B4-BE49-F238E27FC236}">
                <a16:creationId xmlns:a16="http://schemas.microsoft.com/office/drawing/2014/main" id="{98D2323C-DF21-2609-32C5-5978B7E24E59}"/>
              </a:ext>
            </a:extLst>
          </p:cNvPr>
          <p:cNvSpPr txBox="1"/>
          <p:nvPr/>
        </p:nvSpPr>
        <p:spPr>
          <a:xfrm>
            <a:off x="9110213" y="5386597"/>
            <a:ext cx="27002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Rilevazione eventi anomali e risposta assistita</a:t>
            </a:r>
          </a:p>
        </p:txBody>
      </p:sp>
      <p:pic>
        <p:nvPicPr>
          <p:cNvPr id="1063" name="Elemento grafico 1062" descr="Segno di spunta con riempimento a tinta unita">
            <a:extLst>
              <a:ext uri="{FF2B5EF4-FFF2-40B4-BE49-F238E27FC236}">
                <a16:creationId xmlns:a16="http://schemas.microsoft.com/office/drawing/2014/main" id="{18E6FF05-F9A0-D560-36C5-9B4F6F5DA1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24262" y="5364775"/>
            <a:ext cx="321215" cy="321215"/>
          </a:xfrm>
          <a:prstGeom prst="rect">
            <a:avLst/>
          </a:prstGeom>
        </p:spPr>
      </p:pic>
      <p:sp>
        <p:nvSpPr>
          <p:cNvPr id="1064" name="CasellaDiTesto 1063">
            <a:extLst>
              <a:ext uri="{FF2B5EF4-FFF2-40B4-BE49-F238E27FC236}">
                <a16:creationId xmlns:a16="http://schemas.microsoft.com/office/drawing/2014/main" id="{9F877C8C-BB04-655E-A0C3-6850F87A8E18}"/>
              </a:ext>
            </a:extLst>
          </p:cNvPr>
          <p:cNvSpPr txBox="1"/>
          <p:nvPr/>
        </p:nvSpPr>
        <p:spPr>
          <a:xfrm>
            <a:off x="6419411" y="5835186"/>
            <a:ext cx="21457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Compromissione del dispositivo o dell’app</a:t>
            </a:r>
          </a:p>
        </p:txBody>
      </p:sp>
      <p:sp>
        <p:nvSpPr>
          <p:cNvPr id="1065" name="CasellaDiTesto 1064">
            <a:extLst>
              <a:ext uri="{FF2B5EF4-FFF2-40B4-BE49-F238E27FC236}">
                <a16:creationId xmlns:a16="http://schemas.microsoft.com/office/drawing/2014/main" id="{68C26C80-365F-CA67-E4FF-5750C81459B3}"/>
              </a:ext>
            </a:extLst>
          </p:cNvPr>
          <p:cNvSpPr txBox="1"/>
          <p:nvPr/>
        </p:nvSpPr>
        <p:spPr>
          <a:xfrm>
            <a:off x="9109600" y="5822772"/>
            <a:ext cx="24170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Riduzione della superficie d’attacco applicativa</a:t>
            </a:r>
          </a:p>
        </p:txBody>
      </p:sp>
      <p:pic>
        <p:nvPicPr>
          <p:cNvPr id="1066" name="Elemento grafico 1065" descr="Segno di spunta con riempimento a tinta unita">
            <a:extLst>
              <a:ext uri="{FF2B5EF4-FFF2-40B4-BE49-F238E27FC236}">
                <a16:creationId xmlns:a16="http://schemas.microsoft.com/office/drawing/2014/main" id="{8385034A-B2E4-C5DF-A043-D80DB08FE8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48967" y="5866272"/>
            <a:ext cx="321215" cy="321215"/>
          </a:xfrm>
          <a:prstGeom prst="rect">
            <a:avLst/>
          </a:prstGeom>
        </p:spPr>
      </p:pic>
      <p:pic>
        <p:nvPicPr>
          <p:cNvPr id="1067" name="Elemento grafico 1066" descr="Segno di spunta con riempimento a tinta unita">
            <a:extLst>
              <a:ext uri="{FF2B5EF4-FFF2-40B4-BE49-F238E27FC236}">
                <a16:creationId xmlns:a16="http://schemas.microsoft.com/office/drawing/2014/main" id="{3569F2E5-2EBB-790C-EDC0-E04657F84A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24868" y="2895466"/>
            <a:ext cx="272818" cy="272818"/>
          </a:xfrm>
          <a:prstGeom prst="rect">
            <a:avLst/>
          </a:prstGeom>
        </p:spPr>
      </p:pic>
      <p:pic>
        <p:nvPicPr>
          <p:cNvPr id="1068" name="Elemento grafico 1067" descr="Segno di spunta con riempimento a tinta unita">
            <a:extLst>
              <a:ext uri="{FF2B5EF4-FFF2-40B4-BE49-F238E27FC236}">
                <a16:creationId xmlns:a16="http://schemas.microsoft.com/office/drawing/2014/main" id="{A65256C3-B45F-5214-C3EB-F141C2BDCF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16155" y="3682069"/>
            <a:ext cx="272818" cy="272818"/>
          </a:xfrm>
          <a:prstGeom prst="rect">
            <a:avLst/>
          </a:prstGeom>
        </p:spPr>
      </p:pic>
      <p:pic>
        <p:nvPicPr>
          <p:cNvPr id="1069" name="Elemento grafico 1068" descr="Segno di spunta con riempimento a tinta unita">
            <a:extLst>
              <a:ext uri="{FF2B5EF4-FFF2-40B4-BE49-F238E27FC236}">
                <a16:creationId xmlns:a16="http://schemas.microsoft.com/office/drawing/2014/main" id="{7BA83A51-BE77-5860-0DBE-F3E1F33B0B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37474" y="2281220"/>
            <a:ext cx="272818" cy="272818"/>
          </a:xfrm>
          <a:prstGeom prst="rect">
            <a:avLst/>
          </a:prstGeom>
        </p:spPr>
      </p:pic>
      <p:pic>
        <p:nvPicPr>
          <p:cNvPr id="1070" name="Elemento grafico 1069" descr="Segno di spunta con riempimento a tinta unita">
            <a:extLst>
              <a:ext uri="{FF2B5EF4-FFF2-40B4-BE49-F238E27FC236}">
                <a16:creationId xmlns:a16="http://schemas.microsoft.com/office/drawing/2014/main" id="{72BE7528-2B9C-3A29-754A-DD5DFA0136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44616" y="2994757"/>
            <a:ext cx="272818" cy="272818"/>
          </a:xfrm>
          <a:prstGeom prst="rect">
            <a:avLst/>
          </a:prstGeom>
        </p:spPr>
      </p:pic>
      <p:pic>
        <p:nvPicPr>
          <p:cNvPr id="1071" name="Elemento grafico 1070" descr="Segno di spunta con riempimento a tinta unita">
            <a:extLst>
              <a:ext uri="{FF2B5EF4-FFF2-40B4-BE49-F238E27FC236}">
                <a16:creationId xmlns:a16="http://schemas.microsoft.com/office/drawing/2014/main" id="{0DEEFC26-A37C-FBDB-DC1D-C40D39BDA7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17296" y="3755598"/>
            <a:ext cx="272818" cy="272818"/>
          </a:xfrm>
          <a:prstGeom prst="rect">
            <a:avLst/>
          </a:prstGeom>
        </p:spPr>
      </p:pic>
      <p:sp>
        <p:nvSpPr>
          <p:cNvPr id="1072" name="Rettangolo 1071">
            <a:extLst>
              <a:ext uri="{FF2B5EF4-FFF2-40B4-BE49-F238E27FC236}">
                <a16:creationId xmlns:a16="http://schemas.microsoft.com/office/drawing/2014/main" id="{A14D4648-F933-C4FB-B040-921C34A76B8A}"/>
              </a:ext>
            </a:extLst>
          </p:cNvPr>
          <p:cNvSpPr/>
          <p:nvPr/>
        </p:nvSpPr>
        <p:spPr>
          <a:xfrm>
            <a:off x="3571443" y="1762427"/>
            <a:ext cx="3721581" cy="26489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59478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DF3C6-665E-EA33-B6B0-A32A416D4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463D6409-8D06-47BD-4FA8-58499C66B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Anno accademico 2025/2026</a:t>
            </a:r>
            <a:endParaRPr lang="it-I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AEC2B4E-DC30-5108-E523-5F7FF0C19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457C4-41BA-4245-A517-1492C4EB6DD6}" type="slidenum">
              <a:rPr lang="it-IT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</a:t>
            </a:fld>
            <a:endParaRPr lang="it-I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B452C459-A878-94D4-CEA8-8F2E67622180}"/>
              </a:ext>
            </a:extLst>
          </p:cNvPr>
          <p:cNvSpPr txBox="1">
            <a:spLocks/>
          </p:cNvSpPr>
          <p:nvPr/>
        </p:nvSpPr>
        <p:spPr>
          <a:xfrm>
            <a:off x="479385" y="745807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Valutazione sperimentale dell’impatto sui profili di rischio </a:t>
            </a:r>
          </a:p>
        </p:txBody>
      </p:sp>
      <p:sp>
        <p:nvSpPr>
          <p:cNvPr id="14" name="object 3">
            <a:extLst>
              <a:ext uri="{FF2B5EF4-FFF2-40B4-BE49-F238E27FC236}">
                <a16:creationId xmlns:a16="http://schemas.microsoft.com/office/drawing/2014/main" id="{6ED83D95-AA38-312B-76C0-C7703C5AB3A1}"/>
              </a:ext>
            </a:extLst>
          </p:cNvPr>
          <p:cNvSpPr/>
          <p:nvPr/>
        </p:nvSpPr>
        <p:spPr>
          <a:xfrm>
            <a:off x="592670" y="677862"/>
            <a:ext cx="1041400" cy="67945"/>
          </a:xfrm>
          <a:custGeom>
            <a:avLst/>
            <a:gdLst/>
            <a:ahLst/>
            <a:cxnLst/>
            <a:rect l="l" t="t" r="r" b="b"/>
            <a:pathLst>
              <a:path w="1041400" h="67945">
                <a:moveTo>
                  <a:pt x="1041400" y="0"/>
                </a:moveTo>
                <a:lnTo>
                  <a:pt x="0" y="0"/>
                </a:lnTo>
                <a:lnTo>
                  <a:pt x="0" y="67729"/>
                </a:lnTo>
                <a:lnTo>
                  <a:pt x="1041400" y="67729"/>
                </a:lnTo>
                <a:lnTo>
                  <a:pt x="1041400" y="0"/>
                </a:lnTo>
                <a:close/>
              </a:path>
            </a:pathLst>
          </a:custGeom>
          <a:solidFill>
            <a:srgbClr val="F0A024"/>
          </a:solidFill>
        </p:spPr>
        <p:txBody>
          <a:bodyPr wrap="square" lIns="0" tIns="0" rIns="0" bIns="0" rtlCol="0"/>
          <a:lstStyle/>
          <a:p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Segnaposto data 1">
            <a:extLst>
              <a:ext uri="{FF2B5EF4-FFF2-40B4-BE49-F238E27FC236}">
                <a16:creationId xmlns:a16="http://schemas.microsoft.com/office/drawing/2014/main" id="{336C390C-EFDD-27F3-0744-C49E79A41B5B}"/>
              </a:ext>
            </a:extLst>
          </p:cNvPr>
          <p:cNvSpPr txBox="1">
            <a:spLocks/>
          </p:cNvSpPr>
          <p:nvPr/>
        </p:nvSpPr>
        <p:spPr>
          <a:xfrm>
            <a:off x="838200" y="64579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Anno accademico 2025/2026</a:t>
            </a:r>
            <a:endParaRPr lang="it-I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Segnaposto numero diapositiva 3">
            <a:extLst>
              <a:ext uri="{FF2B5EF4-FFF2-40B4-BE49-F238E27FC236}">
                <a16:creationId xmlns:a16="http://schemas.microsoft.com/office/drawing/2014/main" id="{FB03B164-0DF0-F49A-2C5B-2B1751DC85FF}"/>
              </a:ext>
            </a:extLst>
          </p:cNvPr>
          <p:cNvSpPr txBox="1">
            <a:spLocks/>
          </p:cNvSpPr>
          <p:nvPr/>
        </p:nvSpPr>
        <p:spPr>
          <a:xfrm>
            <a:off x="8610600" y="647827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DF457C4-41BA-4245-A517-1492C4EB6DD6}" type="slidenum">
              <a:rPr lang="it-IT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/>
              <a:t>9</a:t>
            </a:fld>
            <a:endParaRPr lang="it-I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5" name="AutoShape 8" descr="Generazione immagine completata">
            <a:extLst>
              <a:ext uri="{FF2B5EF4-FFF2-40B4-BE49-F238E27FC236}">
                <a16:creationId xmlns:a16="http://schemas.microsoft.com/office/drawing/2014/main" id="{9DDE6E7F-97D6-A065-102C-193AF488FEA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7" name="AutoShape 14" descr="Come calcolare il proprio profilo di rischio | IG Italia">
            <a:extLst>
              <a:ext uri="{FF2B5EF4-FFF2-40B4-BE49-F238E27FC236}">
                <a16:creationId xmlns:a16="http://schemas.microsoft.com/office/drawing/2014/main" id="{37E0B510-B926-039C-B2AD-EA1B4D6FABA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F206E04C-4C7E-27B0-DA20-C11258C0C9E9}"/>
              </a:ext>
            </a:extLst>
          </p:cNvPr>
          <p:cNvSpPr/>
          <p:nvPr/>
        </p:nvSpPr>
        <p:spPr>
          <a:xfrm>
            <a:off x="0" y="6571000"/>
            <a:ext cx="12192000" cy="297048"/>
          </a:xfrm>
          <a:prstGeom prst="rect">
            <a:avLst/>
          </a:prstGeom>
          <a:solidFill>
            <a:srgbClr val="AB27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egnaposto data 1">
            <a:extLst>
              <a:ext uri="{FF2B5EF4-FFF2-40B4-BE49-F238E27FC236}">
                <a16:creationId xmlns:a16="http://schemas.microsoft.com/office/drawing/2014/main" id="{F106CECC-AFAF-5788-A601-B156074E857D}"/>
              </a:ext>
            </a:extLst>
          </p:cNvPr>
          <p:cNvSpPr txBox="1">
            <a:spLocks/>
          </p:cNvSpPr>
          <p:nvPr/>
        </p:nvSpPr>
        <p:spPr>
          <a:xfrm>
            <a:off x="838200" y="65532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Anno accademico 2025/2026</a:t>
            </a:r>
            <a:endParaRPr lang="it-I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egnaposto piè di pagina 2">
            <a:extLst>
              <a:ext uri="{FF2B5EF4-FFF2-40B4-BE49-F238E27FC236}">
                <a16:creationId xmlns:a16="http://schemas.microsoft.com/office/drawing/2014/main" id="{BBA337B0-B04C-968E-BB15-D00AAFB54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7106" y="6552951"/>
            <a:ext cx="5447030" cy="365125"/>
          </a:xfrm>
        </p:spPr>
        <p:txBody>
          <a:bodyPr/>
          <a:lstStyle/>
          <a:p>
            <a:pPr algn="l"/>
            <a:r>
              <a:rPr lang="it-IT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Reti Mesh Decentralizzate </a:t>
            </a:r>
            <a:r>
              <a:rPr lang="it-IT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LoRa</a:t>
            </a:r>
            <a:r>
              <a:rPr lang="it-IT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per la </a:t>
            </a:r>
            <a:r>
              <a:rPr lang="it-IT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Situational</a:t>
            </a:r>
            <a:r>
              <a:rPr lang="it-IT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Awareness</a:t>
            </a:r>
            <a:r>
              <a:rPr lang="it-IT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Contesti Off-</a:t>
            </a:r>
            <a:r>
              <a:rPr lang="it-IT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Grid</a:t>
            </a:r>
            <a:endParaRPr lang="it-I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Segnaposto numero diapositiva 3">
            <a:extLst>
              <a:ext uri="{FF2B5EF4-FFF2-40B4-BE49-F238E27FC236}">
                <a16:creationId xmlns:a16="http://schemas.microsoft.com/office/drawing/2014/main" id="{FBC1575F-E3AA-12F5-439D-86CB8D51B568}"/>
              </a:ext>
            </a:extLst>
          </p:cNvPr>
          <p:cNvSpPr txBox="1">
            <a:spLocks/>
          </p:cNvSpPr>
          <p:nvPr/>
        </p:nvSpPr>
        <p:spPr>
          <a:xfrm>
            <a:off x="8610600" y="65100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DF457C4-41BA-4245-A517-1492C4EB6DD6}" type="slidenum">
              <a:rPr lang="it-IT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/>
              <a:t>9</a:t>
            </a:fld>
            <a:endParaRPr lang="it-I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3F4A3B80-E99B-42C7-C467-4E2C87524273}"/>
              </a:ext>
            </a:extLst>
          </p:cNvPr>
          <p:cNvSpPr txBox="1"/>
          <p:nvPr/>
        </p:nvSpPr>
        <p:spPr>
          <a:xfrm>
            <a:off x="479385" y="1196857"/>
            <a:ext cx="10699084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Scenario di riferimento</a:t>
            </a:r>
            <a:endParaRPr lang="it-IT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Rete mesh con 5 operatori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GPS periodici (120s) + marker tattici sporadici (90min)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Vincolo normativo </a:t>
            </a:r>
            <a:r>
              <a:rPr lang="it-IT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ETSI EU868:</a:t>
            </a:r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duty-</a:t>
            </a:r>
            <a:r>
              <a:rPr lang="it-IT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cycle</a:t>
            </a:r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≤ 10% nella banda EU 869.4–869.65 MHz)            </a:t>
            </a:r>
            <a:r>
              <a:rPr lang="it-IT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360 secondi</a:t>
            </a:r>
          </a:p>
        </p:txBody>
      </p:sp>
      <p:sp>
        <p:nvSpPr>
          <p:cNvPr id="13" name="AutoShape 2" descr="Immagine output">
            <a:extLst>
              <a:ext uri="{FF2B5EF4-FFF2-40B4-BE49-F238E27FC236}">
                <a16:creationId xmlns:a16="http://schemas.microsoft.com/office/drawing/2014/main" id="{87F2DD93-9ED2-E308-7E96-91C4F7DF2C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AutoShape 4" descr="Immagine output">
            <a:extLst>
              <a:ext uri="{FF2B5EF4-FFF2-40B4-BE49-F238E27FC236}">
                <a16:creationId xmlns:a16="http://schemas.microsoft.com/office/drawing/2014/main" id="{2572F02B-49CD-BF50-A0F3-9678C97AA4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00800" y="3733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42" name="Gruppo 41">
            <a:extLst>
              <a:ext uri="{FF2B5EF4-FFF2-40B4-BE49-F238E27FC236}">
                <a16:creationId xmlns:a16="http://schemas.microsoft.com/office/drawing/2014/main" id="{577E8094-59F1-0B8C-2F14-DD6CED5212F0}"/>
              </a:ext>
            </a:extLst>
          </p:cNvPr>
          <p:cNvGrpSpPr/>
          <p:nvPr/>
        </p:nvGrpSpPr>
        <p:grpSpPr>
          <a:xfrm>
            <a:off x="449332" y="2616667"/>
            <a:ext cx="2975015" cy="2442294"/>
            <a:chOff x="505901" y="3183804"/>
            <a:chExt cx="3494007" cy="2803833"/>
          </a:xfrm>
        </p:grpSpPr>
        <p:pic>
          <p:nvPicPr>
            <p:cNvPr id="32" name="Immagine 31" descr="Immagine che contiene testo, schermata, diagramma, Diagramma&#10;&#10;Il contenuto generato dall'IA potrebbe non essere corretto.">
              <a:extLst>
                <a:ext uri="{FF2B5EF4-FFF2-40B4-BE49-F238E27FC236}">
                  <a16:creationId xmlns:a16="http://schemas.microsoft.com/office/drawing/2014/main" id="{F641AD75-E194-30DF-55A3-8B9E2D4E37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5901" y="3183804"/>
              <a:ext cx="3494007" cy="2803833"/>
            </a:xfrm>
            <a:prstGeom prst="rect">
              <a:avLst/>
            </a:prstGeom>
          </p:spPr>
        </p:pic>
        <p:sp>
          <p:nvSpPr>
            <p:cNvPr id="33" name="Rettangolo 32">
              <a:extLst>
                <a:ext uri="{FF2B5EF4-FFF2-40B4-BE49-F238E27FC236}">
                  <a16:creationId xmlns:a16="http://schemas.microsoft.com/office/drawing/2014/main" id="{FDCD1800-29A0-84A5-EE51-D9A768E2DABA}"/>
                </a:ext>
              </a:extLst>
            </p:cNvPr>
            <p:cNvSpPr/>
            <p:nvPr/>
          </p:nvSpPr>
          <p:spPr>
            <a:xfrm>
              <a:off x="1022713" y="3822700"/>
              <a:ext cx="799737" cy="1837938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6" name="Rettangolo 35">
              <a:extLst>
                <a:ext uri="{FF2B5EF4-FFF2-40B4-BE49-F238E27FC236}">
                  <a16:creationId xmlns:a16="http://schemas.microsoft.com/office/drawing/2014/main" id="{C354EB37-1E4D-9C00-4463-82CB6E2FA8BE}"/>
                </a:ext>
              </a:extLst>
            </p:cNvPr>
            <p:cNvSpPr/>
            <p:nvPr/>
          </p:nvSpPr>
          <p:spPr>
            <a:xfrm>
              <a:off x="2010138" y="3689349"/>
              <a:ext cx="799737" cy="1971289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" name="Rettangolo 36">
              <a:extLst>
                <a:ext uri="{FF2B5EF4-FFF2-40B4-BE49-F238E27FC236}">
                  <a16:creationId xmlns:a16="http://schemas.microsoft.com/office/drawing/2014/main" id="{97A531CE-1F42-9720-B982-A0D8EFB551E0}"/>
                </a:ext>
              </a:extLst>
            </p:cNvPr>
            <p:cNvSpPr/>
            <p:nvPr/>
          </p:nvSpPr>
          <p:spPr>
            <a:xfrm>
              <a:off x="3000738" y="3492500"/>
              <a:ext cx="799737" cy="216813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3" name="Gruppo 42">
            <a:extLst>
              <a:ext uri="{FF2B5EF4-FFF2-40B4-BE49-F238E27FC236}">
                <a16:creationId xmlns:a16="http://schemas.microsoft.com/office/drawing/2014/main" id="{11CEF4C2-B216-41AB-B8C3-C06BD6CD21E1}"/>
              </a:ext>
            </a:extLst>
          </p:cNvPr>
          <p:cNvGrpSpPr/>
          <p:nvPr/>
        </p:nvGrpSpPr>
        <p:grpSpPr>
          <a:xfrm>
            <a:off x="3864393" y="2640714"/>
            <a:ext cx="3157690" cy="2485291"/>
            <a:chOff x="4142744" y="3253754"/>
            <a:chExt cx="3372365" cy="2663934"/>
          </a:xfrm>
        </p:grpSpPr>
        <p:pic>
          <p:nvPicPr>
            <p:cNvPr id="17" name="Immagine 16" descr="Immagine che contiene testo, schermata, diagramma, Rettangolo&#10;&#10;Il contenuto generato dall'IA potrebbe non essere corretto.">
              <a:extLst>
                <a:ext uri="{FF2B5EF4-FFF2-40B4-BE49-F238E27FC236}">
                  <a16:creationId xmlns:a16="http://schemas.microsoft.com/office/drawing/2014/main" id="{4FABB932-C3A5-FA27-75B1-84DBE07330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42744" y="3253754"/>
              <a:ext cx="3372365" cy="2663934"/>
            </a:xfrm>
            <a:prstGeom prst="rect">
              <a:avLst/>
            </a:prstGeom>
          </p:spPr>
        </p:pic>
        <p:sp>
          <p:nvSpPr>
            <p:cNvPr id="38" name="Rettangolo 37">
              <a:extLst>
                <a:ext uri="{FF2B5EF4-FFF2-40B4-BE49-F238E27FC236}">
                  <a16:creationId xmlns:a16="http://schemas.microsoft.com/office/drawing/2014/main" id="{B363B013-184C-5909-3EB3-979A297E94A7}"/>
                </a:ext>
              </a:extLst>
            </p:cNvPr>
            <p:cNvSpPr/>
            <p:nvPr/>
          </p:nvSpPr>
          <p:spPr>
            <a:xfrm>
              <a:off x="6553200" y="3543299"/>
              <a:ext cx="768351" cy="2065077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" name="Rettangolo 39">
              <a:extLst>
                <a:ext uri="{FF2B5EF4-FFF2-40B4-BE49-F238E27FC236}">
                  <a16:creationId xmlns:a16="http://schemas.microsoft.com/office/drawing/2014/main" id="{B38B8797-5136-2467-25CA-CC48225A2C45}"/>
                </a:ext>
              </a:extLst>
            </p:cNvPr>
            <p:cNvSpPr/>
            <p:nvPr/>
          </p:nvSpPr>
          <p:spPr>
            <a:xfrm>
              <a:off x="5619749" y="4794250"/>
              <a:ext cx="758301" cy="81412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4" name="Gruppo 43">
            <a:extLst>
              <a:ext uri="{FF2B5EF4-FFF2-40B4-BE49-F238E27FC236}">
                <a16:creationId xmlns:a16="http://schemas.microsoft.com/office/drawing/2014/main" id="{EA2C0CD9-B648-0E17-3171-9C3A7BF2DE4B}"/>
              </a:ext>
            </a:extLst>
          </p:cNvPr>
          <p:cNvGrpSpPr/>
          <p:nvPr/>
        </p:nvGrpSpPr>
        <p:grpSpPr>
          <a:xfrm>
            <a:off x="7776628" y="2360253"/>
            <a:ext cx="2975015" cy="2442294"/>
            <a:chOff x="7856184" y="3253754"/>
            <a:chExt cx="3224361" cy="2495724"/>
          </a:xfrm>
        </p:grpSpPr>
        <p:pic>
          <p:nvPicPr>
            <p:cNvPr id="23" name="Immagine 22" descr="Immagine che contiene testo, schermata, diagramma, Rettangolo&#10;&#10;Il contenuto generato dall'IA potrebbe non essere corretto.">
              <a:extLst>
                <a:ext uri="{FF2B5EF4-FFF2-40B4-BE49-F238E27FC236}">
                  <a16:creationId xmlns:a16="http://schemas.microsoft.com/office/drawing/2014/main" id="{F9A05D87-17F6-DBC8-F511-3A9B2806C18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56184" y="3253754"/>
              <a:ext cx="3224361" cy="2495724"/>
            </a:xfrm>
            <a:prstGeom prst="rect">
              <a:avLst/>
            </a:prstGeom>
          </p:spPr>
        </p:pic>
        <p:sp>
          <p:nvSpPr>
            <p:cNvPr id="35" name="Rettangolo 34">
              <a:extLst>
                <a:ext uri="{FF2B5EF4-FFF2-40B4-BE49-F238E27FC236}">
                  <a16:creationId xmlns:a16="http://schemas.microsoft.com/office/drawing/2014/main" id="{626CCD0B-7049-3C06-78E9-B5DD5875700D}"/>
                </a:ext>
              </a:extLst>
            </p:cNvPr>
            <p:cNvSpPr/>
            <p:nvPr/>
          </p:nvSpPr>
          <p:spPr>
            <a:xfrm>
              <a:off x="8306666" y="3886200"/>
              <a:ext cx="745260" cy="1661661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" name="Rettangolo 38">
              <a:extLst>
                <a:ext uri="{FF2B5EF4-FFF2-40B4-BE49-F238E27FC236}">
                  <a16:creationId xmlns:a16="http://schemas.microsoft.com/office/drawing/2014/main" id="{0C121766-CF4E-70ED-45E6-AB2AC291D0A1}"/>
                </a:ext>
              </a:extLst>
            </p:cNvPr>
            <p:cNvSpPr/>
            <p:nvPr/>
          </p:nvSpPr>
          <p:spPr>
            <a:xfrm>
              <a:off x="10160135" y="4976018"/>
              <a:ext cx="745260" cy="575811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" name="Rettangolo 40">
              <a:extLst>
                <a:ext uri="{FF2B5EF4-FFF2-40B4-BE49-F238E27FC236}">
                  <a16:creationId xmlns:a16="http://schemas.microsoft.com/office/drawing/2014/main" id="{1F4BC77F-704F-E300-F379-82AFA1FE7452}"/>
                </a:ext>
              </a:extLst>
            </p:cNvPr>
            <p:cNvSpPr/>
            <p:nvPr/>
          </p:nvSpPr>
          <p:spPr>
            <a:xfrm>
              <a:off x="9231296" y="4387187"/>
              <a:ext cx="753689" cy="1164642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49" name="Freccia a destra 48">
            <a:extLst>
              <a:ext uri="{FF2B5EF4-FFF2-40B4-BE49-F238E27FC236}">
                <a16:creationId xmlns:a16="http://schemas.microsoft.com/office/drawing/2014/main" id="{3B469F5A-5501-3E1A-568C-68A121E0A4DB}"/>
              </a:ext>
            </a:extLst>
          </p:cNvPr>
          <p:cNvSpPr/>
          <p:nvPr/>
        </p:nvSpPr>
        <p:spPr>
          <a:xfrm>
            <a:off x="7178166" y="5340742"/>
            <a:ext cx="205451" cy="196894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CasellaDiTesto 54">
            <a:extLst>
              <a:ext uri="{FF2B5EF4-FFF2-40B4-BE49-F238E27FC236}">
                <a16:creationId xmlns:a16="http://schemas.microsoft.com/office/drawing/2014/main" id="{4398B948-BF6C-9ED7-8762-94B28AAF0181}"/>
              </a:ext>
            </a:extLst>
          </p:cNvPr>
          <p:cNvSpPr txBox="1"/>
          <p:nvPr/>
        </p:nvSpPr>
        <p:spPr>
          <a:xfrm>
            <a:off x="350288" y="5064598"/>
            <a:ext cx="682787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Profilo Medio:</a:t>
            </a:r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+7,1% overhead, ~16,4% margine ETSI → energia contenuta, sicurezza rafforzata, buona accuratezza COP</a:t>
            </a:r>
          </a:p>
          <a:p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Profilo Alto: +18,2% overhead, ~8,1% margine ETSI → energia maggiore, sicurezza massima, alta accuratezza COP (scenari ad alta minaccia)</a:t>
            </a:r>
          </a:p>
        </p:txBody>
      </p:sp>
      <p:sp>
        <p:nvSpPr>
          <p:cNvPr id="62" name="CasellaDiTesto 61">
            <a:extLst>
              <a:ext uri="{FF2B5EF4-FFF2-40B4-BE49-F238E27FC236}">
                <a16:creationId xmlns:a16="http://schemas.microsoft.com/office/drawing/2014/main" id="{5A83DA20-A355-E923-01FA-7E6193E8FAEA}"/>
              </a:ext>
            </a:extLst>
          </p:cNvPr>
          <p:cNvSpPr txBox="1"/>
          <p:nvPr/>
        </p:nvSpPr>
        <p:spPr>
          <a:xfrm>
            <a:off x="7496361" y="5219875"/>
            <a:ext cx="427938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t-IT"/>
            </a:defPPr>
            <a:lvl1pPr>
              <a:defRPr/>
            </a:lvl1pPr>
          </a:lstStyle>
          <a:p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Profili operativamente sostenibili entro i limiti ETSI: </a:t>
            </a:r>
            <a:r>
              <a:rPr lang="it-IT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scelta guidata dal livello di minaccia</a:t>
            </a:r>
          </a:p>
        </p:txBody>
      </p:sp>
      <p:sp>
        <p:nvSpPr>
          <p:cNvPr id="3" name="Freccia a destra 2">
            <a:extLst>
              <a:ext uri="{FF2B5EF4-FFF2-40B4-BE49-F238E27FC236}">
                <a16:creationId xmlns:a16="http://schemas.microsoft.com/office/drawing/2014/main" id="{8D9CA7FD-A14F-84FF-95D5-C29273331F73}"/>
              </a:ext>
            </a:extLst>
          </p:cNvPr>
          <p:cNvSpPr/>
          <p:nvPr/>
        </p:nvSpPr>
        <p:spPr>
          <a:xfrm>
            <a:off x="8853561" y="2145428"/>
            <a:ext cx="205451" cy="231526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91819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0057E-8636-4102-2F63-02E3B2AFF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1027BF64-5D65-B797-0FD0-8419595F8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>
                <a:solidFill>
                  <a:schemeClr val="bg1"/>
                </a:solidFill>
              </a:rPr>
              <a:t>Anno accademico 2025/2026</a:t>
            </a:r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6E5ADA1-7C9E-C5E8-C215-F7BAB9D61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457C4-41BA-4245-A517-1492C4EB6DD6}" type="slidenum">
              <a:rPr lang="it-IT" smtClean="0">
                <a:solidFill>
                  <a:schemeClr val="bg1"/>
                </a:solidFill>
              </a:rPr>
              <a:t>10</a:t>
            </a:fld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2E5FBC83-C477-62E7-F97A-1B3E5323D716}"/>
              </a:ext>
            </a:extLst>
          </p:cNvPr>
          <p:cNvSpPr txBox="1">
            <a:spLocks/>
          </p:cNvSpPr>
          <p:nvPr/>
        </p:nvSpPr>
        <p:spPr>
          <a:xfrm>
            <a:off x="479385" y="745807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Conclusione e Sviluppi Futuri</a:t>
            </a:r>
          </a:p>
        </p:txBody>
      </p:sp>
      <p:sp>
        <p:nvSpPr>
          <p:cNvPr id="14" name="object 3">
            <a:extLst>
              <a:ext uri="{FF2B5EF4-FFF2-40B4-BE49-F238E27FC236}">
                <a16:creationId xmlns:a16="http://schemas.microsoft.com/office/drawing/2014/main" id="{C074B9A1-F6A8-9A05-BDAC-7D8EF59451CB}"/>
              </a:ext>
            </a:extLst>
          </p:cNvPr>
          <p:cNvSpPr/>
          <p:nvPr/>
        </p:nvSpPr>
        <p:spPr>
          <a:xfrm>
            <a:off x="592670" y="677862"/>
            <a:ext cx="1041400" cy="67945"/>
          </a:xfrm>
          <a:custGeom>
            <a:avLst/>
            <a:gdLst/>
            <a:ahLst/>
            <a:cxnLst/>
            <a:rect l="l" t="t" r="r" b="b"/>
            <a:pathLst>
              <a:path w="1041400" h="67945">
                <a:moveTo>
                  <a:pt x="1041400" y="0"/>
                </a:moveTo>
                <a:lnTo>
                  <a:pt x="0" y="0"/>
                </a:lnTo>
                <a:lnTo>
                  <a:pt x="0" y="67729"/>
                </a:lnTo>
                <a:lnTo>
                  <a:pt x="1041400" y="67729"/>
                </a:lnTo>
                <a:lnTo>
                  <a:pt x="1041400" y="0"/>
                </a:lnTo>
                <a:close/>
              </a:path>
            </a:pathLst>
          </a:custGeom>
          <a:solidFill>
            <a:srgbClr val="F0A0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Segnaposto data 1">
            <a:extLst>
              <a:ext uri="{FF2B5EF4-FFF2-40B4-BE49-F238E27FC236}">
                <a16:creationId xmlns:a16="http://schemas.microsoft.com/office/drawing/2014/main" id="{C4264093-CA18-79D3-D868-91828326166B}"/>
              </a:ext>
            </a:extLst>
          </p:cNvPr>
          <p:cNvSpPr txBox="1">
            <a:spLocks/>
          </p:cNvSpPr>
          <p:nvPr/>
        </p:nvSpPr>
        <p:spPr>
          <a:xfrm>
            <a:off x="838200" y="64579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>
                <a:solidFill>
                  <a:schemeClr val="bg1"/>
                </a:solidFill>
              </a:rPr>
              <a:t>Anno accademico 2025/2026</a:t>
            </a:r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22" name="Segnaposto numero diapositiva 3">
            <a:extLst>
              <a:ext uri="{FF2B5EF4-FFF2-40B4-BE49-F238E27FC236}">
                <a16:creationId xmlns:a16="http://schemas.microsoft.com/office/drawing/2014/main" id="{E43C9D01-BCC8-F46E-5626-DD6245CE3BAE}"/>
              </a:ext>
            </a:extLst>
          </p:cNvPr>
          <p:cNvSpPr txBox="1">
            <a:spLocks/>
          </p:cNvSpPr>
          <p:nvPr/>
        </p:nvSpPr>
        <p:spPr>
          <a:xfrm>
            <a:off x="8610600" y="647827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DF457C4-41BA-4245-A517-1492C4EB6DD6}" type="slidenum">
              <a:rPr lang="it-IT" smtClean="0">
                <a:solidFill>
                  <a:schemeClr val="bg1"/>
                </a:solidFill>
              </a:rPr>
              <a:pPr/>
              <a:t>10</a:t>
            </a:fld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1025" name="AutoShape 8" descr="Generazione immagine completata">
            <a:extLst>
              <a:ext uri="{FF2B5EF4-FFF2-40B4-BE49-F238E27FC236}">
                <a16:creationId xmlns:a16="http://schemas.microsoft.com/office/drawing/2014/main" id="{5D2461A1-8D23-6A67-0608-0F327E02FB6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1027" name="AutoShape 14" descr="Come calcolare il proprio profilo di rischio | IG Italia">
            <a:extLst>
              <a:ext uri="{FF2B5EF4-FFF2-40B4-BE49-F238E27FC236}">
                <a16:creationId xmlns:a16="http://schemas.microsoft.com/office/drawing/2014/main" id="{45D41DE1-3AA8-2452-E5EA-4AD9DEBD4B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6FA6A736-7357-5576-D7F1-CB3172EF6B6F}"/>
              </a:ext>
            </a:extLst>
          </p:cNvPr>
          <p:cNvSpPr/>
          <p:nvPr/>
        </p:nvSpPr>
        <p:spPr>
          <a:xfrm>
            <a:off x="0" y="6571000"/>
            <a:ext cx="12192000" cy="297048"/>
          </a:xfrm>
          <a:prstGeom prst="rect">
            <a:avLst/>
          </a:prstGeom>
          <a:solidFill>
            <a:srgbClr val="AB27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Segnaposto data 1">
            <a:extLst>
              <a:ext uri="{FF2B5EF4-FFF2-40B4-BE49-F238E27FC236}">
                <a16:creationId xmlns:a16="http://schemas.microsoft.com/office/drawing/2014/main" id="{0853399A-BE38-BE48-619A-12E1B129581C}"/>
              </a:ext>
            </a:extLst>
          </p:cNvPr>
          <p:cNvSpPr txBox="1">
            <a:spLocks/>
          </p:cNvSpPr>
          <p:nvPr/>
        </p:nvSpPr>
        <p:spPr>
          <a:xfrm>
            <a:off x="838200" y="65532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Anno accademico 2025/2026</a:t>
            </a:r>
            <a:endParaRPr lang="it-I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egnaposto piè di pagina 2">
            <a:extLst>
              <a:ext uri="{FF2B5EF4-FFF2-40B4-BE49-F238E27FC236}">
                <a16:creationId xmlns:a16="http://schemas.microsoft.com/office/drawing/2014/main" id="{984BF84A-B03E-C60C-C9C4-0136414F5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7106" y="6552951"/>
            <a:ext cx="5447030" cy="365125"/>
          </a:xfrm>
        </p:spPr>
        <p:txBody>
          <a:bodyPr/>
          <a:lstStyle/>
          <a:p>
            <a:pPr algn="l"/>
            <a:r>
              <a:rPr lang="it-IT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Reti Mesh Decentralizzate </a:t>
            </a:r>
            <a:r>
              <a:rPr lang="it-IT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LoRa</a:t>
            </a:r>
            <a:r>
              <a:rPr lang="it-IT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per la </a:t>
            </a:r>
            <a:r>
              <a:rPr lang="it-IT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Situational</a:t>
            </a:r>
            <a:r>
              <a:rPr lang="it-IT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Awareness</a:t>
            </a:r>
            <a:r>
              <a:rPr lang="it-IT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Contesti Off-</a:t>
            </a:r>
            <a:r>
              <a:rPr lang="it-IT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Grid</a:t>
            </a:r>
            <a:endParaRPr lang="it-I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Segnaposto numero diapositiva 3">
            <a:extLst>
              <a:ext uri="{FF2B5EF4-FFF2-40B4-BE49-F238E27FC236}">
                <a16:creationId xmlns:a16="http://schemas.microsoft.com/office/drawing/2014/main" id="{EADEE78C-8213-6129-51EA-AB153C7BCD4F}"/>
              </a:ext>
            </a:extLst>
          </p:cNvPr>
          <p:cNvSpPr txBox="1">
            <a:spLocks/>
          </p:cNvSpPr>
          <p:nvPr/>
        </p:nvSpPr>
        <p:spPr>
          <a:xfrm>
            <a:off x="8610600" y="65100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DF457C4-41BA-4245-A517-1492C4EB6DD6}" type="slidenum">
              <a:rPr lang="it-IT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/>
              <a:t>10</a:t>
            </a:fld>
            <a:endParaRPr lang="it-I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AutoShape 2" descr="Immagine output">
            <a:extLst>
              <a:ext uri="{FF2B5EF4-FFF2-40B4-BE49-F238E27FC236}">
                <a16:creationId xmlns:a16="http://schemas.microsoft.com/office/drawing/2014/main" id="{CC1D815F-BD6A-3E74-B3AC-E2D7E18BF80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30" name="AutoShape 4" descr="Immagine output">
            <a:extLst>
              <a:ext uri="{FF2B5EF4-FFF2-40B4-BE49-F238E27FC236}">
                <a16:creationId xmlns:a16="http://schemas.microsoft.com/office/drawing/2014/main" id="{46213E1C-20C1-EC57-A32C-18DD4A0EBD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00800" y="3733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18" name="Segnaposto contenuto 3">
            <a:extLst>
              <a:ext uri="{FF2B5EF4-FFF2-40B4-BE49-F238E27FC236}">
                <a16:creationId xmlns:a16="http://schemas.microsoft.com/office/drawing/2014/main" id="{F5F9DBE4-6B3E-1DDC-5475-F544EC0FCAE6}"/>
              </a:ext>
            </a:extLst>
          </p:cNvPr>
          <p:cNvSpPr txBox="1">
            <a:spLocks/>
          </p:cNvSpPr>
          <p:nvPr/>
        </p:nvSpPr>
        <p:spPr>
          <a:xfrm>
            <a:off x="479386" y="1698094"/>
            <a:ext cx="5319947" cy="475275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it-IT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Conclusioni</a:t>
            </a:r>
          </a:p>
          <a:p>
            <a:pPr>
              <a:lnSpc>
                <a:spcPct val="100000"/>
              </a:lnSpc>
            </a:pPr>
            <a:r>
              <a:rPr lang="it-I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Reti mesh </a:t>
            </a:r>
            <a:r>
              <a:rPr lang="it-I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LoRa</a:t>
            </a:r>
            <a:r>
              <a:rPr lang="it-I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it-I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Meshtastic</a:t>
            </a:r>
            <a:r>
              <a:rPr lang="it-I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ATAK-CIV permettono comunicazioni autonome e resilienti in scenari off-</a:t>
            </a:r>
            <a:r>
              <a:rPr lang="it-I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grid</a:t>
            </a:r>
            <a:endParaRPr lang="it-I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r>
              <a:rPr lang="it-I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Il sistema consente il mantenimento di una</a:t>
            </a:r>
            <a:br>
              <a:rPr lang="it-I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it-I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Common </a:t>
            </a:r>
            <a:r>
              <a:rPr lang="it-I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Operational</a:t>
            </a:r>
            <a:r>
              <a:rPr lang="it-I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Picture (COP) condivisa nel rispetto dei vincoli normativi.</a:t>
            </a:r>
          </a:p>
          <a:p>
            <a:pPr marL="0" indent="0">
              <a:lnSpc>
                <a:spcPct val="100000"/>
              </a:lnSpc>
              <a:buNone/>
            </a:pPr>
            <a:endParaRPr lang="it-I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it-IT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Sviluppi futuri</a:t>
            </a:r>
          </a:p>
          <a:p>
            <a:r>
              <a:rPr lang="it-I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Realizzazione del sistema completo</a:t>
            </a:r>
          </a:p>
          <a:p>
            <a:r>
              <a:rPr lang="it-I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Studio approfondito del firmware </a:t>
            </a:r>
            <a:r>
              <a:rPr lang="it-I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Meshtastic</a:t>
            </a:r>
            <a:endParaRPr lang="it-I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it-I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Implementazione dei profili di rischio</a:t>
            </a:r>
          </a:p>
          <a:p>
            <a:r>
              <a:rPr lang="it-I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Validazione sperimentale sul campo</a:t>
            </a:r>
          </a:p>
          <a:p>
            <a:pPr>
              <a:lnSpc>
                <a:spcPct val="100000"/>
              </a:lnSpc>
            </a:pPr>
            <a:endParaRPr lang="it-I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2+ Million Design Build Icon Royalty-Free Images, Stock Photos &amp; Pictures |  Shutterstock">
            <a:extLst>
              <a:ext uri="{FF2B5EF4-FFF2-40B4-BE49-F238E27FC236}">
                <a16:creationId xmlns:a16="http://schemas.microsoft.com/office/drawing/2014/main" id="{6DE37BA5-1B9D-9972-7C9B-1570157324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2233" y="4415651"/>
            <a:ext cx="1366837" cy="907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Elemento grafico 2" descr="Segno di spunta con riempimento a tinta unita">
            <a:extLst>
              <a:ext uri="{FF2B5EF4-FFF2-40B4-BE49-F238E27FC236}">
                <a16:creationId xmlns:a16="http://schemas.microsoft.com/office/drawing/2014/main" id="{B88866A1-9E7A-806C-8CB1-8952960CC9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27428" y="5181485"/>
            <a:ext cx="982772" cy="982772"/>
          </a:xfrm>
          <a:prstGeom prst="rect">
            <a:avLst/>
          </a:prstGeom>
        </p:spPr>
      </p:pic>
      <p:grpSp>
        <p:nvGrpSpPr>
          <p:cNvPr id="10" name="Gruppo 9">
            <a:extLst>
              <a:ext uri="{FF2B5EF4-FFF2-40B4-BE49-F238E27FC236}">
                <a16:creationId xmlns:a16="http://schemas.microsoft.com/office/drawing/2014/main" id="{F0067574-CDBB-B5E3-C8AD-3C35A4102C71}"/>
              </a:ext>
            </a:extLst>
          </p:cNvPr>
          <p:cNvGrpSpPr/>
          <p:nvPr/>
        </p:nvGrpSpPr>
        <p:grpSpPr>
          <a:xfrm>
            <a:off x="5533582" y="2063498"/>
            <a:ext cx="3521215" cy="2402529"/>
            <a:chOff x="4131178" y="2107842"/>
            <a:chExt cx="4764239" cy="3418966"/>
          </a:xfrm>
        </p:grpSpPr>
        <p:pic>
          <p:nvPicPr>
            <p:cNvPr id="11" name="Immagine 10" descr="Immagine che contiene linea, design&#10;&#10;Il contenuto generato dall'IA potrebbe non essere corretto.">
              <a:extLst>
                <a:ext uri="{FF2B5EF4-FFF2-40B4-BE49-F238E27FC236}">
                  <a16:creationId xmlns:a16="http://schemas.microsoft.com/office/drawing/2014/main" id="{D14353F0-4B25-3C09-D952-C6096045CEC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80" t="1918" r="23525" b="5387"/>
            <a:stretch>
              <a:fillRect/>
            </a:stretch>
          </p:blipFill>
          <p:spPr>
            <a:xfrm>
              <a:off x="4503344" y="2347452"/>
              <a:ext cx="4372156" cy="3179356"/>
            </a:xfrm>
            <a:prstGeom prst="rect">
              <a:avLst/>
            </a:prstGeom>
          </p:spPr>
        </p:pic>
        <p:pic>
          <p:nvPicPr>
            <p:cNvPr id="12" name="Immagine 11" descr="Immagine che contiene schizzo, disegno, nero, Elementi grafici&#10;&#10;Il contenuto generato dall'IA potrebbe non essere corretto.">
              <a:extLst>
                <a:ext uri="{FF2B5EF4-FFF2-40B4-BE49-F238E27FC236}">
                  <a16:creationId xmlns:a16="http://schemas.microsoft.com/office/drawing/2014/main" id="{DD601994-A1F5-E713-AAE7-9D87AEDD491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89422" y="2107842"/>
              <a:ext cx="1159970" cy="773313"/>
            </a:xfrm>
            <a:prstGeom prst="rect">
              <a:avLst/>
            </a:prstGeom>
          </p:spPr>
        </p:pic>
        <p:pic>
          <p:nvPicPr>
            <p:cNvPr id="15" name="Immagine 14" descr="Immagine che contiene schizzo, disegno, nero, Elementi grafici&#10;&#10;Il contenuto generato dall'IA potrebbe non essere corretto.">
              <a:extLst>
                <a:ext uri="{FF2B5EF4-FFF2-40B4-BE49-F238E27FC236}">
                  <a16:creationId xmlns:a16="http://schemas.microsoft.com/office/drawing/2014/main" id="{486519E7-A59B-A46B-84A8-75641CBD8F8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31178" y="2937053"/>
              <a:ext cx="1159970" cy="773313"/>
            </a:xfrm>
            <a:prstGeom prst="rect">
              <a:avLst/>
            </a:prstGeom>
          </p:spPr>
        </p:pic>
        <p:pic>
          <p:nvPicPr>
            <p:cNvPr id="16" name="Immagine 15" descr="Immagine che contiene schizzo, disegno, nero, Elementi grafici&#10;&#10;Il contenuto generato dall'IA potrebbe non essere corretto.">
              <a:extLst>
                <a:ext uri="{FF2B5EF4-FFF2-40B4-BE49-F238E27FC236}">
                  <a16:creationId xmlns:a16="http://schemas.microsoft.com/office/drawing/2014/main" id="{81FBFD41-E398-1B7E-FF0B-02D06600094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35447" y="3897328"/>
              <a:ext cx="1159970" cy="773313"/>
            </a:xfrm>
            <a:prstGeom prst="rect">
              <a:avLst/>
            </a:prstGeom>
          </p:spPr>
        </p:pic>
      </p:grpSp>
      <p:pic>
        <p:nvPicPr>
          <p:cNvPr id="20" name="Picture 24" descr="Army to host Tactical Assault Kit virtual workshop for industry, federal  agencies | Article | The United States Army">
            <a:extLst>
              <a:ext uri="{FF2B5EF4-FFF2-40B4-BE49-F238E27FC236}">
                <a16:creationId xmlns:a16="http://schemas.microsoft.com/office/drawing/2014/main" id="{2315702A-72A4-E011-0B93-DB086566DA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4136" y="4556288"/>
            <a:ext cx="2580984" cy="1717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Immagine 23" descr="Immagine che contiene cerchio, logo, Elementi grafici, testo&#10;&#10;Il contenuto generato dall'IA potrebbe non essere corretto.">
            <a:extLst>
              <a:ext uri="{FF2B5EF4-FFF2-40B4-BE49-F238E27FC236}">
                <a16:creationId xmlns:a16="http://schemas.microsoft.com/office/drawing/2014/main" id="{0D9892AC-ABB4-29C3-2C2C-C6320754FC7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6358" y="4979780"/>
            <a:ext cx="1698621" cy="1132413"/>
          </a:xfrm>
          <a:prstGeom prst="rect">
            <a:avLst/>
          </a:prstGeom>
        </p:spPr>
      </p:pic>
      <p:pic>
        <p:nvPicPr>
          <p:cNvPr id="25" name="Immagine 24">
            <a:extLst>
              <a:ext uri="{FF2B5EF4-FFF2-40B4-BE49-F238E27FC236}">
                <a16:creationId xmlns:a16="http://schemas.microsoft.com/office/drawing/2014/main" id="{3B571FCE-EB2C-E55B-283B-2B604736D32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64136" y="2263248"/>
            <a:ext cx="2580984" cy="2161460"/>
          </a:xfrm>
          <a:prstGeom prst="rect">
            <a:avLst/>
          </a:prstGeom>
        </p:spPr>
      </p:pic>
      <p:pic>
        <p:nvPicPr>
          <p:cNvPr id="23" name="Picture 28" descr="Regulation - Free miscellaneous icons">
            <a:extLst>
              <a:ext uri="{FF2B5EF4-FFF2-40B4-BE49-F238E27FC236}">
                <a16:creationId xmlns:a16="http://schemas.microsoft.com/office/drawing/2014/main" id="{D5B9071E-A629-844E-CDB9-11E1EF88AD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0785" y="4711491"/>
            <a:ext cx="858440" cy="858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90993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6986fb0-3baa-42d2-89d5-89f9b25e6ac9}" enabled="1" method="Standard" siteId="{6815f468-021c-48f2-a6b2-d65c8e979dfb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2218</TotalTime>
  <Words>924</Words>
  <Application>Microsoft Office PowerPoint</Application>
  <PresentationFormat>Widescreen</PresentationFormat>
  <Paragraphs>210</Paragraphs>
  <Slides>10</Slides>
  <Notes>10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TIM Sans</vt:lpstr>
      <vt:lpstr>Tema di Office</vt:lpstr>
      <vt:lpstr>Reti Mesh Decentralizzate LoRa  per la Situational Awareness in Contesti Off-Grid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Telecom Italia S.p.A.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 Lorenzo Francesco Paolo</dc:creator>
  <cp:lastModifiedBy>Di Lorenzo Francesco Paolo</cp:lastModifiedBy>
  <cp:revision>124</cp:revision>
  <dcterms:created xsi:type="dcterms:W3CDTF">2026-01-07T09:17:00Z</dcterms:created>
  <dcterms:modified xsi:type="dcterms:W3CDTF">2026-01-19T09:27:20Z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di Office:8</vt:lpwstr>
  </property>
  <property fmtid="{D5CDD505-2E9C-101B-9397-08002B2CF9AE}" pid="3" name="ClassificationContentMarkingFooterText">
    <vt:lpwstr>Gruppo TIM - Uso Interno - Tutti i diritti riservati.</vt:lpwstr>
  </property>
</Properties>
</file>